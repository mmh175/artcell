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sldIdLst>
    <p:sldId id="256" r:id="rId5"/>
    <p:sldId id="264" r:id="rId6"/>
    <p:sldId id="287" r:id="rId7"/>
    <p:sldId id="290" r:id="rId8"/>
    <p:sldId id="291" r:id="rId9"/>
    <p:sldId id="289" r:id="rId10"/>
    <p:sldId id="292" r:id="rId11"/>
    <p:sldId id="293" r:id="rId12"/>
    <p:sldId id="294" r:id="rId13"/>
    <p:sldId id="288" r:id="rId14"/>
    <p:sldId id="296" r:id="rId15"/>
    <p:sldId id="297" r:id="rId16"/>
    <p:sldId id="308" r:id="rId17"/>
    <p:sldId id="309" r:id="rId18"/>
    <p:sldId id="298" r:id="rId19"/>
    <p:sldId id="299" r:id="rId20"/>
    <p:sldId id="318" r:id="rId21"/>
    <p:sldId id="300" r:id="rId22"/>
    <p:sldId id="301" r:id="rId23"/>
    <p:sldId id="302" r:id="rId24"/>
    <p:sldId id="315" r:id="rId25"/>
    <p:sldId id="316" r:id="rId26"/>
    <p:sldId id="319" r:id="rId27"/>
    <p:sldId id="310" r:id="rId28"/>
    <p:sldId id="320" r:id="rId29"/>
    <p:sldId id="311" r:id="rId30"/>
    <p:sldId id="312" r:id="rId31"/>
    <p:sldId id="314" r:id="rId32"/>
    <p:sldId id="313" r:id="rId33"/>
    <p:sldId id="304" r:id="rId34"/>
    <p:sldId id="305" r:id="rId35"/>
    <p:sldId id="306" r:id="rId36"/>
    <p:sldId id="30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D4C"/>
    <a:srgbClr val="88A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E73379-2E05-4470-A0A3-A30D501A7E44}" v="6" dt="2026-10-12T20:10:08.1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83777" autoAdjust="0"/>
  </p:normalViewPr>
  <p:slideViewPr>
    <p:cSldViewPr snapToGrid="0" showGuides="1">
      <p:cViewPr varScale="1">
        <p:scale>
          <a:sx n="89" d="100"/>
          <a:sy n="89" d="100"/>
        </p:scale>
        <p:origin x="1296" y="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san, Md Mehdi" userId="3cedfd98-6d66-40df-afad-7a0f68f503be" providerId="ADAL" clId="{A940CF8B-4DCE-45A2-96C4-D65030D98A6E}"/>
    <pc:docChg chg="modSld">
      <pc:chgData name="Hassan, Md Mehdi" userId="3cedfd98-6d66-40df-afad-7a0f68f503be" providerId="ADAL" clId="{A940CF8B-4DCE-45A2-96C4-D65030D98A6E}" dt="2026-10-12T19:39:39.052" v="4"/>
      <pc:docMkLst>
        <pc:docMk/>
      </pc:docMkLst>
      <pc:sldChg chg="modSp">
        <pc:chgData name="Hassan, Md Mehdi" userId="3cedfd98-6d66-40df-afad-7a0f68f503be" providerId="ADAL" clId="{A940CF8B-4DCE-45A2-96C4-D65030D98A6E}" dt="2026-10-12T19:39:39.052" v="4"/>
        <pc:sldMkLst>
          <pc:docMk/>
          <pc:sldMk cId="3522005659" sldId="310"/>
        </pc:sldMkLst>
        <pc:spChg chg="mod">
          <ac:chgData name="Hassan, Md Mehdi" userId="3cedfd98-6d66-40df-afad-7a0f68f503be" providerId="ADAL" clId="{A940CF8B-4DCE-45A2-96C4-D65030D98A6E}" dt="2026-10-12T19:39:39.052" v="4"/>
          <ac:spMkLst>
            <pc:docMk/>
            <pc:sldMk cId="3522005659" sldId="310"/>
            <ac:spMk id="8" creationId="{4F0188FF-05FA-030D-DD10-C43253700E4D}"/>
          </ac:spMkLst>
        </pc:spChg>
      </pc:sldChg>
      <pc:sldChg chg="addSp modSp modAnim">
        <pc:chgData name="Hassan, Md Mehdi" userId="3cedfd98-6d66-40df-afad-7a0f68f503be" providerId="ADAL" clId="{A940CF8B-4DCE-45A2-96C4-D65030D98A6E}" dt="2026-10-12T17:56:46.646" v="2"/>
        <pc:sldMkLst>
          <pc:docMk/>
          <pc:sldMk cId="1307187629" sldId="311"/>
        </pc:sldMkLst>
        <pc:picChg chg="add mod">
          <ac:chgData name="Hassan, Md Mehdi" userId="3cedfd98-6d66-40df-afad-7a0f68f503be" providerId="ADAL" clId="{A940CF8B-4DCE-45A2-96C4-D65030D98A6E}" dt="2026-10-12T17:56:46.646" v="2"/>
          <ac:picMkLst>
            <pc:docMk/>
            <pc:sldMk cId="1307187629" sldId="311"/>
            <ac:picMk id="26" creationId="{6D351167-E0FB-D3C0-0274-436AED749179}"/>
          </ac:picMkLst>
        </pc:picChg>
        <pc:picChg chg="add mod">
          <ac:chgData name="Hassan, Md Mehdi" userId="3cedfd98-6d66-40df-afad-7a0f68f503be" providerId="ADAL" clId="{A940CF8B-4DCE-45A2-96C4-D65030D98A6E}" dt="2026-10-12T17:56:46.646" v="2"/>
          <ac:picMkLst>
            <pc:docMk/>
            <pc:sldMk cId="1307187629" sldId="311"/>
            <ac:picMk id="27" creationId="{A75A1555-BCFA-FCA0-2D6F-470030E36707}"/>
          </ac:picMkLst>
        </pc:picChg>
        <pc:picChg chg="add mod">
          <ac:chgData name="Hassan, Md Mehdi" userId="3cedfd98-6d66-40df-afad-7a0f68f503be" providerId="ADAL" clId="{A940CF8B-4DCE-45A2-96C4-D65030D98A6E}" dt="2026-10-12T17:56:46.646" v="2"/>
          <ac:picMkLst>
            <pc:docMk/>
            <pc:sldMk cId="1307187629" sldId="311"/>
            <ac:picMk id="29" creationId="{DD859C63-D643-47BF-23C0-610CF0F40FCA}"/>
          </ac:picMkLst>
        </pc:picChg>
        <pc:cxnChg chg="add mod">
          <ac:chgData name="Hassan, Md Mehdi" userId="3cedfd98-6d66-40df-afad-7a0f68f503be" providerId="ADAL" clId="{A940CF8B-4DCE-45A2-96C4-D65030D98A6E}" dt="2026-10-12T17:56:46.646" v="2"/>
          <ac:cxnSpMkLst>
            <pc:docMk/>
            <pc:sldMk cId="1307187629" sldId="311"/>
            <ac:cxnSpMk id="28" creationId="{B083B298-26BD-C21C-6DD5-CCD1E9DC12E3}"/>
          </ac:cxnSpMkLst>
        </pc:cxnChg>
        <pc:cxnChg chg="add mod">
          <ac:chgData name="Hassan, Md Mehdi" userId="3cedfd98-6d66-40df-afad-7a0f68f503be" providerId="ADAL" clId="{A940CF8B-4DCE-45A2-96C4-D65030D98A6E}" dt="2026-10-12T17:56:46.646" v="2"/>
          <ac:cxnSpMkLst>
            <pc:docMk/>
            <pc:sldMk cId="1307187629" sldId="311"/>
            <ac:cxnSpMk id="30" creationId="{776E2783-BCA7-73F1-50E9-EE6C299D463F}"/>
          </ac:cxnSpMkLst>
        </pc:cxnChg>
      </pc:sldChg>
      <pc:sldChg chg="addSp delSp modSp">
        <pc:chgData name="Hassan, Md Mehdi" userId="3cedfd98-6d66-40df-afad-7a0f68f503be" providerId="ADAL" clId="{A940CF8B-4DCE-45A2-96C4-D65030D98A6E}" dt="2026-10-12T15:59:33.098" v="1" actId="571"/>
        <pc:sldMkLst>
          <pc:docMk/>
          <pc:sldMk cId="1280570049" sldId="316"/>
        </pc:sldMkLst>
        <pc:spChg chg="mod">
          <ac:chgData name="Hassan, Md Mehdi" userId="3cedfd98-6d66-40df-afad-7a0f68f503be" providerId="ADAL" clId="{A940CF8B-4DCE-45A2-96C4-D65030D98A6E}" dt="2026-10-12T15:58:35.696" v="0" actId="27803"/>
          <ac:spMkLst>
            <pc:docMk/>
            <pc:sldMk cId="1280570049" sldId="316"/>
            <ac:spMk id="11" creationId="{14CC37E2-D7AC-52D4-3513-0AA0996DEC44}"/>
          </ac:spMkLst>
        </pc:spChg>
        <pc:spChg chg="mod">
          <ac:chgData name="Hassan, Md Mehdi" userId="3cedfd98-6d66-40df-afad-7a0f68f503be" providerId="ADAL" clId="{A940CF8B-4DCE-45A2-96C4-D65030D98A6E}" dt="2026-10-12T15:58:35.696" v="0" actId="27803"/>
          <ac:spMkLst>
            <pc:docMk/>
            <pc:sldMk cId="1280570049" sldId="316"/>
            <ac:spMk id="14" creationId="{08EC67DF-CD60-A799-66DC-A080279312ED}"/>
          </ac:spMkLst>
        </pc:spChg>
        <pc:spChg chg="mod">
          <ac:chgData name="Hassan, Md Mehdi" userId="3cedfd98-6d66-40df-afad-7a0f68f503be" providerId="ADAL" clId="{A940CF8B-4DCE-45A2-96C4-D65030D98A6E}" dt="2026-10-12T15:58:35.696" v="0" actId="27803"/>
          <ac:spMkLst>
            <pc:docMk/>
            <pc:sldMk cId="1280570049" sldId="316"/>
            <ac:spMk id="18" creationId="{B07D76EA-E444-2560-A18C-21BA9F50DE55}"/>
          </ac:spMkLst>
        </pc:spChg>
        <pc:spChg chg="mod">
          <ac:chgData name="Hassan, Md Mehdi" userId="3cedfd98-6d66-40df-afad-7a0f68f503be" providerId="ADAL" clId="{A940CF8B-4DCE-45A2-96C4-D65030D98A6E}" dt="2026-10-12T15:58:35.696" v="0" actId="27803"/>
          <ac:spMkLst>
            <pc:docMk/>
            <pc:sldMk cId="1280570049" sldId="316"/>
            <ac:spMk id="20" creationId="{5B915CD0-9E4A-AE23-6105-9A4C5FC64D71}"/>
          </ac:spMkLst>
        </pc:spChg>
        <pc:spChg chg="mod">
          <ac:chgData name="Hassan, Md Mehdi" userId="3cedfd98-6d66-40df-afad-7a0f68f503be" providerId="ADAL" clId="{A940CF8B-4DCE-45A2-96C4-D65030D98A6E}" dt="2026-10-12T15:58:35.696" v="0" actId="27803"/>
          <ac:spMkLst>
            <pc:docMk/>
            <pc:sldMk cId="1280570049" sldId="316"/>
            <ac:spMk id="29" creationId="{9A800397-FDFF-4CF4-AEA0-AB384692443A}"/>
          </ac:spMkLst>
        </pc:spChg>
        <pc:spChg chg="mod">
          <ac:chgData name="Hassan, Md Mehdi" userId="3cedfd98-6d66-40df-afad-7a0f68f503be" providerId="ADAL" clId="{A940CF8B-4DCE-45A2-96C4-D65030D98A6E}" dt="2026-10-12T15:58:35.696" v="0" actId="27803"/>
          <ac:spMkLst>
            <pc:docMk/>
            <pc:sldMk cId="1280570049" sldId="316"/>
            <ac:spMk id="30" creationId="{33EDA582-5591-34A5-38B8-56EC9BB0E921}"/>
          </ac:spMkLst>
        </pc:spChg>
        <pc:spChg chg="mod">
          <ac:chgData name="Hassan, Md Mehdi" userId="3cedfd98-6d66-40df-afad-7a0f68f503be" providerId="ADAL" clId="{A940CF8B-4DCE-45A2-96C4-D65030D98A6E}" dt="2026-10-12T15:58:35.696" v="0" actId="27803"/>
          <ac:spMkLst>
            <pc:docMk/>
            <pc:sldMk cId="1280570049" sldId="316"/>
            <ac:spMk id="36" creationId="{B2FC743B-46A7-5B12-5663-09F6875DF11B}"/>
          </ac:spMkLst>
        </pc:spChg>
        <pc:spChg chg="mod">
          <ac:chgData name="Hassan, Md Mehdi" userId="3cedfd98-6d66-40df-afad-7a0f68f503be" providerId="ADAL" clId="{A940CF8B-4DCE-45A2-96C4-D65030D98A6E}" dt="2026-10-12T15:58:35.696" v="0" actId="27803"/>
          <ac:spMkLst>
            <pc:docMk/>
            <pc:sldMk cId="1280570049" sldId="316"/>
            <ac:spMk id="41" creationId="{FD3D6E5A-4219-7FFD-768D-46F82A4B997B}"/>
          </ac:spMkLst>
        </pc:spChg>
        <pc:spChg chg="mod">
          <ac:chgData name="Hassan, Md Mehdi" userId="3cedfd98-6d66-40df-afad-7a0f68f503be" providerId="ADAL" clId="{A940CF8B-4DCE-45A2-96C4-D65030D98A6E}" dt="2026-10-12T15:58:35.696" v="0" actId="27803"/>
          <ac:spMkLst>
            <pc:docMk/>
            <pc:sldMk cId="1280570049" sldId="316"/>
            <ac:spMk id="43" creationId="{54435CFC-6305-6A4F-C673-AB149C27FDBC}"/>
          </ac:spMkLst>
        </pc:spChg>
        <pc:spChg chg="mod">
          <ac:chgData name="Hassan, Md Mehdi" userId="3cedfd98-6d66-40df-afad-7a0f68f503be" providerId="ADAL" clId="{A940CF8B-4DCE-45A2-96C4-D65030D98A6E}" dt="2026-10-12T15:58:35.696" v="0" actId="27803"/>
          <ac:spMkLst>
            <pc:docMk/>
            <pc:sldMk cId="1280570049" sldId="316"/>
            <ac:spMk id="44" creationId="{92D20B18-26C4-4F28-90FE-7C167BB15639}"/>
          </ac:spMkLst>
        </pc:spChg>
        <pc:cxnChg chg="add mod">
          <ac:chgData name="Hassan, Md Mehdi" userId="3cedfd98-6d66-40df-afad-7a0f68f503be" providerId="ADAL" clId="{A940CF8B-4DCE-45A2-96C4-D65030D98A6E}" dt="2026-10-12T15:59:33.098" v="1" actId="571"/>
          <ac:cxnSpMkLst>
            <pc:docMk/>
            <pc:sldMk cId="1280570049" sldId="316"/>
            <ac:cxnSpMk id="49" creationId="{2608802D-0DDE-1D8E-EFE8-2909F2E27CA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CB9235-B41C-4530-92C0-E3DF6830249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2D0F6-2248-4DBA-8521-C73E091E9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9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59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DE310-6FDF-D8FF-0DAA-199EE66E3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2EE2D3-8395-7DE1-BDCD-6CE223333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9100D9-EF01-7FC1-EB49-1D45E3B7F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66FD9-765C-E38F-08A8-20560C050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3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3B2E4-E1A6-CC9D-B6B4-E5D3FDB14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AF9E5-D7FC-8EA7-F254-D11421A7F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B6995-5A6B-F0C5-A454-20287F257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9B71F-11CD-1A1F-59E4-5042AA97D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4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108CC-B937-F7C7-FA9C-09594B421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499CF-4DE8-7B1F-9132-49C67E204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A1146-D865-9173-12F9-423324E70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87768-03DD-2B5D-9632-3518DFB2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21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69D55-467F-5E4C-38B9-0112D8285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78323-A667-DC6C-92D5-7A73B6CB1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21D8A-8B52-F41F-E2C2-D323D6507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Suppose you have some stock in Nasdaq and some in NYSE. The stock prices are correlated. For example, the stock price of oil (ExxonMobil (NYSE: XOM) ) and the stock price of airlines (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United Airlines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(NASDAQ: UAL));  An increase in oil prices may benefit ExxonMobil while increasing fuel costs for United Airlines, so they are anti-correlated. </a:t>
            </a:r>
            <a:endParaRPr lang="en-US" b="0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36866-72FB-C966-4419-15F50E071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48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7D4C-AF41-2112-DE7D-76DCE6663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6E287-660E-FCC6-C922-6C18ABF5E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F74DE-BAFC-5B82-12AB-B3FD4387A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strategy might me if the oil price tends to go up, you immediately want to buy some oil stock and to sell some Airline stocks. </a:t>
            </a:r>
          </a:p>
          <a:p>
            <a:pPr lvl="0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if you want to wait 200 microsec, the price may have already changed in an unfavorable way.  </a:t>
            </a:r>
          </a:p>
          <a:p>
            <a:pPr lvl="0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want a strategy for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Tacit Coordination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Quantum Mechanics help you in this scenario?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2EA85-8306-55E6-8950-42BE90C1F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18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C97D4-395E-5D08-12ED-522523569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C4C6A-F708-D6A2-CC8D-E81FBF0B9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7FBAA-BD85-B4F0-CC9A-19A3E67D3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 fontAlgn="base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92860-08A3-C258-4B43-ECA57616E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52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98DF1-A197-C35F-EE50-A48820642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4B730-4B42-83E7-C55A-0D59314D7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7744A-1B54-650D-42DA-D2DD7B5EE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Here, instead of Head=0, Tail=1, we say Indicator=0, no-indicator=1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DAE61-DCE5-7425-598F-1A9608A73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38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CA67A-C9E8-4E39-6862-DD3052E26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9D5E6-6F2A-7416-4F19-039418739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796A7-C387-C35E-60EB-9BF336A1B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0B22A-585E-C211-4250-ECEDACF69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30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181DF-9E27-8170-F0A1-A2B4610CA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863D0-971B-22DF-37C2-46D56FB14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D67C0-33D2-A970-E1CC-ECDDF66D2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5DDB6-5920-1C3B-DBEF-6623D225B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661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0AE7B-0118-1F34-4D44-9FB32B470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AC0E1-1F51-0FA6-573E-DD6B52868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F8A49-E64F-1BA7-93FB-D41AB17DB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47C16-9170-7DB1-FB9A-DDF532343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605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76F8B-58F5-D146-7D20-4DCC9510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B3856-24E8-20E5-3404-410AD27AD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0B9A0-436D-F8E1-4F77-782AB455D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419AA-DBF2-5A1F-D4D7-56F0800D1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0536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1BAB1-5BB7-E66A-A377-261903C39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6E2C5-2799-EDA4-9AD4-10BA4590E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60910-366D-52FB-300F-4022D017A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AA567-148A-14AD-40CF-09A393F87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82332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BCA6E-3E75-304B-4C3D-B3F55421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30DE5-E6C4-5FC5-583F-0FEE8254B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7A0EBE-1DA0-61AA-3860-212F80DD0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Kick out one carbon in the middle</a:t>
            </a:r>
          </a:p>
          <a:p>
            <a:pPr marL="228600" indent="-228600">
              <a:buAutoNum type="arabicPeriod"/>
            </a:pPr>
            <a:r>
              <a:rPr lang="en-US" dirty="0"/>
              <a:t>Replace another neighbor carbon with Nitrogen -&gt; You got NV center</a:t>
            </a:r>
          </a:p>
          <a:p>
            <a:pPr marL="228600" indent="-228600">
              <a:buAutoNum type="arabicPeriod"/>
            </a:pPr>
            <a:r>
              <a:rPr lang="en-US" dirty="0"/>
              <a:t>This is NV(0). Sometimes from the defects of neighboring NV-0 center, an electron escape and join to the system of interest. </a:t>
            </a:r>
          </a:p>
          <a:p>
            <a:pPr marL="228600" indent="-228600">
              <a:buAutoNum type="arabicPeriod"/>
            </a:pPr>
            <a:r>
              <a:rPr lang="en-US" dirty="0"/>
              <a:t>It makes NV(-)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A9CC7-BD1E-4D2F-823D-74CEFAE00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097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A3FBD-1DFD-A52C-FD44-75BA09CF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DE475-7A41-6F04-9114-26AF96D12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31291-A454-2714-2A94-D28E51801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C08A3-F606-1C2B-8CBD-2FD3682AD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97472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BA940-E860-75FB-6EDE-BF8D7B5E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F46B3-8221-E1BB-361D-C2ECCC7E9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A4CA0-9D10-FB33-5D93-B0A282801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Goal is to make NV(-) state probability higher than NV(0). </a:t>
            </a:r>
          </a:p>
          <a:p>
            <a:pPr marL="228600" indent="-228600">
              <a:buAutoNum type="arabicPeriod"/>
            </a:pPr>
            <a:r>
              <a:rPr lang="en-US" dirty="0"/>
              <a:t>Aper preparing, there is a readout process to verify if it was really in NV(-) state or not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B49C-17C2-1F08-3B86-0E5F41A4F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260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21DAB-7FBA-5828-35BB-19B515680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627B1-AF6F-A5CE-B8FA-69047E3AE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EF263-1855-A5A8-D05B-C6B17F72E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^4A_2: electron-electron interactions</a:t>
            </a:r>
          </a:p>
          <a:p>
            <a:pPr marL="228600" indent="-228600">
              <a:buAutoNum type="arabicPeriod"/>
            </a:pPr>
            <a:r>
              <a:rPr lang="en-US" dirty="0"/>
              <a:t>Since S=1 here in NV(-), there would be </a:t>
            </a:r>
            <a:r>
              <a:rPr lang="en-US" dirty="0" err="1"/>
              <a:t>m_s</a:t>
            </a:r>
            <a:r>
              <a:rPr lang="en-US" dirty="0"/>
              <a:t> = -1, 0, +1 spin states is spin triplet state, and S=0 in spin singlet state </a:t>
            </a:r>
            <a:r>
              <a:rPr lang="en-US" dirty="0" err="1"/>
              <a:t>m_s</a:t>
            </a:r>
            <a:r>
              <a:rPr lang="en-US" dirty="0"/>
              <a:t> = 0</a:t>
            </a:r>
          </a:p>
          <a:p>
            <a:pPr marL="228600" indent="-228600">
              <a:buAutoNum type="arabicPeriod"/>
            </a:pPr>
            <a:r>
              <a:rPr lang="en-US" dirty="0" err="1"/>
              <a:t>m_s</a:t>
            </a:r>
            <a:r>
              <a:rPr lang="en-US" dirty="0"/>
              <a:t> = 0 of triplet state and </a:t>
            </a:r>
            <a:r>
              <a:rPr lang="en-US" dirty="0" err="1"/>
              <a:t>m_s</a:t>
            </a:r>
            <a:r>
              <a:rPr lang="en-US" dirty="0"/>
              <a:t> = 0 from singlet state are different in the energy level.  </a:t>
            </a:r>
            <a:br>
              <a:rPr lang="en-US" dirty="0"/>
            </a:b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9FA50-F7CE-4E4C-F92B-83D15746D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84480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FEA6A-E9C2-0F1C-370C-03DEF1AA2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F810B-CBB9-46A0-4F59-FE74EFDBD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10DE4-CB19-26CB-7FF6-EB3085164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apply external static electric field to mess up with the system and it will let you control the energy gap between ground and exited states.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54701-BCE1-BDFA-F347-DC2D9A22B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68217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1CF5D-12A6-6089-7C79-3D68606A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936E7-C1E6-FB85-E083-1386AAFCA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DA6D7-3026-DF08-1F0F-87D3EB351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applying static magnetic field, you can split the energy level between </a:t>
            </a:r>
            <a:r>
              <a:rPr lang="en-US" dirty="0" err="1"/>
              <a:t>m_s</a:t>
            </a:r>
            <a:r>
              <a:rPr lang="en-US" dirty="0"/>
              <a:t>=-1 and </a:t>
            </a:r>
            <a:r>
              <a:rPr lang="en-US" dirty="0" err="1"/>
              <a:t>m_s</a:t>
            </a:r>
            <a:r>
              <a:rPr lang="en-US" dirty="0"/>
              <a:t> =+1 via Zeeman effect.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CE592-9CED-2564-A2B6-5A2C7973E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18223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8341E-E320-84F1-EEAE-4B62DA6D8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D18D4-6091-7194-DC94-FA53642E6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A6ADF-30D8-A417-4517-450E5A2F8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0C73A-1BBF-F821-2F71-393D92879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41827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C4BE7-87A3-4368-EEA4-4962EA9C8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B93B2-A938-691F-AC4A-B3D64408D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C80A9-E94B-5B50-41C1-A63BCE12E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0194-71B2-40CD-02A4-D87DFF1BA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42871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7F1E-8BED-E56B-7FDF-98BC0BC66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6B2F7-B393-F2C1-2A2A-E05B71F4B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C90DE-7CAF-804E-D3F1-269AEE41B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0A6C0-A2AD-29B9-A226-F30123CD1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88342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CD7F5-DC7D-1B65-CDB3-9F43CC131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EBBCC-B1F0-2167-FAD5-513B69407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C803D8-DCF8-8876-E0C9-31E0C6B3A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747E7-D55D-93A7-8B30-B316DA464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1210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CE60-3209-D35C-223C-209FA3FEB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5DFF0-3C1E-AF30-E599-A68D7E297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C7346-9BCD-C609-6FB8-978D53C45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5867E-55EB-E8DA-2BE4-C6D504E8B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5126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9C736-36B5-4BCB-8C64-66B46BF8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60624-E9AE-5ED4-3082-3D9AACB78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7D10D-E044-230E-D57F-803C4B99A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C4457-A723-DC09-0ABA-A4C216C44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85519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9EB85-86F2-C974-9B42-9F3B9DF93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8C824-4B3E-D38B-2E27-03CF48B6F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272B5-B4FC-D3AC-73C9-A5737F75B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2.87 GHz in microwave frequency level.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6CD60-E716-2463-EA01-B423AB534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99984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746DD-9977-AD80-3B66-0CC684075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9BC51-67B7-95CA-D46F-702902442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EE0F3-487F-2A3C-30DF-2DB8E2683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2366D-EBC4-AA4B-6994-BF4FBA91D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5434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4A289-7626-AFD4-4277-4BB47B72A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152FB2-4BB0-386D-F743-B32281CEA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05A9F-6702-6C74-C409-A58A0CA4D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369CF-9336-47F9-6E1A-6BFCD6122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6950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7D3E1-D388-F5F3-F3EA-7D8642CF1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21750-830B-391C-FAAA-AF8FDDB4A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0CAB7-CFAD-A20A-0BE4-919FCA3F2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resonant \pi/2 microwave pulse rotates the NV spin from </a:t>
            </a:r>
            <a:r>
              <a:rPr lang="en-US" dirty="0" err="1"/>
              <a:t>m_s</a:t>
            </a:r>
            <a:r>
              <a:rPr lang="en-US" dirty="0"/>
              <a:t>=0 into an equal coherent superposition of </a:t>
            </a:r>
            <a:r>
              <a:rPr lang="en-US" dirty="0" err="1"/>
              <a:t>m_s</a:t>
            </a:r>
            <a:r>
              <a:rPr lang="en-US" dirty="0"/>
              <a:t>=0 and </a:t>
            </a:r>
            <a:r>
              <a:rPr lang="en-US" dirty="0" err="1"/>
              <a:t>m_s</a:t>
            </a:r>
            <a:r>
              <a:rPr lang="en-US" dirty="0"/>
              <a:t>=-1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9E6C1-9661-F27B-7D15-6D2C421E5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994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93A8E-EEFB-C225-BE5D-FBF6263E7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E752D-5C28-6F33-AF73-50A064005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33FA48-AB4D-BBCE-AE7A-A5401CFDD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82F1A-0749-5F3F-A5BE-2B26D8958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56583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A4636-F24D-6DCA-BD5A-794F7730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4CFB2-F45B-2E05-51FA-396AE7C08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311A2-F2F0-018D-E7AC-FB5BE04C8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789B2-84B1-3334-ED7C-A850D813C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73765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2CE18-B0F4-E2E4-7957-C7700A1AF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53D15-49ED-E0B7-197D-43790FC77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0EFDC-BB19-7D8D-D672-4C8B1C6ED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4E80A-E801-8FB3-87E9-E5D6B29E7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2D0F6-2248-4DBA-8521-C73E091E930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471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2E89-6491-6F6B-E6F7-D7F990D1C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F189D-43F4-DB97-A1AA-1EA6BE47B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47C19-E0B7-523B-735C-5825CF9E5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EC91-FD81-E353-8A37-2F6A7DA59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7657B-884F-054D-2DCD-3B0A0A506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C3F-7AAA-9272-9948-B655A9B26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9D9A6-5936-8740-4E65-DB99BA53E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EB4F-E81D-6B43-24A9-7216FBF14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C0574-F7ED-F548-75C9-644AAD19F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4A054-1C95-9042-531B-300836D05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1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4388-A592-31E9-A903-EC1A292E5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8958B-6B4A-129F-FDEB-9FDF21D18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31981-2852-5E21-9E26-57DD49022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C6787-687E-3B3C-9DA5-A755D1EF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35CB1-056C-8DF0-F7F4-66219D0C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5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1F92C-31CE-A009-47CC-9606A026D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C6C94-5A0F-436C-8881-63E182172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089C2-1D25-9948-D092-B91CE403A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A88E9-35E8-5560-EF2B-A08BBDF7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7FAD9-BC24-3201-03F8-A5F8D3C8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455E9-D0E3-3D55-EDA8-72A3893C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2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4999-0E08-0086-9406-84BDE0291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E9808-722A-7FE7-F946-D860D78BF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D338B-9EA5-FAE7-A3EA-13A467FD1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E34140-0B01-4614-2AAF-B43548499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C6D02F-35BE-7AA9-1269-AAA4F6193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17070-BD5D-B41F-D873-9D6A30289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DC4C50-D04B-2039-DE9F-3D4855F5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F34A9D-0713-9974-5BF8-2815BDC0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0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43B1-E82B-4C97-96B8-71364437C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6780E-7B09-A830-712E-AD663C97F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8E5CB-5720-6BB6-042C-183669DD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D76FE-48C1-35DE-F5C0-6C6913EA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8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9EB8CD-C127-F64F-DBB3-168EFE727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CC74DC-0F13-0F8E-88BB-439D81E53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CD1A3-17D8-070A-7097-EDB11311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69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2B30-001A-F0DD-19F0-BC5792B89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60157-C0F6-37F2-CFCC-4D39AB128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F0F81-82A5-B242-B780-099BCD8CF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B3EEA-D0D7-80DF-4CC2-6EDDA26F8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CE168-0077-40EC-BB5F-E68FB14E5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61ABC-E3AB-DAB6-2BE6-DC07E916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56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9699-2AC6-B472-F4EA-0B343EAB2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D77B90-FC71-E968-3291-EE1ECFA25F1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34CEB-504E-7DCA-6AFB-73B3F2AAB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1F266-C935-3802-A4A0-2B6A80277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3204B-E81F-9428-FE98-406573707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AF0A6-35AA-DE09-0B46-4CD17DC9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91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A06FA-1DAC-FA86-CE71-B5B8BB36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DD0397-D8D2-2872-9875-36E42DD70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A4F16-61E6-53DE-2138-357770B65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AE486-CA73-2515-308F-143F7327A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63192-E540-B387-B514-9D8CAF19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76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495192-ED2D-BE64-E070-B1DCB20CF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55723-02D1-29C2-5C5C-AE9D31A3C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9A951-0DC6-D55B-E4AC-6F4EFA97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79262-1608-F80C-884C-7C13CF31B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FEFDD-A62F-BF81-3246-31A04310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5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F7AED8-22C9-78C9-5885-8AAE01059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E3B12-7B3F-666F-63FB-F0D457243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D1593-F58F-6717-7641-B0CD1FCF8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026825-8363-4DB6-A24B-58E271F36F7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9CA77-A23A-A1F2-24A2-0D4AEE6AE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06054-113C-EEA6-A73C-A219355DA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0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8.png"/><Relationship Id="rId5" Type="http://schemas.openxmlformats.org/officeDocument/2006/relationships/image" Target="../media/image13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5.png"/><Relationship Id="rId5" Type="http://schemas.openxmlformats.org/officeDocument/2006/relationships/image" Target="../media/image4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0.png"/><Relationship Id="rId10" Type="http://schemas.openxmlformats.org/officeDocument/2006/relationships/image" Target="../media/image28.png"/><Relationship Id="rId4" Type="http://schemas.openxmlformats.org/officeDocument/2006/relationships/image" Target="../media/image19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25.sv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0.png"/><Relationship Id="rId10" Type="http://schemas.openxmlformats.org/officeDocument/2006/relationships/image" Target="../media/image28.png"/><Relationship Id="rId4" Type="http://schemas.openxmlformats.org/officeDocument/2006/relationships/image" Target="../media/image19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svg"/><Relationship Id="rId4" Type="http://schemas.openxmlformats.org/officeDocument/2006/relationships/image" Target="../media/image5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svg"/><Relationship Id="rId4" Type="http://schemas.openxmlformats.org/officeDocument/2006/relationships/image" Target="../media/image53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8827F974-4A64-09A3-362B-E47B14285F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5405" y="234938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1368998-DB85-AD01-4983-DD01600A42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6137" y="63603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99CA6128-898D-1C1C-6A79-34BB7B9EA3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7805" y="250178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24B2A8-CCE8-0DDC-8CA4-76704D7DE291}"/>
              </a:ext>
            </a:extLst>
          </p:cNvPr>
          <p:cNvSpPr txBox="1"/>
          <p:nvPr/>
        </p:nvSpPr>
        <p:spPr>
          <a:xfrm>
            <a:off x="2001123" y="353935"/>
            <a:ext cx="81897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 Rounded MT" panose="02000506050000020004" pitchFamily="2" charset="0"/>
              </a:rPr>
              <a:t>Practical Quantum Communication:</a:t>
            </a:r>
          </a:p>
          <a:p>
            <a:pPr algn="ctr"/>
            <a:r>
              <a:rPr lang="en-US" sz="3200" b="1" dirty="0">
                <a:latin typeface="Arial Rounded MT" panose="02000506050000020004" pitchFamily="2" charset="0"/>
              </a:rPr>
              <a:t>From Lab to Real-World 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5F5A1D-BB3B-9DDE-24FC-DD6DCDDF81D4}"/>
              </a:ext>
            </a:extLst>
          </p:cNvPr>
          <p:cNvSpPr txBox="1"/>
          <p:nvPr/>
        </p:nvSpPr>
        <p:spPr>
          <a:xfrm>
            <a:off x="3038352" y="5574880"/>
            <a:ext cx="61152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Minion Pro" panose="02040503050201020203" pitchFamily="18" charset="0"/>
              </a:rPr>
              <a:t>Md Mehdi Hassan</a:t>
            </a:r>
            <a:endParaRPr lang="en-US" sz="2400" b="1" dirty="0"/>
          </a:p>
          <a:p>
            <a:pPr algn="ctr"/>
            <a:r>
              <a:rPr lang="en-US" dirty="0">
                <a:latin typeface="Minion Pro" panose="02040503050201020203" pitchFamily="18" charset="0"/>
              </a:rPr>
              <a:t>Quantum Research Fellow</a:t>
            </a:r>
          </a:p>
          <a:p>
            <a:pPr algn="ctr"/>
            <a:r>
              <a:rPr lang="en-US" dirty="0">
                <a:latin typeface="Minion Pro" panose="02040503050201020203" pitchFamily="18" charset="0"/>
              </a:rPr>
              <a:t>Nasdaq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3AC7172-A4E3-BBE1-CA0B-8532F5953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715" y="1722361"/>
            <a:ext cx="6574492" cy="370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4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2C91E-17A4-970A-BB08-60F5E4192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68507358-9492-16C4-0774-7C95A80A4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499" y="3090326"/>
            <a:ext cx="4259607" cy="2397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532569-6335-AA6C-A1E4-276A488980D7}"/>
              </a:ext>
            </a:extLst>
          </p:cNvPr>
          <p:cNvSpPr txBox="1"/>
          <p:nvPr/>
        </p:nvSpPr>
        <p:spPr>
          <a:xfrm>
            <a:off x="121894" y="4288977"/>
            <a:ext cx="4259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 Rounded MT" panose="02000506050000020004" pitchFamily="2" charset="0"/>
              </a:rPr>
              <a:t>Outline: Today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BAAA5-4FEF-F75D-667E-14DC61DED1C7}"/>
              </a:ext>
            </a:extLst>
          </p:cNvPr>
          <p:cNvSpPr txBox="1"/>
          <p:nvPr/>
        </p:nvSpPr>
        <p:spPr>
          <a:xfrm>
            <a:off x="424705" y="4933543"/>
            <a:ext cx="6331695" cy="1686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" panose="02000506050000020004" pitchFamily="2" charset="0"/>
              </a:rPr>
              <a:t>Quantum Communication in HFT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" panose="02000506050000020004" pitchFamily="2" charset="0"/>
              </a:rPr>
              <a:t>Experimental Implementation: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 Rounded MT" panose="02000506050000020004" pitchFamily="2" charset="0"/>
              </a:rPr>
              <a:t>        - NV Center in Diamond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3D5590-8D22-3F45-21E4-E023C72088A5}"/>
              </a:ext>
            </a:extLst>
          </p:cNvPr>
          <p:cNvSpPr txBox="1"/>
          <p:nvPr/>
        </p:nvSpPr>
        <p:spPr>
          <a:xfrm>
            <a:off x="121894" y="355152"/>
            <a:ext cx="5002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 Rounded MT" panose="02000506050000020004" pitchFamily="2" charset="0"/>
              </a:rPr>
              <a:t>Recap: Last Week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B0C4F-8F38-898F-EC35-1EE3B73BA2EB}"/>
              </a:ext>
            </a:extLst>
          </p:cNvPr>
          <p:cNvSpPr txBox="1"/>
          <p:nvPr/>
        </p:nvSpPr>
        <p:spPr>
          <a:xfrm>
            <a:off x="424705" y="999718"/>
            <a:ext cx="6331695" cy="1132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" panose="02000506050000020004" pitchFamily="2" charset="0"/>
              </a:rPr>
              <a:t>Quantum Network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" panose="02000506050000020004" pitchFamily="2" charset="0"/>
              </a:rPr>
              <a:t>Quantum Clock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782911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EED42-F09A-5671-11FF-A09DF96F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47B72E0-806D-897E-EE82-3C27689C9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5319735" y="3656322"/>
            <a:ext cx="1261246" cy="12754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FE8D33F-0755-8DFF-74BE-26D4D4237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440" y="3660616"/>
            <a:ext cx="1261246" cy="1266888"/>
          </a:xfrm>
          <a:prstGeom prst="rect">
            <a:avLst/>
          </a:prstGeom>
        </p:spPr>
      </p:pic>
      <p:sp>
        <p:nvSpPr>
          <p:cNvPr id="12" name="Freeform 14">
            <a:extLst>
              <a:ext uri="{FF2B5EF4-FFF2-40B4-BE49-F238E27FC236}">
                <a16:creationId xmlns:a16="http://schemas.microsoft.com/office/drawing/2014/main" id="{419EDF03-EAC3-E24F-70EC-5E4412B3A83C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A56B995E-D606-1B26-B6BB-10A5177938C1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18F84-FF42-46EC-9093-154F3E53E4A0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High-Frequency Trading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4530E3-0775-838E-ECD4-B503169C0A5D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097283-E7ED-B5CE-EB19-8C46C118E0AA}"/>
              </a:ext>
            </a:extLst>
          </p:cNvPr>
          <p:cNvSpPr txBox="1"/>
          <p:nvPr/>
        </p:nvSpPr>
        <p:spPr>
          <a:xfrm>
            <a:off x="430738" y="3865867"/>
            <a:ext cx="3591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CHSH Game analogy: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B009D81-9716-9B4C-D6DE-D17A1905A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733" y="1662033"/>
            <a:ext cx="736927" cy="736927"/>
          </a:xfrm>
          <a:prstGeom prst="rect">
            <a:avLst/>
          </a:prstGeom>
        </p:spPr>
      </p:pic>
      <p:cxnSp>
        <p:nvCxnSpPr>
          <p:cNvPr id="21" name="Straight Connector 2">
            <a:extLst>
              <a:ext uri="{FF2B5EF4-FFF2-40B4-BE49-F238E27FC236}">
                <a16:creationId xmlns:a16="http://schemas.microsoft.com/office/drawing/2014/main" id="{E828A3C6-BAC1-6E25-D84E-0E0220CC48F2}"/>
              </a:ext>
            </a:extLst>
          </p:cNvPr>
          <p:cNvCxnSpPr>
            <a:cxnSpLocks/>
          </p:cNvCxnSpPr>
          <p:nvPr/>
        </p:nvCxnSpPr>
        <p:spPr>
          <a:xfrm rot="5400000">
            <a:off x="6729203" y="3269825"/>
            <a:ext cx="2363146" cy="6482"/>
          </a:xfrm>
          <a:prstGeom prst="curvedConnector3">
            <a:avLst>
              <a:gd name="adj1" fmla="val 50000"/>
            </a:avLst>
          </a:prstGeom>
          <a:ln w="38100">
            <a:bevel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89587304-D4BA-EBF6-52A4-9A0B64FC0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810" y="3231091"/>
            <a:ext cx="656308" cy="6563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F53782E-0B64-5956-265F-81E7704D7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3586" y="3231091"/>
            <a:ext cx="656308" cy="6563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B48D6C7-B6BA-9DB2-BF08-6F4E8E452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8594" y="1657593"/>
            <a:ext cx="736927" cy="7369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69924B1-B1A5-CE9B-4128-D3D33DFB72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483" y="1512226"/>
            <a:ext cx="1389067" cy="290735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AB5C3C9-F4EA-BB99-CE79-A3D94ADDE44C}"/>
              </a:ext>
            </a:extLst>
          </p:cNvPr>
          <p:cNvCxnSpPr/>
          <p:nvPr/>
        </p:nvCxnSpPr>
        <p:spPr>
          <a:xfrm>
            <a:off x="6732119" y="4606460"/>
            <a:ext cx="2454492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561DDD-F763-3A7F-899A-8196EF6F4C97}"/>
              </a:ext>
            </a:extLst>
          </p:cNvPr>
          <p:cNvSpPr txBox="1"/>
          <p:nvPr/>
        </p:nvSpPr>
        <p:spPr>
          <a:xfrm>
            <a:off x="7667988" y="4672647"/>
            <a:ext cx="473105" cy="19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3 min*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E54A464-744C-A9E4-5647-AF41FC1BC83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521300" y="988248"/>
            <a:ext cx="543792" cy="58096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568B124-0F45-361D-0CA4-AEC336B6120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8748033" y="978756"/>
            <a:ext cx="558048" cy="59045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58E600E-8E2A-7579-0204-E0796A35841C}"/>
              </a:ext>
            </a:extLst>
          </p:cNvPr>
          <p:cNvSpPr txBox="1"/>
          <p:nvPr/>
        </p:nvSpPr>
        <p:spPr>
          <a:xfrm>
            <a:off x="4931693" y="5153495"/>
            <a:ext cx="60163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inion" pitchFamily="50" charset="0"/>
              </a:rPr>
              <a:t>they choose the same color when at least one player receives 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Minion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inion" pitchFamily="50" charset="0"/>
              </a:rPr>
              <a:t>they choose different color when both receives Tail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Minion" pitchFamily="50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6586FC5-537F-4DC6-D983-DD8488AB0D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4833" y="4957842"/>
            <a:ext cx="6185404" cy="1587468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546BC421-5EE0-2D70-1609-8F126E9E3B78}"/>
              </a:ext>
            </a:extLst>
          </p:cNvPr>
          <p:cNvGrpSpPr/>
          <p:nvPr/>
        </p:nvGrpSpPr>
        <p:grpSpPr>
          <a:xfrm>
            <a:off x="4927799" y="2718793"/>
            <a:ext cx="588127" cy="692055"/>
            <a:chOff x="4927799" y="2718793"/>
            <a:chExt cx="588127" cy="692055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A2F90D2C-9472-65A0-7AB4-E1D63129A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>
            <a:xfrm>
              <a:off x="4927799" y="2718793"/>
              <a:ext cx="588127" cy="442675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E85B201-5EC4-B46C-DAC9-3AE0B414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>
            <a:xfrm>
              <a:off x="4938985" y="2987632"/>
              <a:ext cx="563938" cy="42321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43432DE-F587-EA9A-0451-BC12C76D3372}"/>
              </a:ext>
            </a:extLst>
          </p:cNvPr>
          <p:cNvGrpSpPr/>
          <p:nvPr/>
        </p:nvGrpSpPr>
        <p:grpSpPr>
          <a:xfrm>
            <a:off x="10412110" y="2718793"/>
            <a:ext cx="588127" cy="692055"/>
            <a:chOff x="4927799" y="2718793"/>
            <a:chExt cx="588127" cy="692055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29D66B8-E356-7FC0-AE9D-CF26DAAC6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>
            <a:xfrm>
              <a:off x="4927799" y="2718793"/>
              <a:ext cx="588127" cy="442675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C039992-2D29-A0D8-18F1-390FC6799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>
            <a:xfrm>
              <a:off x="4938985" y="2987632"/>
              <a:ext cx="563938" cy="423216"/>
            </a:xfrm>
            <a:prstGeom prst="rect">
              <a:avLst/>
            </a:prstGeom>
          </p:spPr>
        </p:pic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85EE79EC-6EBD-AE24-31B2-88F8D4D7672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9540" y="4977762"/>
            <a:ext cx="6016391" cy="155454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C3BA334-B80F-2BEF-0B87-41CE756F4C0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39328" y="2642509"/>
            <a:ext cx="563938" cy="56393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9ED6C5E-E11F-E865-650E-C53FF1329DC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77105" y="2642509"/>
            <a:ext cx="563938" cy="56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4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C0BC6-56A5-1E50-87E1-49F48D5B7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6F878A4-74AD-7B91-1F96-D11C9FE18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5319735" y="3656322"/>
            <a:ext cx="1261246" cy="12754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B3F434-B17E-58E4-245F-E7E9ED49D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440" y="3660616"/>
            <a:ext cx="1261246" cy="1266888"/>
          </a:xfrm>
          <a:prstGeom prst="rect">
            <a:avLst/>
          </a:prstGeom>
        </p:spPr>
      </p:pic>
      <p:sp>
        <p:nvSpPr>
          <p:cNvPr id="12" name="Freeform 14">
            <a:extLst>
              <a:ext uri="{FF2B5EF4-FFF2-40B4-BE49-F238E27FC236}">
                <a16:creationId xmlns:a16="http://schemas.microsoft.com/office/drawing/2014/main" id="{F5D59915-862B-5F88-EFDA-9276AFBE735D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38F9C81A-4C11-7790-BC3E-40AAADB3E2BF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34BA21-1716-09BF-4AD5-43A3703C54F7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High-Frequency Trading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5F5402-2836-CBDA-CEDA-33A320293613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813142-B3F7-30D7-1446-0B0A96AB11E3}"/>
              </a:ext>
            </a:extLst>
          </p:cNvPr>
          <p:cNvSpPr txBox="1"/>
          <p:nvPr/>
        </p:nvSpPr>
        <p:spPr>
          <a:xfrm>
            <a:off x="430738" y="3865867"/>
            <a:ext cx="3591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CHSH Game analogy: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E6FBC6-A544-989C-9652-37833C496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9328" y="3269025"/>
            <a:ext cx="563938" cy="5639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37FD4E3-D9C4-A0A4-15CB-71AD911959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7105" y="3269025"/>
            <a:ext cx="563938" cy="5639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ACB3AD-E445-5D2F-9DE5-6400786720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4733" y="1662033"/>
            <a:ext cx="736927" cy="736927"/>
          </a:xfrm>
          <a:prstGeom prst="rect">
            <a:avLst/>
          </a:prstGeom>
        </p:spPr>
      </p:pic>
      <p:cxnSp>
        <p:nvCxnSpPr>
          <p:cNvPr id="21" name="Straight Connector 2">
            <a:extLst>
              <a:ext uri="{FF2B5EF4-FFF2-40B4-BE49-F238E27FC236}">
                <a16:creationId xmlns:a16="http://schemas.microsoft.com/office/drawing/2014/main" id="{8F99A786-26F3-D29F-8493-933571B5300A}"/>
              </a:ext>
            </a:extLst>
          </p:cNvPr>
          <p:cNvCxnSpPr>
            <a:cxnSpLocks/>
          </p:cNvCxnSpPr>
          <p:nvPr/>
        </p:nvCxnSpPr>
        <p:spPr>
          <a:xfrm rot="5400000">
            <a:off x="6729203" y="3269825"/>
            <a:ext cx="2363146" cy="6482"/>
          </a:xfrm>
          <a:prstGeom prst="curvedConnector3">
            <a:avLst>
              <a:gd name="adj1" fmla="val 50000"/>
            </a:avLst>
          </a:prstGeom>
          <a:ln w="38100">
            <a:bevel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46669228-A339-C68E-98B8-191BD24670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5810" y="3231091"/>
            <a:ext cx="656308" cy="6563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3350BFC-FF0E-0385-9A15-F58F85D869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3586" y="3231091"/>
            <a:ext cx="656308" cy="6563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B34336E-DC20-96A1-0286-D0879D08DA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8594" y="1657593"/>
            <a:ext cx="736927" cy="7369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3D4F53F-9DF0-C5E3-6635-FCE939E608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483" y="1512226"/>
            <a:ext cx="1389067" cy="290735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4A3624E-1463-CCFB-B7A1-DE4D3CC17318}"/>
              </a:ext>
            </a:extLst>
          </p:cNvPr>
          <p:cNvCxnSpPr/>
          <p:nvPr/>
        </p:nvCxnSpPr>
        <p:spPr>
          <a:xfrm>
            <a:off x="6732119" y="4606460"/>
            <a:ext cx="2454492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93D5DBF-4F49-453E-61E9-CBAB77E7466B}"/>
              </a:ext>
            </a:extLst>
          </p:cNvPr>
          <p:cNvSpPr txBox="1"/>
          <p:nvPr/>
        </p:nvSpPr>
        <p:spPr>
          <a:xfrm>
            <a:off x="7667988" y="4672647"/>
            <a:ext cx="473105" cy="19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3 min*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9591983-2AFB-4392-5DA1-AE571FEECA4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521300" y="988248"/>
            <a:ext cx="543792" cy="58096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B6EAB6D-D566-3C0D-A91F-D2C1BB29FC2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8748033" y="978756"/>
            <a:ext cx="558048" cy="59045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349D93D-78AB-BFF1-35CB-120335A7076C}"/>
              </a:ext>
            </a:extLst>
          </p:cNvPr>
          <p:cNvSpPr txBox="1"/>
          <p:nvPr/>
        </p:nvSpPr>
        <p:spPr>
          <a:xfrm>
            <a:off x="4931693" y="5153495"/>
            <a:ext cx="60163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inion" pitchFamily="50" charset="0"/>
              </a:rPr>
              <a:t>they choose the same color when at least one player receives 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Minion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inion" pitchFamily="50" charset="0"/>
              </a:rPr>
              <a:t>they choose different color when both receives Tail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Minion" pitchFamily="50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2D4B30E-7ED9-2A07-6CE7-214C919727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4833" y="4957842"/>
            <a:ext cx="6185404" cy="1587468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B0CA1EFB-963B-EDE2-51B8-AD8573B68ED8}"/>
              </a:ext>
            </a:extLst>
          </p:cNvPr>
          <p:cNvGrpSpPr/>
          <p:nvPr/>
        </p:nvGrpSpPr>
        <p:grpSpPr>
          <a:xfrm>
            <a:off x="4927799" y="2718793"/>
            <a:ext cx="588127" cy="692055"/>
            <a:chOff x="4927799" y="2718793"/>
            <a:chExt cx="588127" cy="692055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010C82-E586-87D2-0EE3-4CEEB63F1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>
            <a:xfrm>
              <a:off x="4927799" y="2718793"/>
              <a:ext cx="588127" cy="442675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DA1F2FC-D16F-99F1-414F-97F8D0F62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4938985" y="2987632"/>
              <a:ext cx="563938" cy="42321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7AF1FB8-D8A8-1886-4326-C40FF8AC8AE0}"/>
              </a:ext>
            </a:extLst>
          </p:cNvPr>
          <p:cNvGrpSpPr/>
          <p:nvPr/>
        </p:nvGrpSpPr>
        <p:grpSpPr>
          <a:xfrm>
            <a:off x="10412110" y="2718793"/>
            <a:ext cx="588127" cy="692055"/>
            <a:chOff x="4927799" y="2718793"/>
            <a:chExt cx="588127" cy="692055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2B14EAF-2F3B-84B1-132E-AEE6A6D27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>
            <a:xfrm>
              <a:off x="4927799" y="2718793"/>
              <a:ext cx="588127" cy="442675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2F208CC3-E9F8-CFE0-859D-AF9E82345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4938985" y="2987632"/>
              <a:ext cx="563938" cy="423216"/>
            </a:xfrm>
            <a:prstGeom prst="rect">
              <a:avLst/>
            </a:prstGeom>
          </p:spPr>
        </p:pic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F43EF485-7B1E-8B87-EB0C-05D0F88C2A3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79540" y="4977762"/>
            <a:ext cx="6016391" cy="155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30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9C432-B369-3CA1-B101-710BF0C9F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B79E7AF-6A3C-F04A-587F-4B678D392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5319735" y="3656322"/>
            <a:ext cx="1261246" cy="12754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22FB43A-0DBA-70E6-670B-34ED4DEAA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440" y="3660616"/>
            <a:ext cx="1261246" cy="1266888"/>
          </a:xfrm>
          <a:prstGeom prst="rect">
            <a:avLst/>
          </a:prstGeom>
        </p:spPr>
      </p:pic>
      <p:sp>
        <p:nvSpPr>
          <p:cNvPr id="12" name="Freeform 14">
            <a:extLst>
              <a:ext uri="{FF2B5EF4-FFF2-40B4-BE49-F238E27FC236}">
                <a16:creationId xmlns:a16="http://schemas.microsoft.com/office/drawing/2014/main" id="{490E5729-3BD7-B993-ADDA-94B2B5EFDF1B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41F2B4E0-E26D-3489-87B5-BD75C4BE397B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C68195-44D6-7FE2-384D-1038569D2C29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High-Frequency Trading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2DDD2D-157E-B78D-46DE-3853BB8231F5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CA8C10-6B88-66C4-8740-80E3AC667956}"/>
              </a:ext>
            </a:extLst>
          </p:cNvPr>
          <p:cNvSpPr txBox="1"/>
          <p:nvPr/>
        </p:nvSpPr>
        <p:spPr>
          <a:xfrm>
            <a:off x="430738" y="3865867"/>
            <a:ext cx="3591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CHSH Game analogy: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2301BFB-CF41-8167-C44B-C8E8FDAB1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733" y="1662033"/>
            <a:ext cx="736927" cy="7369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0F1AB39-D186-B81D-F05D-76A3068A4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8594" y="1657593"/>
            <a:ext cx="736927" cy="7369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D6BA484-343A-9B19-4FFA-B5C374FD19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483" y="1512226"/>
            <a:ext cx="1389067" cy="290735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9EE33D5-D654-43AB-01F3-1D0BFCB68826}"/>
              </a:ext>
            </a:extLst>
          </p:cNvPr>
          <p:cNvCxnSpPr/>
          <p:nvPr/>
        </p:nvCxnSpPr>
        <p:spPr>
          <a:xfrm>
            <a:off x="6732119" y="4606460"/>
            <a:ext cx="2454492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120CA96-3DBA-A76D-EA08-32729E375BBC}"/>
              </a:ext>
            </a:extLst>
          </p:cNvPr>
          <p:cNvSpPr txBox="1"/>
          <p:nvPr/>
        </p:nvSpPr>
        <p:spPr>
          <a:xfrm>
            <a:off x="7667988" y="4672647"/>
            <a:ext cx="473105" cy="19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3 min*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2025DF7-5079-1ECB-717B-4910FAA5EC7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521300" y="988248"/>
            <a:ext cx="543792" cy="58096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1B6458D-F95B-B6DA-74BB-47518158C6B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748033" y="978756"/>
            <a:ext cx="558048" cy="590457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961E9EFD-8C2E-B216-B0A2-8678A50EDBC5}"/>
              </a:ext>
            </a:extLst>
          </p:cNvPr>
          <p:cNvGrpSpPr/>
          <p:nvPr/>
        </p:nvGrpSpPr>
        <p:grpSpPr>
          <a:xfrm>
            <a:off x="4927799" y="2718793"/>
            <a:ext cx="588127" cy="692055"/>
            <a:chOff x="4927799" y="2718793"/>
            <a:chExt cx="588127" cy="692055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800BC8F-5C6C-B51F-0CC9-7B3FB1ECA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>
            <a:xfrm>
              <a:off x="4927799" y="2718793"/>
              <a:ext cx="588127" cy="442675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ABEF8EB3-153C-A6FC-AF94-1BE2CE479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>
            <a:xfrm>
              <a:off x="4938985" y="2987632"/>
              <a:ext cx="563938" cy="42321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4B9CE5B-46E8-AFA5-455C-684727D49A78}"/>
              </a:ext>
            </a:extLst>
          </p:cNvPr>
          <p:cNvGrpSpPr/>
          <p:nvPr/>
        </p:nvGrpSpPr>
        <p:grpSpPr>
          <a:xfrm>
            <a:off x="10412110" y="2718793"/>
            <a:ext cx="588127" cy="692055"/>
            <a:chOff x="4927799" y="2718793"/>
            <a:chExt cx="588127" cy="692055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B2A0AE22-C11A-8D10-699F-985B3B70B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>
            <a:xfrm>
              <a:off x="4927799" y="2718793"/>
              <a:ext cx="588127" cy="442675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46B3FC98-8A33-5003-A83C-235A1A4D8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>
            <a:xfrm>
              <a:off x="4938985" y="2987632"/>
              <a:ext cx="563938" cy="423216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624D7D0-099C-2382-CED7-861669FE18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5810" y="3231091"/>
            <a:ext cx="656308" cy="656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4DC015-4EB0-47DB-12CB-1626E88367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3586" y="3231091"/>
            <a:ext cx="656308" cy="6563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36BCBD-D420-0BCD-53A7-C456436719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39328" y="2642509"/>
            <a:ext cx="563938" cy="5639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202516-DB10-7098-8CF2-0816E2FC251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77105" y="2642509"/>
            <a:ext cx="563938" cy="56393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77C0EF-E82D-9239-4638-77F777F6350E}"/>
              </a:ext>
            </a:extLst>
          </p:cNvPr>
          <p:cNvGrpSpPr/>
          <p:nvPr/>
        </p:nvGrpSpPr>
        <p:grpSpPr>
          <a:xfrm>
            <a:off x="6902335" y="3429000"/>
            <a:ext cx="2023362" cy="310565"/>
            <a:chOff x="4238756" y="3808505"/>
            <a:chExt cx="3774617" cy="57936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E808B00-7643-99C5-15C7-9C38234A7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6756" y="4077801"/>
              <a:ext cx="2812548" cy="24950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75EB60A-5D66-4614-276F-265600068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238756" y="3819433"/>
              <a:ext cx="568437" cy="56843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834BED4-B83E-B3BA-1EF3-444DD8684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4936" y="3808505"/>
              <a:ext cx="568437" cy="568437"/>
            </a:xfrm>
            <a:prstGeom prst="rect">
              <a:avLst/>
            </a:prstGeom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658540D9-CA62-234C-62C4-6AD4E8988803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6943171" y="3712996"/>
            <a:ext cx="1916993" cy="59492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37DDF18-B26B-1928-3BF6-DB70256D8FC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63446" y="5061908"/>
            <a:ext cx="5309196" cy="170537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52CD515-E221-14D1-D1D2-3C49BCD30233}"/>
              </a:ext>
            </a:extLst>
          </p:cNvPr>
          <p:cNvSpPr txBox="1"/>
          <p:nvPr/>
        </p:nvSpPr>
        <p:spPr>
          <a:xfrm>
            <a:off x="737961" y="4502614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Success Probability ≈ 0.8536</a:t>
            </a:r>
          </a:p>
        </p:txBody>
      </p:sp>
    </p:spTree>
    <p:extLst>
      <p:ext uri="{BB962C8B-B14F-4D97-AF65-F5344CB8AC3E}">
        <p14:creationId xmlns:p14="http://schemas.microsoft.com/office/powerpoint/2010/main" val="3103651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AF43F6-7582-38C0-FB1E-315C14D6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4205F494-8CCF-1B02-C5AD-E52908A16ABE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1D9A37B9-A221-11D7-B8FB-00C9B6609BB8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DB8D56-8A41-6B9D-987C-41A0B8F66DAA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High-Frequency Trading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0194D0-8CCF-D97B-AF95-625F4ECE5F17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EBABE2-23E6-0CB1-3973-8599FE2336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273" y="4158253"/>
            <a:ext cx="1216292" cy="12162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32147-D57B-EE3D-30AE-20E788FBE6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516" y="4169665"/>
            <a:ext cx="1193465" cy="1193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446EE4-FAAE-726C-595A-BA530325D1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60162" y="2027567"/>
            <a:ext cx="1870551" cy="187055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5A2C3D1-4C9F-1FAF-407E-8F6C8374E540}"/>
              </a:ext>
            </a:extLst>
          </p:cNvPr>
          <p:cNvGrpSpPr/>
          <p:nvPr/>
        </p:nvGrpSpPr>
        <p:grpSpPr>
          <a:xfrm>
            <a:off x="5087317" y="4505530"/>
            <a:ext cx="2048396" cy="314399"/>
            <a:chOff x="4238756" y="3808505"/>
            <a:chExt cx="3774617" cy="57936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6DC0E29-AE4C-0D0F-0AB8-986D1B372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6756" y="4077801"/>
              <a:ext cx="2812548" cy="2495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1EEFE4E-F18C-B2D8-6814-A0BF9F10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238756" y="3819433"/>
              <a:ext cx="568437" cy="56843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73E1CDF-8F2C-F5AF-94F2-A9955343F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4936" y="3808505"/>
              <a:ext cx="568437" cy="568437"/>
            </a:xfrm>
            <a:prstGeom prst="rect">
              <a:avLst/>
            </a:prstGeom>
          </p:spPr>
        </p:pic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2194D2E-7BEA-9C95-6AAF-BE35067336B7}"/>
              </a:ext>
            </a:extLst>
          </p:cNvPr>
          <p:cNvCxnSpPr/>
          <p:nvPr/>
        </p:nvCxnSpPr>
        <p:spPr>
          <a:xfrm flipH="1">
            <a:off x="4863921" y="3328367"/>
            <a:ext cx="678287" cy="794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C7FEE96-008B-C860-AEAB-08D13F6B0805}"/>
              </a:ext>
            </a:extLst>
          </p:cNvPr>
          <p:cNvSpPr txBox="1"/>
          <p:nvPr/>
        </p:nvSpPr>
        <p:spPr>
          <a:xfrm>
            <a:off x="3078051" y="55675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chemeClr val="tx1"/>
                </a:solidFill>
                <a:effectLst/>
                <a:latin typeface="Minion" pitchFamily="50" charset="0"/>
              </a:rPr>
              <a:t>56.3 km</a:t>
            </a:r>
            <a:endParaRPr lang="en-US" b="0" dirty="0">
              <a:effectLst/>
              <a:latin typeface="Minion" pitchFamily="50" charset="0"/>
            </a:endParaRPr>
          </a:p>
          <a:p>
            <a:pPr algn="ctr" rtl="0">
              <a:buNone/>
            </a:pP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Minion" pitchFamily="50" charset="0"/>
              </a:rPr>
              <a:t>187.8 </a:t>
            </a:r>
            <a:r>
              <a:rPr lang="en-US" sz="1800" b="0" i="0" u="none" strike="noStrike" dirty="0" err="1">
                <a:solidFill>
                  <a:schemeClr val="tx1"/>
                </a:solidFill>
                <a:effectLst/>
                <a:latin typeface="Minion" pitchFamily="50" charset="0"/>
              </a:rPr>
              <a:t>μs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Minion" pitchFamily="50" charset="0"/>
              </a:rPr>
              <a:t> (Physical Limit)</a:t>
            </a:r>
            <a:endParaRPr lang="en-US" b="0" dirty="0">
              <a:effectLst/>
              <a:latin typeface="Minion" pitchFamily="50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4811D92-6D29-2FDF-9D70-514742F02334}"/>
              </a:ext>
            </a:extLst>
          </p:cNvPr>
          <p:cNvCxnSpPr/>
          <p:nvPr/>
        </p:nvCxnSpPr>
        <p:spPr>
          <a:xfrm>
            <a:off x="4043966" y="5544762"/>
            <a:ext cx="417704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5BAB2B0-1F4A-193A-0D9E-C2EB7CB33EF3}"/>
              </a:ext>
            </a:extLst>
          </p:cNvPr>
          <p:cNvSpPr txBox="1"/>
          <p:nvPr/>
        </p:nvSpPr>
        <p:spPr>
          <a:xfrm>
            <a:off x="7795653" y="923011"/>
            <a:ext cx="41169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i="0" u="none" strike="noStrike" dirty="0">
                <a:solidFill>
                  <a:schemeClr val="tx1"/>
                </a:solidFill>
                <a:effectLst/>
                <a:latin typeface="Proxima Soft SemiBold" panose="02000506030000020004" pitchFamily="2" charset="0"/>
              </a:rPr>
              <a:t>THE MARKET REALITY</a:t>
            </a:r>
            <a:endParaRPr lang="en-US" dirty="0">
              <a:effectLst/>
              <a:latin typeface="Proxima Soft SemiBold" panose="02000506030000020004" pitchFamily="2" charset="0"/>
            </a:endParaRPr>
          </a:p>
          <a:p>
            <a:pPr algn="ctr" rtl="0">
              <a:buNone/>
            </a:pPr>
            <a:r>
              <a:rPr lang="en-US" sz="1800" i="0" u="none" strike="noStrike" dirty="0">
                <a:solidFill>
                  <a:schemeClr val="tx1"/>
                </a:solidFill>
                <a:effectLst/>
                <a:latin typeface="Proxima Soft SemiBold" panose="02000506030000020004" pitchFamily="2" charset="0"/>
              </a:rPr>
              <a:t>200 microseconds sounds impressive, but stock prices change even faster.</a:t>
            </a:r>
            <a:endParaRPr lang="en-US" dirty="0">
              <a:effectLst/>
              <a:latin typeface="Proxima Soft SemiBold" panose="02000506030000020004" pitchFamily="2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8C941E1-00CE-FB4E-2202-CE40FA2807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1139" y="1949321"/>
            <a:ext cx="2530637" cy="124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3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BFD4F-A490-DC91-633F-42AE76E29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89EDB5-D842-BEF8-0E45-CE11D65BB0D0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CHSH Game- Toy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E5813C-2A2A-E7B9-C645-88E3CB7747A9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473257CD-5036-A1E4-5D8F-8D99ADB158AF}"/>
              </a:ext>
            </a:extLst>
          </p:cNvPr>
          <p:cNvSpPr/>
          <p:nvPr/>
        </p:nvSpPr>
        <p:spPr>
          <a:xfrm>
            <a:off x="609600" y="1377115"/>
            <a:ext cx="10972800" cy="4909383"/>
          </a:xfrm>
          <a:prstGeom prst="roundRect">
            <a:avLst>
              <a:gd name="adj" fmla="val 868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3D5E16-DC2D-44FC-0E96-63805614E6B4}"/>
              </a:ext>
            </a:extLst>
          </p:cNvPr>
          <p:cNvSpPr/>
          <p:nvPr/>
        </p:nvSpPr>
        <p:spPr>
          <a:xfrm rot="13500000">
            <a:off x="7119192" y="4165925"/>
            <a:ext cx="1353914" cy="7939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A62CA4-B708-8AAC-8783-9DEFE0024E76}"/>
              </a:ext>
            </a:extLst>
          </p:cNvPr>
          <p:cNvSpPr/>
          <p:nvPr/>
        </p:nvSpPr>
        <p:spPr>
          <a:xfrm rot="18900000">
            <a:off x="3711330" y="4216536"/>
            <a:ext cx="1353914" cy="7939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06C483-8C75-ADE4-2994-5CD5F40C1DC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149" y="2484737"/>
            <a:ext cx="5003615" cy="35014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1F3D0B5-BF0E-18D8-977D-293643373F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372" y="2610975"/>
            <a:ext cx="1503420" cy="15034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1113E7F-B547-C5FC-33CC-4D22D64308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123" y="2643428"/>
            <a:ext cx="1475205" cy="147520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F145D35-8982-B68E-67E7-CE1D37EC4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7626" y="4554857"/>
            <a:ext cx="448566" cy="44856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FB5CF45-5C6E-4FEC-CDE7-0EAA09160A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6503" y="4554857"/>
            <a:ext cx="523301" cy="523301"/>
          </a:xfrm>
          <a:prstGeom prst="rect">
            <a:avLst/>
          </a:prstGeom>
        </p:spPr>
      </p:pic>
      <p:cxnSp>
        <p:nvCxnSpPr>
          <p:cNvPr id="22" name="Straight Connector 2">
            <a:extLst>
              <a:ext uri="{FF2B5EF4-FFF2-40B4-BE49-F238E27FC236}">
                <a16:creationId xmlns:a16="http://schemas.microsoft.com/office/drawing/2014/main" id="{A0F605B2-412F-36FA-A2DF-013C0BB13EC3}"/>
              </a:ext>
            </a:extLst>
          </p:cNvPr>
          <p:cNvCxnSpPr>
            <a:cxnSpLocks/>
          </p:cNvCxnSpPr>
          <p:nvPr/>
        </p:nvCxnSpPr>
        <p:spPr>
          <a:xfrm rot="5400000">
            <a:off x="4845634" y="3195004"/>
            <a:ext cx="2509667" cy="8936"/>
          </a:xfrm>
          <a:prstGeom prst="curvedConnector3">
            <a:avLst>
              <a:gd name="adj1" fmla="val 50000"/>
            </a:avLst>
          </a:prstGeom>
          <a:ln w="38100">
            <a:solidFill>
              <a:schemeClr val="dk1"/>
            </a:solidFill>
            <a:bevel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5A07C34D-6528-1D53-7C19-7DC75EE229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9688" y="3625671"/>
            <a:ext cx="752965" cy="20613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79BF290-45A1-B00C-0C15-536A3C0085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5760" y="3635447"/>
            <a:ext cx="845764" cy="20613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9C12951-F956-A50E-D7E2-14008CD18C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8084" y="3610881"/>
            <a:ext cx="752431" cy="3261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6AC972B-6CA0-EF99-E4CD-4618C27223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2827" y="3610881"/>
            <a:ext cx="793533" cy="32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16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1C958-6662-1869-4C07-127640D6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FA9048-8995-53F1-D0C2-C2A2338C7D7A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CHSH Game- Toy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4A5DE-3CF3-9075-0C4A-E67835459A72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80BCA1-6197-D5AD-E8DC-D25C05296398}"/>
              </a:ext>
            </a:extLst>
          </p:cNvPr>
          <p:cNvGrpSpPr/>
          <p:nvPr/>
        </p:nvGrpSpPr>
        <p:grpSpPr>
          <a:xfrm>
            <a:off x="4675478" y="1427915"/>
            <a:ext cx="7453021" cy="3334585"/>
            <a:chOff x="609600" y="1377115"/>
            <a:chExt cx="10972800" cy="4909383"/>
          </a:xfrm>
        </p:grpSpPr>
        <p:sp>
          <p:nvSpPr>
            <p:cNvPr id="4" name="Rounded Rectangle 1">
              <a:extLst>
                <a:ext uri="{FF2B5EF4-FFF2-40B4-BE49-F238E27FC236}">
                  <a16:creationId xmlns:a16="http://schemas.microsoft.com/office/drawing/2014/main" id="{5F87A74E-FC48-F0ED-7C96-B275ACC6ED40}"/>
                </a:ext>
              </a:extLst>
            </p:cNvPr>
            <p:cNvSpPr/>
            <p:nvPr/>
          </p:nvSpPr>
          <p:spPr>
            <a:xfrm>
              <a:off x="609600" y="1377115"/>
              <a:ext cx="10972800" cy="4909383"/>
            </a:xfrm>
            <a:prstGeom prst="roundRect">
              <a:avLst>
                <a:gd name="adj" fmla="val 8684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4564BCD-D7B8-4D3D-A49D-FDCD2A62F5FF}"/>
                </a:ext>
              </a:extLst>
            </p:cNvPr>
            <p:cNvSpPr/>
            <p:nvPr/>
          </p:nvSpPr>
          <p:spPr>
            <a:xfrm rot="13500000">
              <a:off x="7119192" y="4165925"/>
              <a:ext cx="1353914" cy="793925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F91B15-40B0-3798-A87F-821AB0B9E8CF}"/>
                </a:ext>
              </a:extLst>
            </p:cNvPr>
            <p:cNvSpPr/>
            <p:nvPr/>
          </p:nvSpPr>
          <p:spPr>
            <a:xfrm rot="18900000">
              <a:off x="3711330" y="4216536"/>
              <a:ext cx="1353914" cy="793925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14B39F9-A49E-83E5-D38B-E3DFAE277E23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1149" y="2484737"/>
              <a:ext cx="5003615" cy="3501426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9002B18-DA19-E479-90B9-FA6FA256B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0372" y="2610975"/>
              <a:ext cx="1503420" cy="150342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3B9E39E-D253-15DE-ECE4-E00921415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9123" y="2643428"/>
              <a:ext cx="1475205" cy="1475205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7FDCCD70-D571-3F7B-6EC2-B7E65577D7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97626" y="4554857"/>
              <a:ext cx="448566" cy="448566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FEC40927-A9E8-81C7-8DC5-CF2F3756EB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26503" y="4554857"/>
              <a:ext cx="523301" cy="523301"/>
            </a:xfrm>
            <a:prstGeom prst="rect">
              <a:avLst/>
            </a:prstGeom>
          </p:spPr>
        </p:pic>
        <p:cxnSp>
          <p:nvCxnSpPr>
            <p:cNvPr id="22" name="Straight Connector 2">
              <a:extLst>
                <a:ext uri="{FF2B5EF4-FFF2-40B4-BE49-F238E27FC236}">
                  <a16:creationId xmlns:a16="http://schemas.microsoft.com/office/drawing/2014/main" id="{5BE1CB50-DC17-E1BF-196A-2F8988F59D8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45634" y="3195004"/>
              <a:ext cx="2509667" cy="8936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dk1"/>
              </a:solidFill>
              <a:bevel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AFC0A74-7880-C26A-8181-38428252E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29688" y="3625671"/>
              <a:ext cx="752965" cy="206135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C1D87CC-4F21-42C1-6CFA-F2667E02A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65760" y="3635447"/>
              <a:ext cx="845764" cy="206136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6510FA6-2DAA-58AC-7AEA-12C2FB73B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88084" y="3610881"/>
              <a:ext cx="752431" cy="326119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2C17337-AE13-D238-912A-D26235870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12827" y="3610881"/>
              <a:ext cx="793533" cy="325391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097190B-3C61-E1A3-4CB3-59D63F3B9D7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4448" y="4341241"/>
            <a:ext cx="4960070" cy="19960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05A5CF-4DD2-6136-A09D-5E4C3F24C3B8}"/>
              </a:ext>
            </a:extLst>
          </p:cNvPr>
          <p:cNvSpPr txBox="1"/>
          <p:nvPr/>
        </p:nvSpPr>
        <p:spPr>
          <a:xfrm>
            <a:off x="301924" y="3840158"/>
            <a:ext cx="182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:: Utility Matrix ::</a:t>
            </a:r>
            <a:endParaRPr lang="en-US" dirty="0">
              <a:solidFill>
                <a:srgbClr val="FF0000"/>
              </a:solidFill>
              <a:latin typeface="Minion" pitchFamily="50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69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91B11-A9DC-CFF8-6B9D-491661510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DD1BC-4027-7F0A-1DF8-56CD868DBE9F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CHSH Game- Toy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0F32E7-848E-54F2-6B51-072B4505AEC0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7A394-406D-6A93-AC4D-849B8F7CD85E}"/>
              </a:ext>
            </a:extLst>
          </p:cNvPr>
          <p:cNvSpPr txBox="1"/>
          <p:nvPr/>
        </p:nvSpPr>
        <p:spPr>
          <a:xfrm>
            <a:off x="301924" y="1300158"/>
            <a:ext cx="182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:: Utility Matrix ::</a:t>
            </a:r>
            <a:endParaRPr lang="en-US" dirty="0">
              <a:solidFill>
                <a:srgbClr val="FF0000"/>
              </a:solidFill>
              <a:latin typeface="Minion" pitchFamily="50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C96E6E-D387-34F0-52BD-FE22B959C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48" y="1877441"/>
            <a:ext cx="4960070" cy="19960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ABC70F1-AF6A-DEB4-5611-E59C9087B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484" y="1877440"/>
            <a:ext cx="4585089" cy="1996059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288A634-6053-5FB2-F3DE-0A9BE36B1040}"/>
              </a:ext>
            </a:extLst>
          </p:cNvPr>
          <p:cNvCxnSpPr/>
          <p:nvPr/>
        </p:nvCxnSpPr>
        <p:spPr>
          <a:xfrm>
            <a:off x="5461000" y="2875469"/>
            <a:ext cx="1295400" cy="0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E2E6CDB-910A-0094-A30F-290C819F4F5B}"/>
              </a:ext>
            </a:extLst>
          </p:cNvPr>
          <p:cNvCxnSpPr>
            <a:cxnSpLocks/>
          </p:cNvCxnSpPr>
          <p:nvPr/>
        </p:nvCxnSpPr>
        <p:spPr>
          <a:xfrm>
            <a:off x="9385300" y="3948619"/>
            <a:ext cx="0" cy="686881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B637AA4B-0BBA-272C-583A-E01420B42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534" y="4710620"/>
            <a:ext cx="4585089" cy="196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25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B7E3F-D934-84CC-4205-ED3F95A2C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98A4C35E-C9C3-4292-D77C-CD8DAF54D2BB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AD058A25-0F05-70DA-FA23-F7EB58E5F143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1EC23-90D5-9E0C-BDAD-1A7331D94292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High-Frequency Trading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D59AC0-7330-A29E-9F07-FC36DB322611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7FD620-1DD9-A89E-A70F-CAC88F9F9041}"/>
              </a:ext>
            </a:extLst>
          </p:cNvPr>
          <p:cNvSpPr txBox="1"/>
          <p:nvPr/>
        </p:nvSpPr>
        <p:spPr>
          <a:xfrm>
            <a:off x="469900" y="3244334"/>
            <a:ext cx="426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</a:t>
            </a:r>
            <a:r>
              <a:rPr lang="en-US" b="1" i="1" dirty="0"/>
              <a:t>p</a:t>
            </a:r>
            <a:r>
              <a:rPr lang="en-US" dirty="0"/>
              <a:t> : the indicator </a:t>
            </a:r>
            <a:r>
              <a:rPr lang="en-US" b="1" i="1" dirty="0"/>
              <a:t>I</a:t>
            </a:r>
            <a:r>
              <a:rPr lang="en-US" dirty="0"/>
              <a:t> is observed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89510B-43A3-7EC8-F1E7-520F0D23B7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51339" y="1447704"/>
            <a:ext cx="5289822" cy="37085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13712C8-085F-D7C6-0F4E-E6B70B7BF449}"/>
              </a:ext>
            </a:extLst>
          </p:cNvPr>
          <p:cNvSpPr txBox="1"/>
          <p:nvPr/>
        </p:nvSpPr>
        <p:spPr>
          <a:xfrm>
            <a:off x="6261100" y="5086350"/>
            <a:ext cx="24625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Credit: http://arxiv.org/abs/2407.21723</a:t>
            </a:r>
          </a:p>
        </p:txBody>
      </p:sp>
    </p:spTree>
    <p:extLst>
      <p:ext uri="{BB962C8B-B14F-4D97-AF65-F5344CB8AC3E}">
        <p14:creationId xmlns:p14="http://schemas.microsoft.com/office/powerpoint/2010/main" val="1762748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7D910-0317-4882-575F-1E3F125B5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C4FDBE2-32F7-4AC4-A40C-C51C65B1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1ECAD-FB28-1344-2D63-3A2B1DDEB747}"/>
              </a:ext>
            </a:extLst>
          </p:cNvPr>
          <p:cNvSpPr txBox="1"/>
          <p:nvPr/>
        </p:nvSpPr>
        <p:spPr>
          <a:xfrm>
            <a:off x="4763933" y="3827844"/>
            <a:ext cx="6766405" cy="11681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FFFFF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Experimental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3F3006-9AA8-1292-7C67-AB65DE58EDBF}"/>
              </a:ext>
            </a:extLst>
          </p:cNvPr>
          <p:cNvSpPr txBox="1"/>
          <p:nvPr/>
        </p:nvSpPr>
        <p:spPr>
          <a:xfrm>
            <a:off x="4763933" y="5088106"/>
            <a:ext cx="7116481" cy="11681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CHSH Game -&gt; Bell Test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Using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NV Center in Diamond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BF4792E-DF83-4D24-9924-01EC30A3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8512"/>
            <a:ext cx="3952259" cy="5932172"/>
          </a:xfrm>
          <a:custGeom>
            <a:avLst/>
            <a:gdLst>
              <a:gd name="connsiteX0" fmla="*/ 986173 w 3952259"/>
              <a:gd name="connsiteY0" fmla="*/ 0 h 5932172"/>
              <a:gd name="connsiteX1" fmla="*/ 3952259 w 3952259"/>
              <a:gd name="connsiteY1" fmla="*/ 2966086 h 5932172"/>
              <a:gd name="connsiteX2" fmla="*/ 986173 w 3952259"/>
              <a:gd name="connsiteY2" fmla="*/ 5932172 h 5932172"/>
              <a:gd name="connsiteX3" fmla="*/ 104150 w 3952259"/>
              <a:gd name="connsiteY3" fmla="*/ 5798823 h 5932172"/>
              <a:gd name="connsiteX4" fmla="*/ 0 w 3952259"/>
              <a:gd name="connsiteY4" fmla="*/ 5760704 h 5932172"/>
              <a:gd name="connsiteX5" fmla="*/ 0 w 3952259"/>
              <a:gd name="connsiteY5" fmla="*/ 171469 h 5932172"/>
              <a:gd name="connsiteX6" fmla="*/ 104150 w 3952259"/>
              <a:gd name="connsiteY6" fmla="*/ 133350 h 5932172"/>
              <a:gd name="connsiteX7" fmla="*/ 986173 w 3952259"/>
              <a:gd name="connsiteY7" fmla="*/ 0 h 5932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2259" h="5932172">
                <a:moveTo>
                  <a:pt x="986173" y="0"/>
                </a:moveTo>
                <a:cubicBezTo>
                  <a:pt x="2624297" y="0"/>
                  <a:pt x="3952259" y="1327962"/>
                  <a:pt x="3952259" y="2966086"/>
                </a:cubicBezTo>
                <a:cubicBezTo>
                  <a:pt x="3952259" y="4604210"/>
                  <a:pt x="2624297" y="5932172"/>
                  <a:pt x="986173" y="5932172"/>
                </a:cubicBezTo>
                <a:cubicBezTo>
                  <a:pt x="679025" y="5932172"/>
                  <a:pt x="382781" y="5885486"/>
                  <a:pt x="104150" y="5798823"/>
                </a:cubicBezTo>
                <a:lnTo>
                  <a:pt x="0" y="5760704"/>
                </a:lnTo>
                <a:lnTo>
                  <a:pt x="0" y="171469"/>
                </a:lnTo>
                <a:lnTo>
                  <a:pt x="104150" y="133350"/>
                </a:lnTo>
                <a:cubicBezTo>
                  <a:pt x="382781" y="46686"/>
                  <a:pt x="679025" y="0"/>
                  <a:pt x="9861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5837328-A57C-47AA-B520-C83F4A6BD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8125" y="0"/>
            <a:ext cx="4475748" cy="3256337"/>
          </a:xfrm>
          <a:custGeom>
            <a:avLst/>
            <a:gdLst>
              <a:gd name="connsiteX0" fmla="*/ 246861 w 4475748"/>
              <a:gd name="connsiteY0" fmla="*/ 0 h 3256337"/>
              <a:gd name="connsiteX1" fmla="*/ 4228888 w 4475748"/>
              <a:gd name="connsiteY1" fmla="*/ 0 h 3256337"/>
              <a:gd name="connsiteX2" fmla="*/ 4299885 w 4475748"/>
              <a:gd name="connsiteY2" fmla="*/ 147382 h 3256337"/>
              <a:gd name="connsiteX3" fmla="*/ 4475748 w 4475748"/>
              <a:gd name="connsiteY3" fmla="*/ 1018463 h 3256337"/>
              <a:gd name="connsiteX4" fmla="*/ 2237874 w 4475748"/>
              <a:gd name="connsiteY4" fmla="*/ 3256337 h 3256337"/>
              <a:gd name="connsiteX5" fmla="*/ 0 w 4475748"/>
              <a:gd name="connsiteY5" fmla="*/ 1018463 h 3256337"/>
              <a:gd name="connsiteX6" fmla="*/ 175863 w 4475748"/>
              <a:gd name="connsiteY6" fmla="*/ 147382 h 3256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5748" h="3256337">
                <a:moveTo>
                  <a:pt x="246861" y="0"/>
                </a:moveTo>
                <a:lnTo>
                  <a:pt x="4228888" y="0"/>
                </a:lnTo>
                <a:lnTo>
                  <a:pt x="4299885" y="147382"/>
                </a:lnTo>
                <a:cubicBezTo>
                  <a:pt x="4413128" y="415117"/>
                  <a:pt x="4475748" y="709477"/>
                  <a:pt x="4475748" y="1018463"/>
                </a:cubicBezTo>
                <a:cubicBezTo>
                  <a:pt x="4475748" y="2254407"/>
                  <a:pt x="3473818" y="3256337"/>
                  <a:pt x="2237874" y="3256337"/>
                </a:cubicBezTo>
                <a:cubicBezTo>
                  <a:pt x="1001930" y="3256337"/>
                  <a:pt x="0" y="2254407"/>
                  <a:pt x="0" y="1018463"/>
                </a:cubicBezTo>
                <a:cubicBezTo>
                  <a:pt x="0" y="709477"/>
                  <a:pt x="62621" y="415117"/>
                  <a:pt x="175863" y="14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580241">
            <a:off x="-1784401" y="613620"/>
            <a:ext cx="6199926" cy="6199926"/>
          </a:xfrm>
          <a:prstGeom prst="arc">
            <a:avLst>
              <a:gd name="adj1" fmla="val 14455503"/>
              <a:gd name="adj2" fmla="val 18389131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71DED-0175-E05A-056E-562054203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65" y="2387600"/>
            <a:ext cx="3554944" cy="2204065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43CF6D-7DC7-D2B1-6BBD-39CC50026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872" y="54521"/>
            <a:ext cx="1938255" cy="2567225"/>
          </a:xfrm>
          <a:custGeom>
            <a:avLst/>
            <a:gdLst/>
            <a:ahLst/>
            <a:cxnLst/>
            <a:rect l="l" t="t" r="r" b="b"/>
            <a:pathLst>
              <a:path w="2487175" h="2487175">
                <a:moveTo>
                  <a:pt x="67328" y="0"/>
                </a:moveTo>
                <a:lnTo>
                  <a:pt x="2419847" y="0"/>
                </a:lnTo>
                <a:cubicBezTo>
                  <a:pt x="2457031" y="0"/>
                  <a:pt x="2487175" y="30144"/>
                  <a:pt x="2487175" y="67328"/>
                </a:cubicBezTo>
                <a:lnTo>
                  <a:pt x="2487175" y="2419847"/>
                </a:lnTo>
                <a:cubicBezTo>
                  <a:pt x="2487175" y="2457031"/>
                  <a:pt x="2457031" y="2487175"/>
                  <a:pt x="2419847" y="2487175"/>
                </a:cubicBezTo>
                <a:lnTo>
                  <a:pt x="67328" y="2487175"/>
                </a:lnTo>
                <a:cubicBezTo>
                  <a:pt x="30144" y="2487175"/>
                  <a:pt x="0" y="2457031"/>
                  <a:pt x="0" y="2419847"/>
                </a:cubicBezTo>
                <a:lnTo>
                  <a:pt x="0" y="67328"/>
                </a:lnTo>
                <a:cubicBezTo>
                  <a:pt x="0" y="30144"/>
                  <a:pt x="30144" y="0"/>
                  <a:pt x="67328" y="0"/>
                </a:cubicBezTo>
                <a:close/>
              </a:path>
            </a:pathLst>
          </a:cu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A03A6A2-7849-4179-B68F-C11DDDB23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1078" y="0"/>
            <a:ext cx="3440922" cy="3674631"/>
          </a:xfrm>
          <a:custGeom>
            <a:avLst/>
            <a:gdLst>
              <a:gd name="connsiteX0" fmla="*/ 523074 w 3440922"/>
              <a:gd name="connsiteY0" fmla="*/ 0 h 3674631"/>
              <a:gd name="connsiteX1" fmla="*/ 3440922 w 3440922"/>
              <a:gd name="connsiteY1" fmla="*/ 0 h 3674631"/>
              <a:gd name="connsiteX2" fmla="*/ 3440922 w 3440922"/>
              <a:gd name="connsiteY2" fmla="*/ 3321701 h 3674631"/>
              <a:gd name="connsiteX3" fmla="*/ 3304578 w 3440922"/>
              <a:gd name="connsiteY3" fmla="*/ 3404532 h 3674631"/>
              <a:gd name="connsiteX4" fmla="*/ 2237874 w 3440922"/>
              <a:gd name="connsiteY4" fmla="*/ 3674631 h 3674631"/>
              <a:gd name="connsiteX5" fmla="*/ 0 w 3440922"/>
              <a:gd name="connsiteY5" fmla="*/ 1436757 h 3674631"/>
              <a:gd name="connsiteX6" fmla="*/ 511022 w 3440922"/>
              <a:gd name="connsiteY6" fmla="*/ 13261 h 367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40922" h="3674631">
                <a:moveTo>
                  <a:pt x="523074" y="0"/>
                </a:moveTo>
                <a:lnTo>
                  <a:pt x="3440922" y="0"/>
                </a:lnTo>
                <a:lnTo>
                  <a:pt x="3440922" y="3321701"/>
                </a:lnTo>
                <a:lnTo>
                  <a:pt x="3304578" y="3404532"/>
                </a:lnTo>
                <a:cubicBezTo>
                  <a:pt x="2987486" y="3576786"/>
                  <a:pt x="2624107" y="3674631"/>
                  <a:pt x="2237874" y="3674631"/>
                </a:cubicBezTo>
                <a:cubicBezTo>
                  <a:pt x="1001930" y="3674631"/>
                  <a:pt x="0" y="2672701"/>
                  <a:pt x="0" y="1436757"/>
                </a:cubicBezTo>
                <a:cubicBezTo>
                  <a:pt x="0" y="896032"/>
                  <a:pt x="191776" y="400098"/>
                  <a:pt x="511022" y="132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8CD102-B69E-2C69-EA69-447B015D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0931" y="407063"/>
            <a:ext cx="2200696" cy="261987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</p:spPr>
      </p:pic>
      <p:sp>
        <p:nvSpPr>
          <p:cNvPr id="12" name="Freeform 14">
            <a:extLst>
              <a:ext uri="{FF2B5EF4-FFF2-40B4-BE49-F238E27FC236}">
                <a16:creationId xmlns:a16="http://schemas.microsoft.com/office/drawing/2014/main" id="{E210F6E0-260D-E10E-E88A-B2E464CFDC7F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89038AE4-ADF1-74F3-757F-C5EC15C03E62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656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C5239-87FF-0D43-E3A7-6E583000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60EF07-8543-37F9-8768-90F32AD3363D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" panose="020005060500000200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Bell Test: Variation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11239C-2291-65CF-81DA-AFFF1C7E4FFC}"/>
              </a:ext>
            </a:extLst>
          </p:cNvPr>
          <p:cNvSpPr txBox="1"/>
          <p:nvPr/>
        </p:nvSpPr>
        <p:spPr>
          <a:xfrm>
            <a:off x="3749670" y="1191279"/>
            <a:ext cx="3644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Proxima Soft SemiBold"/>
              </a:rPr>
              <a:t>Loophole-Free Bell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F6275E-12D0-0E67-BBCD-A01DC98DB3C5}"/>
              </a:ext>
            </a:extLst>
          </p:cNvPr>
          <p:cNvSpPr txBox="1"/>
          <p:nvPr/>
        </p:nvSpPr>
        <p:spPr>
          <a:xfrm>
            <a:off x="1396503" y="3090889"/>
            <a:ext cx="20801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roxima Soft SemiBold"/>
              </a:rPr>
              <a:t>Defect Qubit</a:t>
            </a:r>
          </a:p>
          <a:p>
            <a:pPr algn="ctr"/>
            <a:r>
              <a:rPr lang="en-US" sz="2800" dirty="0">
                <a:latin typeface="Proxima Soft SemiBold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Proxima Soft SemiBold" panose="02000506030000020004"/>
              </a:rPr>
              <a:t>X</a:t>
            </a:r>
            <a:r>
              <a:rPr lang="en-US" sz="2800" dirty="0">
                <a:latin typeface="Proxima Soft SemiBold" panose="02000506030000020004"/>
              </a:rPr>
              <a:t>V Center)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07A9FB-10EE-41BF-DD6B-A4D43E4A7485}"/>
              </a:ext>
            </a:extLst>
          </p:cNvPr>
          <p:cNvSpPr txBox="1"/>
          <p:nvPr/>
        </p:nvSpPr>
        <p:spPr>
          <a:xfrm>
            <a:off x="4759831" y="3167390"/>
            <a:ext cx="1477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Proxima Soft SemiBold"/>
              </a:rPr>
              <a:t>Photonic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A8745D-5B3C-852F-E7D0-C2A80DDAD5C5}"/>
              </a:ext>
            </a:extLst>
          </p:cNvPr>
          <p:cNvSpPr txBox="1"/>
          <p:nvPr/>
        </p:nvSpPr>
        <p:spPr>
          <a:xfrm>
            <a:off x="7536422" y="3121125"/>
            <a:ext cx="26434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roxima Soft SemiBold"/>
              </a:rPr>
              <a:t>Superconducting</a:t>
            </a:r>
          </a:p>
          <a:p>
            <a:pPr algn="ctr"/>
            <a:r>
              <a:rPr lang="en-US" sz="2800" dirty="0">
                <a:latin typeface="Proxima Soft SemiBold"/>
              </a:rPr>
              <a:t>Qubit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2A50143-5F18-F865-497A-681BC7602787}"/>
              </a:ext>
            </a:extLst>
          </p:cNvPr>
          <p:cNvCxnSpPr>
            <a:cxnSpLocks/>
          </p:cNvCxnSpPr>
          <p:nvPr/>
        </p:nvCxnSpPr>
        <p:spPr>
          <a:xfrm>
            <a:off x="5504270" y="1733550"/>
            <a:ext cx="0" cy="465694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9EE14AD-7869-65E9-3260-3BA54FF4CF1F}"/>
              </a:ext>
            </a:extLst>
          </p:cNvPr>
          <p:cNvCxnSpPr>
            <a:cxnSpLocks/>
          </p:cNvCxnSpPr>
          <p:nvPr/>
        </p:nvCxnSpPr>
        <p:spPr>
          <a:xfrm>
            <a:off x="2452444" y="2319072"/>
            <a:ext cx="6398428" cy="17869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FE152A-F4D7-FA63-75EF-A2EAB19E0386}"/>
              </a:ext>
            </a:extLst>
          </p:cNvPr>
          <p:cNvCxnSpPr/>
          <p:nvPr/>
        </p:nvCxnSpPr>
        <p:spPr>
          <a:xfrm>
            <a:off x="2452444" y="2319072"/>
            <a:ext cx="0" cy="748923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F08405-3F09-AF74-D20A-B39CFD8ED57E}"/>
              </a:ext>
            </a:extLst>
          </p:cNvPr>
          <p:cNvCxnSpPr/>
          <p:nvPr/>
        </p:nvCxnSpPr>
        <p:spPr>
          <a:xfrm>
            <a:off x="8850872" y="2319072"/>
            <a:ext cx="0" cy="748923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D5D380-DCF4-2210-DAAD-C9D96B0457CB}"/>
              </a:ext>
            </a:extLst>
          </p:cNvPr>
          <p:cNvCxnSpPr/>
          <p:nvPr/>
        </p:nvCxnSpPr>
        <p:spPr>
          <a:xfrm>
            <a:off x="5504270" y="2333060"/>
            <a:ext cx="0" cy="748923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032188B-11A8-9B17-D1DE-E918E577B0D2}"/>
              </a:ext>
            </a:extLst>
          </p:cNvPr>
          <p:cNvCxnSpPr>
            <a:cxnSpLocks/>
          </p:cNvCxnSpPr>
          <p:nvPr/>
        </p:nvCxnSpPr>
        <p:spPr>
          <a:xfrm>
            <a:off x="5504270" y="3800475"/>
            <a:ext cx="0" cy="392302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3FC0E6-9F26-91DC-CBAE-11920064D5BF}"/>
              </a:ext>
            </a:extLst>
          </p:cNvPr>
          <p:cNvCxnSpPr>
            <a:cxnSpLocks/>
          </p:cNvCxnSpPr>
          <p:nvPr/>
        </p:nvCxnSpPr>
        <p:spPr>
          <a:xfrm>
            <a:off x="4086304" y="4259867"/>
            <a:ext cx="2865886" cy="9272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08C69E3-A530-2B24-1091-6D61DC4FB475}"/>
              </a:ext>
            </a:extLst>
          </p:cNvPr>
          <p:cNvCxnSpPr/>
          <p:nvPr/>
        </p:nvCxnSpPr>
        <p:spPr>
          <a:xfrm>
            <a:off x="4086304" y="4259867"/>
            <a:ext cx="0" cy="748923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B1A7EA-1D87-0156-0D76-AEB3CCDEFF9A}"/>
              </a:ext>
            </a:extLst>
          </p:cNvPr>
          <p:cNvCxnSpPr/>
          <p:nvPr/>
        </p:nvCxnSpPr>
        <p:spPr>
          <a:xfrm>
            <a:off x="6952191" y="4259867"/>
            <a:ext cx="0" cy="748923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267A654-F970-02E4-B6E7-82E2E005F9A9}"/>
              </a:ext>
            </a:extLst>
          </p:cNvPr>
          <p:cNvSpPr txBox="1"/>
          <p:nvPr/>
        </p:nvSpPr>
        <p:spPr>
          <a:xfrm>
            <a:off x="3138191" y="5035687"/>
            <a:ext cx="18962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Proxima Soft SemiBold"/>
              </a:rPr>
              <a:t>Polarization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A79B63-295F-541E-7870-77F83BBD4373}"/>
              </a:ext>
            </a:extLst>
          </p:cNvPr>
          <p:cNvSpPr txBox="1"/>
          <p:nvPr/>
        </p:nvSpPr>
        <p:spPr>
          <a:xfrm>
            <a:off x="6213847" y="5035687"/>
            <a:ext cx="14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roxima Soft SemiBold"/>
              </a:rPr>
              <a:t>Time-bin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D2D0053-3E22-667C-6C94-59B40929AEE4}"/>
              </a:ext>
            </a:extLst>
          </p:cNvPr>
          <p:cNvSpPr/>
          <p:nvPr/>
        </p:nvSpPr>
        <p:spPr>
          <a:xfrm>
            <a:off x="1461899" y="3081983"/>
            <a:ext cx="1967100" cy="99324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9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A485B-8FEF-C4BB-7BAD-7ADD11A94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53DDD2-CED4-6532-0306-8AF118EED302}"/>
              </a:ext>
            </a:extLst>
          </p:cNvPr>
          <p:cNvSpPr txBox="1"/>
          <p:nvPr/>
        </p:nvSpPr>
        <p:spPr>
          <a:xfrm>
            <a:off x="279400" y="20320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Loophole-Free Bell Test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(Using NV Center in Diamond)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5BEED6-AA87-3583-A871-C28DE57E0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057" y="1626124"/>
            <a:ext cx="8599885" cy="44917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A12A29-3D6B-203A-E8E3-985405A89828}"/>
              </a:ext>
            </a:extLst>
          </p:cNvPr>
          <p:cNvSpPr txBox="1"/>
          <p:nvPr/>
        </p:nvSpPr>
        <p:spPr>
          <a:xfrm>
            <a:off x="4045470" y="6285468"/>
            <a:ext cx="410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Credit: http://arxiv.org/abs/1212.6136</a:t>
            </a:r>
          </a:p>
        </p:txBody>
      </p:sp>
    </p:spTree>
    <p:extLst>
      <p:ext uri="{BB962C8B-B14F-4D97-AF65-F5344CB8AC3E}">
        <p14:creationId xmlns:p14="http://schemas.microsoft.com/office/powerpoint/2010/main" val="2762606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01648-8D6B-1F47-BD1C-0288DAFCC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885EFD-A886-9573-17D6-AF6DDF54669B}"/>
              </a:ext>
            </a:extLst>
          </p:cNvPr>
          <p:cNvSpPr txBox="1"/>
          <p:nvPr/>
        </p:nvSpPr>
        <p:spPr>
          <a:xfrm>
            <a:off x="279400" y="20320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Loophole-Free Bell Test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(Using NV Center in Diamond)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2F4CD-934F-2A64-1BCC-F6A5A87EFE83}"/>
              </a:ext>
            </a:extLst>
          </p:cNvPr>
          <p:cNvSpPr txBox="1"/>
          <p:nvPr/>
        </p:nvSpPr>
        <p:spPr>
          <a:xfrm>
            <a:off x="279400" y="2066925"/>
            <a:ext cx="1617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Outline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F20C5-EAC9-334D-6FDC-7C87733FA943}"/>
              </a:ext>
            </a:extLst>
          </p:cNvPr>
          <p:cNvSpPr txBox="1"/>
          <p:nvPr/>
        </p:nvSpPr>
        <p:spPr>
          <a:xfrm>
            <a:off x="488950" y="3076575"/>
            <a:ext cx="431227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How NV Center in Diamond is Created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What version of NV is desired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How to achieve that version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What hardware would be necessary?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16EFE0D-4639-FF40-C6F5-F01208FF8DA9}"/>
              </a:ext>
            </a:extLst>
          </p:cNvPr>
          <p:cNvGrpSpPr/>
          <p:nvPr/>
        </p:nvGrpSpPr>
        <p:grpSpPr>
          <a:xfrm>
            <a:off x="5199232" y="2406650"/>
            <a:ext cx="6787980" cy="3213100"/>
            <a:chOff x="1471612" y="1663700"/>
            <a:chExt cx="10544175" cy="49911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AAE9B51-1097-D480-248D-2EC733DA1489}"/>
                </a:ext>
              </a:extLst>
            </p:cNvPr>
            <p:cNvSpPr/>
            <p:nvPr/>
          </p:nvSpPr>
          <p:spPr>
            <a:xfrm>
              <a:off x="1471612" y="1663700"/>
              <a:ext cx="2943225" cy="4991100"/>
            </a:xfrm>
            <a:custGeom>
              <a:avLst/>
              <a:gdLst>
                <a:gd name="csX0" fmla="*/ 0 w 1894748"/>
                <a:gd name="csY0" fmla="*/ 315798 h 3213100"/>
                <a:gd name="csX1" fmla="*/ 315798 w 1894748"/>
                <a:gd name="csY1" fmla="*/ 0 h 3213100"/>
                <a:gd name="csX2" fmla="*/ 762112 w 1894748"/>
                <a:gd name="csY2" fmla="*/ 0 h 3213100"/>
                <a:gd name="csX3" fmla="*/ 1208425 w 1894748"/>
                <a:gd name="csY3" fmla="*/ 0 h 3213100"/>
                <a:gd name="csX4" fmla="*/ 1578950 w 1894748"/>
                <a:gd name="csY4" fmla="*/ 0 h 3213100"/>
                <a:gd name="csX5" fmla="*/ 1894748 w 1894748"/>
                <a:gd name="csY5" fmla="*/ 315798 h 3213100"/>
                <a:gd name="csX6" fmla="*/ 1894748 w 1894748"/>
                <a:gd name="csY6" fmla="*/ 857914 h 3213100"/>
                <a:gd name="csX7" fmla="*/ 1894748 w 1894748"/>
                <a:gd name="csY7" fmla="*/ 1296770 h 3213100"/>
                <a:gd name="csX8" fmla="*/ 1894748 w 1894748"/>
                <a:gd name="csY8" fmla="*/ 1787255 h 3213100"/>
                <a:gd name="csX9" fmla="*/ 1894748 w 1894748"/>
                <a:gd name="csY9" fmla="*/ 2303556 h 3213100"/>
                <a:gd name="csX10" fmla="*/ 1894748 w 1894748"/>
                <a:gd name="csY10" fmla="*/ 2897302 h 3213100"/>
                <a:gd name="csX11" fmla="*/ 1578950 w 1894748"/>
                <a:gd name="csY11" fmla="*/ 3213100 h 3213100"/>
                <a:gd name="csX12" fmla="*/ 1145268 w 1894748"/>
                <a:gd name="csY12" fmla="*/ 3213100 h 3213100"/>
                <a:gd name="csX13" fmla="*/ 698954 w 1894748"/>
                <a:gd name="csY13" fmla="*/ 3213100 h 3213100"/>
                <a:gd name="csX14" fmla="*/ 315798 w 1894748"/>
                <a:gd name="csY14" fmla="*/ 3213100 h 3213100"/>
                <a:gd name="csX15" fmla="*/ 0 w 1894748"/>
                <a:gd name="csY15" fmla="*/ 2897302 h 3213100"/>
                <a:gd name="csX16" fmla="*/ 0 w 1894748"/>
                <a:gd name="csY16" fmla="*/ 2406816 h 3213100"/>
                <a:gd name="csX17" fmla="*/ 0 w 1894748"/>
                <a:gd name="csY17" fmla="*/ 1942146 h 3213100"/>
                <a:gd name="csX18" fmla="*/ 0 w 1894748"/>
                <a:gd name="csY18" fmla="*/ 1374215 h 3213100"/>
                <a:gd name="csX19" fmla="*/ 0 w 1894748"/>
                <a:gd name="csY19" fmla="*/ 935359 h 3213100"/>
                <a:gd name="csX20" fmla="*/ 0 w 1894748"/>
                <a:gd name="csY20" fmla="*/ 315798 h 3213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94748" h="3213100" extrusionOk="0">
                  <a:moveTo>
                    <a:pt x="0" y="315798"/>
                  </a:moveTo>
                  <a:cubicBezTo>
                    <a:pt x="2905" y="116002"/>
                    <a:pt x="93262" y="-19456"/>
                    <a:pt x="315798" y="0"/>
                  </a:cubicBezTo>
                  <a:cubicBezTo>
                    <a:pt x="425501" y="-8807"/>
                    <a:pt x="626210" y="18076"/>
                    <a:pt x="762112" y="0"/>
                  </a:cubicBezTo>
                  <a:cubicBezTo>
                    <a:pt x="898014" y="-18076"/>
                    <a:pt x="1019680" y="7542"/>
                    <a:pt x="1208425" y="0"/>
                  </a:cubicBezTo>
                  <a:cubicBezTo>
                    <a:pt x="1397170" y="-7542"/>
                    <a:pt x="1466302" y="1207"/>
                    <a:pt x="1578950" y="0"/>
                  </a:cubicBezTo>
                  <a:cubicBezTo>
                    <a:pt x="1745829" y="39182"/>
                    <a:pt x="1881906" y="117854"/>
                    <a:pt x="1894748" y="315798"/>
                  </a:cubicBezTo>
                  <a:cubicBezTo>
                    <a:pt x="1930135" y="511867"/>
                    <a:pt x="1837369" y="589578"/>
                    <a:pt x="1894748" y="857914"/>
                  </a:cubicBezTo>
                  <a:cubicBezTo>
                    <a:pt x="1952127" y="1126250"/>
                    <a:pt x="1888644" y="1136008"/>
                    <a:pt x="1894748" y="1296770"/>
                  </a:cubicBezTo>
                  <a:cubicBezTo>
                    <a:pt x="1900852" y="1457532"/>
                    <a:pt x="1888539" y="1577824"/>
                    <a:pt x="1894748" y="1787255"/>
                  </a:cubicBezTo>
                  <a:cubicBezTo>
                    <a:pt x="1900957" y="1996686"/>
                    <a:pt x="1850110" y="2051144"/>
                    <a:pt x="1894748" y="2303556"/>
                  </a:cubicBezTo>
                  <a:cubicBezTo>
                    <a:pt x="1939386" y="2555968"/>
                    <a:pt x="1877733" y="2602766"/>
                    <a:pt x="1894748" y="2897302"/>
                  </a:cubicBezTo>
                  <a:cubicBezTo>
                    <a:pt x="1852544" y="3072405"/>
                    <a:pt x="1703600" y="3209161"/>
                    <a:pt x="1578950" y="3213100"/>
                  </a:cubicBezTo>
                  <a:cubicBezTo>
                    <a:pt x="1444352" y="3256839"/>
                    <a:pt x="1278212" y="3189087"/>
                    <a:pt x="1145268" y="3213100"/>
                  </a:cubicBezTo>
                  <a:cubicBezTo>
                    <a:pt x="1012324" y="3237113"/>
                    <a:pt x="870949" y="3170082"/>
                    <a:pt x="698954" y="3213100"/>
                  </a:cubicBezTo>
                  <a:cubicBezTo>
                    <a:pt x="526959" y="3256118"/>
                    <a:pt x="498878" y="3206394"/>
                    <a:pt x="315798" y="3213100"/>
                  </a:cubicBezTo>
                  <a:cubicBezTo>
                    <a:pt x="181864" y="3209984"/>
                    <a:pt x="-787" y="3063556"/>
                    <a:pt x="0" y="2897302"/>
                  </a:cubicBezTo>
                  <a:cubicBezTo>
                    <a:pt x="-44044" y="2769447"/>
                    <a:pt x="30087" y="2623520"/>
                    <a:pt x="0" y="2406816"/>
                  </a:cubicBezTo>
                  <a:cubicBezTo>
                    <a:pt x="-30087" y="2190112"/>
                    <a:pt x="37470" y="2060687"/>
                    <a:pt x="0" y="1942146"/>
                  </a:cubicBezTo>
                  <a:cubicBezTo>
                    <a:pt x="-37470" y="1823605"/>
                    <a:pt x="12673" y="1495840"/>
                    <a:pt x="0" y="1374215"/>
                  </a:cubicBezTo>
                  <a:cubicBezTo>
                    <a:pt x="-12673" y="1252590"/>
                    <a:pt x="15999" y="1032780"/>
                    <a:pt x="0" y="935359"/>
                  </a:cubicBezTo>
                  <a:cubicBezTo>
                    <a:pt x="-15999" y="837938"/>
                    <a:pt x="427" y="595605"/>
                    <a:pt x="0" y="315798"/>
                  </a:cubicBezTo>
                  <a:close/>
                </a:path>
              </a:pathLst>
            </a:custGeom>
            <a:noFill/>
            <a:ln w="38100">
              <a:extLst>
                <a:ext uri="{C807C97D-BFC1-408E-A445-0C87EB9F89A2}">
                  <ask:lineSketchStyleProps xmlns:ask="http://schemas.microsoft.com/office/drawing/2018/sketchyshapes" sd="1343369783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4F58818-B710-3971-70CE-0AF63491EBF6}"/>
                </a:ext>
              </a:extLst>
            </p:cNvPr>
            <p:cNvSpPr/>
            <p:nvPr/>
          </p:nvSpPr>
          <p:spPr>
            <a:xfrm>
              <a:off x="5272087" y="1663700"/>
              <a:ext cx="2943225" cy="4991100"/>
            </a:xfrm>
            <a:custGeom>
              <a:avLst/>
              <a:gdLst>
                <a:gd name="csX0" fmla="*/ 0 w 1894748"/>
                <a:gd name="csY0" fmla="*/ 315798 h 3213100"/>
                <a:gd name="csX1" fmla="*/ 315798 w 1894748"/>
                <a:gd name="csY1" fmla="*/ 0 h 3213100"/>
                <a:gd name="csX2" fmla="*/ 762112 w 1894748"/>
                <a:gd name="csY2" fmla="*/ 0 h 3213100"/>
                <a:gd name="csX3" fmla="*/ 1208425 w 1894748"/>
                <a:gd name="csY3" fmla="*/ 0 h 3213100"/>
                <a:gd name="csX4" fmla="*/ 1578950 w 1894748"/>
                <a:gd name="csY4" fmla="*/ 0 h 3213100"/>
                <a:gd name="csX5" fmla="*/ 1894748 w 1894748"/>
                <a:gd name="csY5" fmla="*/ 315798 h 3213100"/>
                <a:gd name="csX6" fmla="*/ 1894748 w 1894748"/>
                <a:gd name="csY6" fmla="*/ 857914 h 3213100"/>
                <a:gd name="csX7" fmla="*/ 1894748 w 1894748"/>
                <a:gd name="csY7" fmla="*/ 1296770 h 3213100"/>
                <a:gd name="csX8" fmla="*/ 1894748 w 1894748"/>
                <a:gd name="csY8" fmla="*/ 1787255 h 3213100"/>
                <a:gd name="csX9" fmla="*/ 1894748 w 1894748"/>
                <a:gd name="csY9" fmla="*/ 2303556 h 3213100"/>
                <a:gd name="csX10" fmla="*/ 1894748 w 1894748"/>
                <a:gd name="csY10" fmla="*/ 2897302 h 3213100"/>
                <a:gd name="csX11" fmla="*/ 1578950 w 1894748"/>
                <a:gd name="csY11" fmla="*/ 3213100 h 3213100"/>
                <a:gd name="csX12" fmla="*/ 1145268 w 1894748"/>
                <a:gd name="csY12" fmla="*/ 3213100 h 3213100"/>
                <a:gd name="csX13" fmla="*/ 698954 w 1894748"/>
                <a:gd name="csY13" fmla="*/ 3213100 h 3213100"/>
                <a:gd name="csX14" fmla="*/ 315798 w 1894748"/>
                <a:gd name="csY14" fmla="*/ 3213100 h 3213100"/>
                <a:gd name="csX15" fmla="*/ 0 w 1894748"/>
                <a:gd name="csY15" fmla="*/ 2897302 h 3213100"/>
                <a:gd name="csX16" fmla="*/ 0 w 1894748"/>
                <a:gd name="csY16" fmla="*/ 2406816 h 3213100"/>
                <a:gd name="csX17" fmla="*/ 0 w 1894748"/>
                <a:gd name="csY17" fmla="*/ 1942146 h 3213100"/>
                <a:gd name="csX18" fmla="*/ 0 w 1894748"/>
                <a:gd name="csY18" fmla="*/ 1374215 h 3213100"/>
                <a:gd name="csX19" fmla="*/ 0 w 1894748"/>
                <a:gd name="csY19" fmla="*/ 935359 h 3213100"/>
                <a:gd name="csX20" fmla="*/ 0 w 1894748"/>
                <a:gd name="csY20" fmla="*/ 315798 h 3213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94748" h="3213100" extrusionOk="0">
                  <a:moveTo>
                    <a:pt x="0" y="315798"/>
                  </a:moveTo>
                  <a:cubicBezTo>
                    <a:pt x="2905" y="116002"/>
                    <a:pt x="93262" y="-19456"/>
                    <a:pt x="315798" y="0"/>
                  </a:cubicBezTo>
                  <a:cubicBezTo>
                    <a:pt x="425501" y="-8807"/>
                    <a:pt x="626210" y="18076"/>
                    <a:pt x="762112" y="0"/>
                  </a:cubicBezTo>
                  <a:cubicBezTo>
                    <a:pt x="898014" y="-18076"/>
                    <a:pt x="1019680" y="7542"/>
                    <a:pt x="1208425" y="0"/>
                  </a:cubicBezTo>
                  <a:cubicBezTo>
                    <a:pt x="1397170" y="-7542"/>
                    <a:pt x="1466302" y="1207"/>
                    <a:pt x="1578950" y="0"/>
                  </a:cubicBezTo>
                  <a:cubicBezTo>
                    <a:pt x="1745829" y="39182"/>
                    <a:pt x="1881906" y="117854"/>
                    <a:pt x="1894748" y="315798"/>
                  </a:cubicBezTo>
                  <a:cubicBezTo>
                    <a:pt x="1930135" y="511867"/>
                    <a:pt x="1837369" y="589578"/>
                    <a:pt x="1894748" y="857914"/>
                  </a:cubicBezTo>
                  <a:cubicBezTo>
                    <a:pt x="1952127" y="1126250"/>
                    <a:pt x="1888644" y="1136008"/>
                    <a:pt x="1894748" y="1296770"/>
                  </a:cubicBezTo>
                  <a:cubicBezTo>
                    <a:pt x="1900852" y="1457532"/>
                    <a:pt x="1888539" y="1577824"/>
                    <a:pt x="1894748" y="1787255"/>
                  </a:cubicBezTo>
                  <a:cubicBezTo>
                    <a:pt x="1900957" y="1996686"/>
                    <a:pt x="1850110" y="2051144"/>
                    <a:pt x="1894748" y="2303556"/>
                  </a:cubicBezTo>
                  <a:cubicBezTo>
                    <a:pt x="1939386" y="2555968"/>
                    <a:pt x="1877733" y="2602766"/>
                    <a:pt x="1894748" y="2897302"/>
                  </a:cubicBezTo>
                  <a:cubicBezTo>
                    <a:pt x="1852544" y="3072405"/>
                    <a:pt x="1703600" y="3209161"/>
                    <a:pt x="1578950" y="3213100"/>
                  </a:cubicBezTo>
                  <a:cubicBezTo>
                    <a:pt x="1444352" y="3256839"/>
                    <a:pt x="1278212" y="3189087"/>
                    <a:pt x="1145268" y="3213100"/>
                  </a:cubicBezTo>
                  <a:cubicBezTo>
                    <a:pt x="1012324" y="3237113"/>
                    <a:pt x="870949" y="3170082"/>
                    <a:pt x="698954" y="3213100"/>
                  </a:cubicBezTo>
                  <a:cubicBezTo>
                    <a:pt x="526959" y="3256118"/>
                    <a:pt x="498878" y="3206394"/>
                    <a:pt x="315798" y="3213100"/>
                  </a:cubicBezTo>
                  <a:cubicBezTo>
                    <a:pt x="181864" y="3209984"/>
                    <a:pt x="-787" y="3063556"/>
                    <a:pt x="0" y="2897302"/>
                  </a:cubicBezTo>
                  <a:cubicBezTo>
                    <a:pt x="-44044" y="2769447"/>
                    <a:pt x="30087" y="2623520"/>
                    <a:pt x="0" y="2406816"/>
                  </a:cubicBezTo>
                  <a:cubicBezTo>
                    <a:pt x="-30087" y="2190112"/>
                    <a:pt x="37470" y="2060687"/>
                    <a:pt x="0" y="1942146"/>
                  </a:cubicBezTo>
                  <a:cubicBezTo>
                    <a:pt x="-37470" y="1823605"/>
                    <a:pt x="12673" y="1495840"/>
                    <a:pt x="0" y="1374215"/>
                  </a:cubicBezTo>
                  <a:cubicBezTo>
                    <a:pt x="-12673" y="1252590"/>
                    <a:pt x="15999" y="1032780"/>
                    <a:pt x="0" y="935359"/>
                  </a:cubicBezTo>
                  <a:cubicBezTo>
                    <a:pt x="-15999" y="837938"/>
                    <a:pt x="427" y="595605"/>
                    <a:pt x="0" y="315798"/>
                  </a:cubicBezTo>
                  <a:close/>
                </a:path>
              </a:pathLst>
            </a:custGeom>
            <a:noFill/>
            <a:ln w="38100">
              <a:extLst>
                <a:ext uri="{C807C97D-BFC1-408E-A445-0C87EB9F89A2}">
                  <ask:lineSketchStyleProps xmlns:ask="http://schemas.microsoft.com/office/drawing/2018/sketchyshapes" sd="1343369783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3C8B2FB-63BD-3A41-32AB-FD0E79054AEE}"/>
                </a:ext>
              </a:extLst>
            </p:cNvPr>
            <p:cNvSpPr/>
            <p:nvPr/>
          </p:nvSpPr>
          <p:spPr>
            <a:xfrm>
              <a:off x="9072562" y="1663700"/>
              <a:ext cx="2943225" cy="4991100"/>
            </a:xfrm>
            <a:custGeom>
              <a:avLst/>
              <a:gdLst>
                <a:gd name="csX0" fmla="*/ 0 w 1894748"/>
                <a:gd name="csY0" fmla="*/ 315798 h 3213100"/>
                <a:gd name="csX1" fmla="*/ 315798 w 1894748"/>
                <a:gd name="csY1" fmla="*/ 0 h 3213100"/>
                <a:gd name="csX2" fmla="*/ 762112 w 1894748"/>
                <a:gd name="csY2" fmla="*/ 0 h 3213100"/>
                <a:gd name="csX3" fmla="*/ 1208425 w 1894748"/>
                <a:gd name="csY3" fmla="*/ 0 h 3213100"/>
                <a:gd name="csX4" fmla="*/ 1578950 w 1894748"/>
                <a:gd name="csY4" fmla="*/ 0 h 3213100"/>
                <a:gd name="csX5" fmla="*/ 1894748 w 1894748"/>
                <a:gd name="csY5" fmla="*/ 315798 h 3213100"/>
                <a:gd name="csX6" fmla="*/ 1894748 w 1894748"/>
                <a:gd name="csY6" fmla="*/ 857914 h 3213100"/>
                <a:gd name="csX7" fmla="*/ 1894748 w 1894748"/>
                <a:gd name="csY7" fmla="*/ 1296770 h 3213100"/>
                <a:gd name="csX8" fmla="*/ 1894748 w 1894748"/>
                <a:gd name="csY8" fmla="*/ 1787255 h 3213100"/>
                <a:gd name="csX9" fmla="*/ 1894748 w 1894748"/>
                <a:gd name="csY9" fmla="*/ 2303556 h 3213100"/>
                <a:gd name="csX10" fmla="*/ 1894748 w 1894748"/>
                <a:gd name="csY10" fmla="*/ 2897302 h 3213100"/>
                <a:gd name="csX11" fmla="*/ 1578950 w 1894748"/>
                <a:gd name="csY11" fmla="*/ 3213100 h 3213100"/>
                <a:gd name="csX12" fmla="*/ 1145268 w 1894748"/>
                <a:gd name="csY12" fmla="*/ 3213100 h 3213100"/>
                <a:gd name="csX13" fmla="*/ 698954 w 1894748"/>
                <a:gd name="csY13" fmla="*/ 3213100 h 3213100"/>
                <a:gd name="csX14" fmla="*/ 315798 w 1894748"/>
                <a:gd name="csY14" fmla="*/ 3213100 h 3213100"/>
                <a:gd name="csX15" fmla="*/ 0 w 1894748"/>
                <a:gd name="csY15" fmla="*/ 2897302 h 3213100"/>
                <a:gd name="csX16" fmla="*/ 0 w 1894748"/>
                <a:gd name="csY16" fmla="*/ 2406816 h 3213100"/>
                <a:gd name="csX17" fmla="*/ 0 w 1894748"/>
                <a:gd name="csY17" fmla="*/ 1942146 h 3213100"/>
                <a:gd name="csX18" fmla="*/ 0 w 1894748"/>
                <a:gd name="csY18" fmla="*/ 1374215 h 3213100"/>
                <a:gd name="csX19" fmla="*/ 0 w 1894748"/>
                <a:gd name="csY19" fmla="*/ 935359 h 3213100"/>
                <a:gd name="csX20" fmla="*/ 0 w 1894748"/>
                <a:gd name="csY20" fmla="*/ 315798 h 3213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94748" h="3213100" extrusionOk="0">
                  <a:moveTo>
                    <a:pt x="0" y="315798"/>
                  </a:moveTo>
                  <a:cubicBezTo>
                    <a:pt x="2905" y="116002"/>
                    <a:pt x="93262" y="-19456"/>
                    <a:pt x="315798" y="0"/>
                  </a:cubicBezTo>
                  <a:cubicBezTo>
                    <a:pt x="425501" y="-8807"/>
                    <a:pt x="626210" y="18076"/>
                    <a:pt x="762112" y="0"/>
                  </a:cubicBezTo>
                  <a:cubicBezTo>
                    <a:pt x="898014" y="-18076"/>
                    <a:pt x="1019680" y="7542"/>
                    <a:pt x="1208425" y="0"/>
                  </a:cubicBezTo>
                  <a:cubicBezTo>
                    <a:pt x="1397170" y="-7542"/>
                    <a:pt x="1466302" y="1207"/>
                    <a:pt x="1578950" y="0"/>
                  </a:cubicBezTo>
                  <a:cubicBezTo>
                    <a:pt x="1745829" y="39182"/>
                    <a:pt x="1881906" y="117854"/>
                    <a:pt x="1894748" y="315798"/>
                  </a:cubicBezTo>
                  <a:cubicBezTo>
                    <a:pt x="1930135" y="511867"/>
                    <a:pt x="1837369" y="589578"/>
                    <a:pt x="1894748" y="857914"/>
                  </a:cubicBezTo>
                  <a:cubicBezTo>
                    <a:pt x="1952127" y="1126250"/>
                    <a:pt x="1888644" y="1136008"/>
                    <a:pt x="1894748" y="1296770"/>
                  </a:cubicBezTo>
                  <a:cubicBezTo>
                    <a:pt x="1900852" y="1457532"/>
                    <a:pt x="1888539" y="1577824"/>
                    <a:pt x="1894748" y="1787255"/>
                  </a:cubicBezTo>
                  <a:cubicBezTo>
                    <a:pt x="1900957" y="1996686"/>
                    <a:pt x="1850110" y="2051144"/>
                    <a:pt x="1894748" y="2303556"/>
                  </a:cubicBezTo>
                  <a:cubicBezTo>
                    <a:pt x="1939386" y="2555968"/>
                    <a:pt x="1877733" y="2602766"/>
                    <a:pt x="1894748" y="2897302"/>
                  </a:cubicBezTo>
                  <a:cubicBezTo>
                    <a:pt x="1852544" y="3072405"/>
                    <a:pt x="1703600" y="3209161"/>
                    <a:pt x="1578950" y="3213100"/>
                  </a:cubicBezTo>
                  <a:cubicBezTo>
                    <a:pt x="1444352" y="3256839"/>
                    <a:pt x="1278212" y="3189087"/>
                    <a:pt x="1145268" y="3213100"/>
                  </a:cubicBezTo>
                  <a:cubicBezTo>
                    <a:pt x="1012324" y="3237113"/>
                    <a:pt x="870949" y="3170082"/>
                    <a:pt x="698954" y="3213100"/>
                  </a:cubicBezTo>
                  <a:cubicBezTo>
                    <a:pt x="526959" y="3256118"/>
                    <a:pt x="498878" y="3206394"/>
                    <a:pt x="315798" y="3213100"/>
                  </a:cubicBezTo>
                  <a:cubicBezTo>
                    <a:pt x="181864" y="3209984"/>
                    <a:pt x="-787" y="3063556"/>
                    <a:pt x="0" y="2897302"/>
                  </a:cubicBezTo>
                  <a:cubicBezTo>
                    <a:pt x="-44044" y="2769447"/>
                    <a:pt x="30087" y="2623520"/>
                    <a:pt x="0" y="2406816"/>
                  </a:cubicBezTo>
                  <a:cubicBezTo>
                    <a:pt x="-30087" y="2190112"/>
                    <a:pt x="37470" y="2060687"/>
                    <a:pt x="0" y="1942146"/>
                  </a:cubicBezTo>
                  <a:cubicBezTo>
                    <a:pt x="-37470" y="1823605"/>
                    <a:pt x="12673" y="1495840"/>
                    <a:pt x="0" y="1374215"/>
                  </a:cubicBezTo>
                  <a:cubicBezTo>
                    <a:pt x="-12673" y="1252590"/>
                    <a:pt x="15999" y="1032780"/>
                    <a:pt x="0" y="935359"/>
                  </a:cubicBezTo>
                  <a:cubicBezTo>
                    <a:pt x="-15999" y="837938"/>
                    <a:pt x="427" y="595605"/>
                    <a:pt x="0" y="315798"/>
                  </a:cubicBezTo>
                  <a:close/>
                </a:path>
              </a:pathLst>
            </a:custGeom>
            <a:noFill/>
            <a:ln w="38100">
              <a:extLst>
                <a:ext uri="{C807C97D-BFC1-408E-A445-0C87EB9F89A2}">
                  <ask:lineSketchStyleProps xmlns:ask="http://schemas.microsoft.com/office/drawing/2018/sketchyshapes" sd="1343369783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C63724CF-30CA-8D4B-B465-FC8E9753BB32}"/>
                </a:ext>
              </a:extLst>
            </p:cNvPr>
            <p:cNvSpPr/>
            <p:nvPr/>
          </p:nvSpPr>
          <p:spPr>
            <a:xfrm rot="16200000">
              <a:off x="4747260" y="3644900"/>
              <a:ext cx="228600" cy="533400"/>
            </a:xfrm>
            <a:custGeom>
              <a:avLst/>
              <a:gdLst>
                <a:gd name="csX0" fmla="*/ 0 w 147165"/>
                <a:gd name="csY0" fmla="*/ 183957 h 343385"/>
                <a:gd name="csX1" fmla="*/ 55187 w 147165"/>
                <a:gd name="csY1" fmla="*/ 183957 h 343385"/>
                <a:gd name="csX2" fmla="*/ 55187 w 147165"/>
                <a:gd name="csY2" fmla="*/ 0 h 343385"/>
                <a:gd name="csX3" fmla="*/ 91978 w 147165"/>
                <a:gd name="csY3" fmla="*/ 0 h 343385"/>
                <a:gd name="csX4" fmla="*/ 91978 w 147165"/>
                <a:gd name="csY4" fmla="*/ 183957 h 343385"/>
                <a:gd name="csX5" fmla="*/ 147165 w 147165"/>
                <a:gd name="csY5" fmla="*/ 183957 h 343385"/>
                <a:gd name="csX6" fmla="*/ 73583 w 147165"/>
                <a:gd name="csY6" fmla="*/ 343385 h 343385"/>
                <a:gd name="csX7" fmla="*/ 0 w 147165"/>
                <a:gd name="csY7" fmla="*/ 183957 h 343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7165" h="343385" fill="none" extrusionOk="0">
                  <a:moveTo>
                    <a:pt x="0" y="183957"/>
                  </a:moveTo>
                  <a:cubicBezTo>
                    <a:pt x="13106" y="183678"/>
                    <a:pt x="40674" y="188221"/>
                    <a:pt x="55187" y="183957"/>
                  </a:cubicBezTo>
                  <a:cubicBezTo>
                    <a:pt x="38767" y="104919"/>
                    <a:pt x="61145" y="90890"/>
                    <a:pt x="55187" y="0"/>
                  </a:cubicBezTo>
                  <a:cubicBezTo>
                    <a:pt x="62921" y="-2501"/>
                    <a:pt x="84058" y="848"/>
                    <a:pt x="91978" y="0"/>
                  </a:cubicBezTo>
                  <a:cubicBezTo>
                    <a:pt x="104030" y="80388"/>
                    <a:pt x="82907" y="143152"/>
                    <a:pt x="91978" y="183957"/>
                  </a:cubicBezTo>
                  <a:cubicBezTo>
                    <a:pt x="107975" y="179401"/>
                    <a:pt x="120147" y="185376"/>
                    <a:pt x="147165" y="183957"/>
                  </a:cubicBezTo>
                  <a:cubicBezTo>
                    <a:pt x="116283" y="255502"/>
                    <a:pt x="97481" y="276717"/>
                    <a:pt x="73583" y="343385"/>
                  </a:cubicBezTo>
                  <a:cubicBezTo>
                    <a:pt x="38599" y="301131"/>
                    <a:pt x="38940" y="232719"/>
                    <a:pt x="0" y="183957"/>
                  </a:cubicBezTo>
                  <a:close/>
                </a:path>
                <a:path w="147165" h="343385" stroke="0" extrusionOk="0">
                  <a:moveTo>
                    <a:pt x="0" y="183957"/>
                  </a:moveTo>
                  <a:cubicBezTo>
                    <a:pt x="11367" y="182368"/>
                    <a:pt x="40323" y="184549"/>
                    <a:pt x="55187" y="183957"/>
                  </a:cubicBezTo>
                  <a:cubicBezTo>
                    <a:pt x="45314" y="135139"/>
                    <a:pt x="56511" y="42965"/>
                    <a:pt x="55187" y="0"/>
                  </a:cubicBezTo>
                  <a:cubicBezTo>
                    <a:pt x="69354" y="-763"/>
                    <a:pt x="75256" y="297"/>
                    <a:pt x="91978" y="0"/>
                  </a:cubicBezTo>
                  <a:cubicBezTo>
                    <a:pt x="111444" y="54591"/>
                    <a:pt x="76648" y="127341"/>
                    <a:pt x="91978" y="183957"/>
                  </a:cubicBezTo>
                  <a:cubicBezTo>
                    <a:pt x="111360" y="183918"/>
                    <a:pt x="133846" y="188152"/>
                    <a:pt x="147165" y="183957"/>
                  </a:cubicBezTo>
                  <a:cubicBezTo>
                    <a:pt x="134692" y="217511"/>
                    <a:pt x="71722" y="301515"/>
                    <a:pt x="73583" y="343385"/>
                  </a:cubicBezTo>
                  <a:cubicBezTo>
                    <a:pt x="37686" y="308932"/>
                    <a:pt x="45344" y="232587"/>
                    <a:pt x="0" y="183957"/>
                  </a:cubicBezTo>
                  <a:close/>
                </a:path>
              </a:pathLst>
            </a:custGeom>
            <a:solidFill>
              <a:schemeClr val="tx1"/>
            </a:solidFill>
            <a:ln>
              <a:extLst>
                <a:ext uri="{C807C97D-BFC1-408E-A445-0C87EB9F89A2}">
                  <ask:lineSketchStyleProps xmlns:ask="http://schemas.microsoft.com/office/drawing/2018/sketchyshapes" sd="2302904691">
                    <a:prstGeom prst="downArrow">
                      <a:avLst>
                        <a:gd name="adj1" fmla="val 25000"/>
                        <a:gd name="adj2" fmla="val 108333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id="{52EE82AD-5396-A78A-747A-5CCAC3863946}"/>
                </a:ext>
              </a:extLst>
            </p:cNvPr>
            <p:cNvSpPr/>
            <p:nvPr/>
          </p:nvSpPr>
          <p:spPr>
            <a:xfrm rot="16200000">
              <a:off x="8534399" y="3644900"/>
              <a:ext cx="228600" cy="533400"/>
            </a:xfrm>
            <a:custGeom>
              <a:avLst/>
              <a:gdLst>
                <a:gd name="csX0" fmla="*/ 0 w 147165"/>
                <a:gd name="csY0" fmla="*/ 183957 h 343385"/>
                <a:gd name="csX1" fmla="*/ 55187 w 147165"/>
                <a:gd name="csY1" fmla="*/ 183957 h 343385"/>
                <a:gd name="csX2" fmla="*/ 55187 w 147165"/>
                <a:gd name="csY2" fmla="*/ 0 h 343385"/>
                <a:gd name="csX3" fmla="*/ 91978 w 147165"/>
                <a:gd name="csY3" fmla="*/ 0 h 343385"/>
                <a:gd name="csX4" fmla="*/ 91978 w 147165"/>
                <a:gd name="csY4" fmla="*/ 183957 h 343385"/>
                <a:gd name="csX5" fmla="*/ 147165 w 147165"/>
                <a:gd name="csY5" fmla="*/ 183957 h 343385"/>
                <a:gd name="csX6" fmla="*/ 73583 w 147165"/>
                <a:gd name="csY6" fmla="*/ 343385 h 343385"/>
                <a:gd name="csX7" fmla="*/ 0 w 147165"/>
                <a:gd name="csY7" fmla="*/ 183957 h 343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7165" h="343385" fill="none" extrusionOk="0">
                  <a:moveTo>
                    <a:pt x="0" y="183957"/>
                  </a:moveTo>
                  <a:cubicBezTo>
                    <a:pt x="13106" y="183678"/>
                    <a:pt x="40674" y="188221"/>
                    <a:pt x="55187" y="183957"/>
                  </a:cubicBezTo>
                  <a:cubicBezTo>
                    <a:pt x="38767" y="104919"/>
                    <a:pt x="61145" y="90890"/>
                    <a:pt x="55187" y="0"/>
                  </a:cubicBezTo>
                  <a:cubicBezTo>
                    <a:pt x="62921" y="-2501"/>
                    <a:pt x="84058" y="848"/>
                    <a:pt x="91978" y="0"/>
                  </a:cubicBezTo>
                  <a:cubicBezTo>
                    <a:pt x="104030" y="80388"/>
                    <a:pt x="82907" y="143152"/>
                    <a:pt x="91978" y="183957"/>
                  </a:cubicBezTo>
                  <a:cubicBezTo>
                    <a:pt x="107975" y="179401"/>
                    <a:pt x="120147" y="185376"/>
                    <a:pt x="147165" y="183957"/>
                  </a:cubicBezTo>
                  <a:cubicBezTo>
                    <a:pt x="116283" y="255502"/>
                    <a:pt x="97481" y="276717"/>
                    <a:pt x="73583" y="343385"/>
                  </a:cubicBezTo>
                  <a:cubicBezTo>
                    <a:pt x="38599" y="301131"/>
                    <a:pt x="38940" y="232719"/>
                    <a:pt x="0" y="183957"/>
                  </a:cubicBezTo>
                  <a:close/>
                </a:path>
                <a:path w="147165" h="343385" stroke="0" extrusionOk="0">
                  <a:moveTo>
                    <a:pt x="0" y="183957"/>
                  </a:moveTo>
                  <a:cubicBezTo>
                    <a:pt x="11367" y="182368"/>
                    <a:pt x="40323" y="184549"/>
                    <a:pt x="55187" y="183957"/>
                  </a:cubicBezTo>
                  <a:cubicBezTo>
                    <a:pt x="45314" y="135139"/>
                    <a:pt x="56511" y="42965"/>
                    <a:pt x="55187" y="0"/>
                  </a:cubicBezTo>
                  <a:cubicBezTo>
                    <a:pt x="69354" y="-763"/>
                    <a:pt x="75256" y="297"/>
                    <a:pt x="91978" y="0"/>
                  </a:cubicBezTo>
                  <a:cubicBezTo>
                    <a:pt x="111444" y="54591"/>
                    <a:pt x="76648" y="127341"/>
                    <a:pt x="91978" y="183957"/>
                  </a:cubicBezTo>
                  <a:cubicBezTo>
                    <a:pt x="111360" y="183918"/>
                    <a:pt x="133846" y="188152"/>
                    <a:pt x="147165" y="183957"/>
                  </a:cubicBezTo>
                  <a:cubicBezTo>
                    <a:pt x="134692" y="217511"/>
                    <a:pt x="71722" y="301515"/>
                    <a:pt x="73583" y="343385"/>
                  </a:cubicBezTo>
                  <a:cubicBezTo>
                    <a:pt x="37686" y="308932"/>
                    <a:pt x="45344" y="232587"/>
                    <a:pt x="0" y="183957"/>
                  </a:cubicBezTo>
                  <a:close/>
                </a:path>
              </a:pathLst>
            </a:custGeom>
            <a:solidFill>
              <a:schemeClr val="tx1"/>
            </a:solidFill>
            <a:ln>
              <a:extLst>
                <a:ext uri="{C807C97D-BFC1-408E-A445-0C87EB9F89A2}">
                  <ask:lineSketchStyleProps xmlns:ask="http://schemas.microsoft.com/office/drawing/2018/sketchyshapes" sd="2302904691">
                    <a:prstGeom prst="downArrow">
                      <a:avLst>
                        <a:gd name="adj1" fmla="val 25000"/>
                        <a:gd name="adj2" fmla="val 108333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7D280D3-91AB-FCCE-41FA-7FDAFC1AE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3055" y="2609833"/>
              <a:ext cx="2700338" cy="3098834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B0559AE-50AD-B311-CD15-5C6208E01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38826" y="2149475"/>
              <a:ext cx="2609748" cy="398145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A3FE60A-3E7A-C21A-BB25-C8317550F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39300" y="2218265"/>
              <a:ext cx="2609748" cy="165312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F788A93-69B5-E774-F62C-6988D24AE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69996" y="4073525"/>
              <a:ext cx="2529306" cy="17677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0059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8A8CF-D45D-FCA4-A3E4-24C8E826A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40330E-57B4-D2BB-AA1D-A9C147EC8BE0}"/>
              </a:ext>
            </a:extLst>
          </p:cNvPr>
          <p:cNvSpPr txBox="1"/>
          <p:nvPr/>
        </p:nvSpPr>
        <p:spPr>
          <a:xfrm>
            <a:off x="3733045" y="1437269"/>
            <a:ext cx="4725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Soft SemiBold"/>
                <a:ea typeface="+mn-ea"/>
                <a:cs typeface="+mn-cs"/>
              </a:rPr>
              <a:t>NV Center Electronic Structure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01DEDB-DF92-6829-D32A-E81C5A88213F}"/>
              </a:ext>
            </a:extLst>
          </p:cNvPr>
          <p:cNvGrpSpPr/>
          <p:nvPr/>
        </p:nvGrpSpPr>
        <p:grpSpPr>
          <a:xfrm>
            <a:off x="6057900" y="3246395"/>
            <a:ext cx="5772561" cy="2036806"/>
            <a:chOff x="617624" y="2259831"/>
            <a:chExt cx="5294716" cy="186820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AD3AD91-DEB4-9451-9D25-A1FE0B914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624" y="2259831"/>
              <a:ext cx="5294716" cy="1868202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0A05C7-EEB7-0140-2A27-13495F811A49}"/>
                </a:ext>
              </a:extLst>
            </p:cNvPr>
            <p:cNvSpPr/>
            <p:nvPr/>
          </p:nvSpPr>
          <p:spPr>
            <a:xfrm>
              <a:off x="1635125" y="3196430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D9888FD-FE6C-996F-ABFD-1EFB26348311}"/>
                </a:ext>
              </a:extLst>
            </p:cNvPr>
            <p:cNvSpPr/>
            <p:nvPr/>
          </p:nvSpPr>
          <p:spPr>
            <a:xfrm>
              <a:off x="1374054" y="3406140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0EA026F-5C30-BD15-FE93-BAAF81747307}"/>
                </a:ext>
              </a:extLst>
            </p:cNvPr>
            <p:cNvSpPr/>
            <p:nvPr/>
          </p:nvSpPr>
          <p:spPr>
            <a:xfrm>
              <a:off x="1635125" y="3600451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50CA415-9D39-ED29-895F-267D45FBB419}"/>
                </a:ext>
              </a:extLst>
            </p:cNvPr>
            <p:cNvSpPr/>
            <p:nvPr/>
          </p:nvSpPr>
          <p:spPr>
            <a:xfrm>
              <a:off x="1918494" y="33785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8C98F60-4CE1-B41E-A132-AD000C0B7045}"/>
                </a:ext>
              </a:extLst>
            </p:cNvPr>
            <p:cNvSpPr/>
            <p:nvPr/>
          </p:nvSpPr>
          <p:spPr>
            <a:xfrm>
              <a:off x="1918494" y="3440747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A2BAB87-2464-4787-A424-3E266B5B11D4}"/>
                </a:ext>
              </a:extLst>
            </p:cNvPr>
            <p:cNvSpPr/>
            <p:nvPr/>
          </p:nvSpPr>
          <p:spPr>
            <a:xfrm>
              <a:off x="1635125" y="3260725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6A197B6-F478-DC53-F32B-82C215A62315}"/>
                </a:ext>
              </a:extLst>
            </p:cNvPr>
            <p:cNvSpPr/>
            <p:nvPr/>
          </p:nvSpPr>
          <p:spPr>
            <a:xfrm>
              <a:off x="4502783" y="3160913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594B13C-D9DA-1DCE-973E-EC286A35533E}"/>
                </a:ext>
              </a:extLst>
            </p:cNvPr>
            <p:cNvSpPr/>
            <p:nvPr/>
          </p:nvSpPr>
          <p:spPr>
            <a:xfrm>
              <a:off x="4234729" y="340455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31125E0-A83B-A93E-23EC-4514947BAE71}"/>
                </a:ext>
              </a:extLst>
            </p:cNvPr>
            <p:cNvSpPr/>
            <p:nvPr/>
          </p:nvSpPr>
          <p:spPr>
            <a:xfrm>
              <a:off x="4495800" y="3598863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818C44F-6333-FFC3-7824-F26EB7121387}"/>
                </a:ext>
              </a:extLst>
            </p:cNvPr>
            <p:cNvSpPr/>
            <p:nvPr/>
          </p:nvSpPr>
          <p:spPr>
            <a:xfrm>
              <a:off x="4779169" y="3376931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715D622-7256-0C88-1FF8-3224DFB64F00}"/>
                </a:ext>
              </a:extLst>
            </p:cNvPr>
            <p:cNvSpPr/>
            <p:nvPr/>
          </p:nvSpPr>
          <p:spPr>
            <a:xfrm>
              <a:off x="4779169" y="343915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0EE6FDA-BB4A-A3ED-F025-ED4BBE7ED929}"/>
                </a:ext>
              </a:extLst>
            </p:cNvPr>
            <p:cNvSpPr/>
            <p:nvPr/>
          </p:nvSpPr>
          <p:spPr>
            <a:xfrm>
              <a:off x="4495800" y="325913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CDA5671-2547-963E-7CCB-FD1A431DD203}"/>
                </a:ext>
              </a:extLst>
            </p:cNvPr>
            <p:cNvSpPr/>
            <p:nvPr/>
          </p:nvSpPr>
          <p:spPr>
            <a:xfrm>
              <a:off x="4502784" y="3219289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9739D2D-E778-51E4-0EA2-BE8FF4C0BD63}"/>
                </a:ext>
              </a:extLst>
            </p:cNvPr>
            <p:cNvSpPr/>
            <p:nvPr/>
          </p:nvSpPr>
          <p:spPr>
            <a:xfrm>
              <a:off x="4502782" y="3231946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82CC7F-2CAB-6883-5630-8D5E38AFF661}"/>
              </a:ext>
            </a:extLst>
          </p:cNvPr>
          <p:cNvGrpSpPr/>
          <p:nvPr/>
        </p:nvGrpSpPr>
        <p:grpSpPr>
          <a:xfrm>
            <a:off x="518442" y="3286891"/>
            <a:ext cx="4429988" cy="2011103"/>
            <a:chOff x="6415195" y="2217641"/>
            <a:chExt cx="4357032" cy="1977983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C0806AD-1007-2355-D208-E60051350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5195" y="2217641"/>
              <a:ext cx="4357032" cy="1977983"/>
            </a:xfrm>
            <a:prstGeom prst="rect">
              <a:avLst/>
            </a:prstGeom>
          </p:spPr>
        </p:pic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60668B8-6E6A-204B-5867-8D74D4822557}"/>
                </a:ext>
              </a:extLst>
            </p:cNvPr>
            <p:cNvSpPr/>
            <p:nvPr/>
          </p:nvSpPr>
          <p:spPr>
            <a:xfrm>
              <a:off x="7488568" y="3248658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56FD333-BAE6-AC00-32DB-E4AF3D9C0418}"/>
                </a:ext>
              </a:extLst>
            </p:cNvPr>
            <p:cNvSpPr/>
            <p:nvPr/>
          </p:nvSpPr>
          <p:spPr>
            <a:xfrm>
              <a:off x="7205272" y="3426618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B5CDDA6-7185-A446-926B-E507EB0AFB41}"/>
                </a:ext>
              </a:extLst>
            </p:cNvPr>
            <p:cNvSpPr/>
            <p:nvPr/>
          </p:nvSpPr>
          <p:spPr>
            <a:xfrm>
              <a:off x="7479043" y="361457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C367452-D4CF-A786-3DE6-A9F0441FA298}"/>
                </a:ext>
              </a:extLst>
            </p:cNvPr>
            <p:cNvSpPr/>
            <p:nvPr/>
          </p:nvSpPr>
          <p:spPr>
            <a:xfrm>
              <a:off x="7777884" y="3429634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B830F4F-D539-E66F-4106-C789A7129AFD}"/>
                </a:ext>
              </a:extLst>
            </p:cNvPr>
            <p:cNvSpPr/>
            <p:nvPr/>
          </p:nvSpPr>
          <p:spPr>
            <a:xfrm>
              <a:off x="9930143" y="3248658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84E17DB-3938-7783-5788-4FCAA61CD118}"/>
                </a:ext>
              </a:extLst>
            </p:cNvPr>
            <p:cNvSpPr/>
            <p:nvPr/>
          </p:nvSpPr>
          <p:spPr>
            <a:xfrm>
              <a:off x="9646847" y="3426618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ED301C8-50BB-999E-C9C6-CCFE5F5A99B5}"/>
                </a:ext>
              </a:extLst>
            </p:cNvPr>
            <p:cNvSpPr/>
            <p:nvPr/>
          </p:nvSpPr>
          <p:spPr>
            <a:xfrm>
              <a:off x="9920618" y="361457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36F1BE6-2857-E953-187A-8F804E6D975D}"/>
                </a:ext>
              </a:extLst>
            </p:cNvPr>
            <p:cNvSpPr/>
            <p:nvPr/>
          </p:nvSpPr>
          <p:spPr>
            <a:xfrm>
              <a:off x="10213511" y="3378361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62E8E99-7D77-31EF-C1A7-1C903CBEB297}"/>
                </a:ext>
              </a:extLst>
            </p:cNvPr>
            <p:cNvSpPr/>
            <p:nvPr/>
          </p:nvSpPr>
          <p:spPr>
            <a:xfrm>
              <a:off x="10213511" y="3442970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D6A56FF-AD47-AF1D-5C17-1E171C7501EE}"/>
              </a:ext>
            </a:extLst>
          </p:cNvPr>
          <p:cNvCxnSpPr>
            <a:cxnSpLocks/>
          </p:cNvCxnSpPr>
          <p:nvPr/>
        </p:nvCxnSpPr>
        <p:spPr>
          <a:xfrm>
            <a:off x="5493258" y="2517761"/>
            <a:ext cx="0" cy="36490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E959B20-510B-A54F-2DB7-8D0AFE442418}"/>
              </a:ext>
            </a:extLst>
          </p:cNvPr>
          <p:cNvSpPr txBox="1"/>
          <p:nvPr/>
        </p:nvSpPr>
        <p:spPr>
          <a:xfrm>
            <a:off x="559357" y="333375"/>
            <a:ext cx="5861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1. How NV center is created:</a:t>
            </a:r>
          </a:p>
        </p:txBody>
      </p:sp>
    </p:spTree>
    <p:extLst>
      <p:ext uri="{BB962C8B-B14F-4D97-AF65-F5344CB8AC3E}">
        <p14:creationId xmlns:p14="http://schemas.microsoft.com/office/powerpoint/2010/main" val="4267029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6FE120-1288-409A-37F8-03916C919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C5F8B4-3F8C-62FE-C42B-D7A72F63E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00" y="2961905"/>
            <a:ext cx="8670518" cy="2737327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F55F9B3-F4BD-012A-2F07-ADCE1AC3E0C0}"/>
              </a:ext>
            </a:extLst>
          </p:cNvPr>
          <p:cNvSpPr/>
          <p:nvPr/>
        </p:nvSpPr>
        <p:spPr>
          <a:xfrm>
            <a:off x="4114800" y="3714750"/>
            <a:ext cx="314325" cy="317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572F0E4-1C51-09A2-B836-3400B70461C4}"/>
              </a:ext>
            </a:extLst>
          </p:cNvPr>
          <p:cNvSpPr/>
          <p:nvPr/>
        </p:nvSpPr>
        <p:spPr>
          <a:xfrm>
            <a:off x="6743700" y="3714750"/>
            <a:ext cx="314325" cy="317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5B10408-587D-CBEF-6B38-3B64557760C3}"/>
              </a:ext>
            </a:extLst>
          </p:cNvPr>
          <p:cNvSpPr/>
          <p:nvPr/>
        </p:nvSpPr>
        <p:spPr>
          <a:xfrm>
            <a:off x="7299960" y="3722370"/>
            <a:ext cx="314325" cy="317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BF2C0EC-F676-3642-AA8B-43C64840FBA2}"/>
              </a:ext>
            </a:extLst>
          </p:cNvPr>
          <p:cNvSpPr/>
          <p:nvPr/>
        </p:nvSpPr>
        <p:spPr>
          <a:xfrm>
            <a:off x="8699500" y="2552700"/>
            <a:ext cx="3492500" cy="4038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0D3782-113D-EAFE-D0A8-8C6C24D2DE23}"/>
              </a:ext>
            </a:extLst>
          </p:cNvPr>
          <p:cNvSpPr txBox="1"/>
          <p:nvPr/>
        </p:nvSpPr>
        <p:spPr>
          <a:xfrm>
            <a:off x="1662945" y="1566512"/>
            <a:ext cx="84989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Soft SemiBold"/>
                <a:ea typeface="+mn-ea"/>
                <a:cs typeface="+mn-cs"/>
              </a:rPr>
              <a:t>NV- is preferable since it gives you at least two spin state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Soft SemiBold"/>
                <a:ea typeface="+mn-ea"/>
                <a:cs typeface="+mn-cs"/>
              </a:rPr>
              <a:t>m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Soft SemiBold"/>
                <a:ea typeface="+mn-ea"/>
                <a:cs typeface="+mn-cs"/>
              </a:rPr>
              <a:t>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Soft SemiBold"/>
                <a:ea typeface="+mn-ea"/>
                <a:cs typeface="+mn-cs"/>
              </a:rPr>
              <a:t>=0 and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Soft SemiBold"/>
                <a:ea typeface="+mn-ea"/>
                <a:cs typeface="+mn-cs"/>
              </a:rPr>
              <a:t>m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Soft SemiBold"/>
                <a:ea typeface="+mn-ea"/>
                <a:cs typeface="+mn-cs"/>
              </a:rPr>
              <a:t>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Soft SemiBold"/>
                <a:ea typeface="+mn-ea"/>
                <a:cs typeface="+mn-cs"/>
              </a:rPr>
              <a:t> =-1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Soft SemiBold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Soft SemiBold"/>
                <a:ea typeface="+mn-ea"/>
                <a:cs typeface="+mn-cs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136395-E91D-D339-53A8-B07C7A9B6FFD}"/>
              </a:ext>
            </a:extLst>
          </p:cNvPr>
          <p:cNvSpPr txBox="1"/>
          <p:nvPr/>
        </p:nvSpPr>
        <p:spPr>
          <a:xfrm>
            <a:off x="559357" y="333375"/>
            <a:ext cx="8042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2. What version of NV center is desired:</a:t>
            </a:r>
          </a:p>
        </p:txBody>
      </p:sp>
    </p:spTree>
    <p:extLst>
      <p:ext uri="{BB962C8B-B14F-4D97-AF65-F5344CB8AC3E}">
        <p14:creationId xmlns:p14="http://schemas.microsoft.com/office/powerpoint/2010/main" val="1937562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5080F-67F9-A835-05E0-252B84D98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305CCD-1329-BC9F-E4CF-FFF66D7A03A4}"/>
              </a:ext>
            </a:extLst>
          </p:cNvPr>
          <p:cNvSpPr txBox="1"/>
          <p:nvPr/>
        </p:nvSpPr>
        <p:spPr>
          <a:xfrm>
            <a:off x="416992" y="2177871"/>
            <a:ext cx="69723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en-US" sz="3600" dirty="0"/>
              <a:t>Prepare NV⁻ instead of NV⁰</a:t>
            </a:r>
          </a:p>
          <a:p>
            <a:pPr marL="742950" indent="-742950">
              <a:buAutoNum type="arabicPeriod"/>
            </a:pPr>
            <a:endParaRPr lang="en-US" sz="3600" dirty="0"/>
          </a:p>
          <a:p>
            <a:pPr marL="742950" indent="-742950">
              <a:buAutoNum type="arabicPeriod"/>
            </a:pPr>
            <a:r>
              <a:rPr lang="en-US" sz="3600" dirty="0"/>
              <a:t>Once NV⁻ is present, optically pump its ground-state spin predominantly into </a:t>
            </a:r>
            <a:r>
              <a:rPr lang="en-US" sz="3600" dirty="0" err="1"/>
              <a:t>m</a:t>
            </a:r>
            <a:r>
              <a:rPr lang="en-US" sz="3600" baseline="-25000" dirty="0" err="1"/>
              <a:t>s</a:t>
            </a:r>
            <a:r>
              <a:rPr lang="en-US" sz="3600" dirty="0"/>
              <a:t>=0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DC8AD7-2073-B813-11D1-93ED07D4BF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775"/>
          <a:stretch>
            <a:fillRect/>
          </a:stretch>
        </p:blipFill>
        <p:spPr>
          <a:xfrm>
            <a:off x="7389292" y="2302867"/>
            <a:ext cx="4663008" cy="24443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405D1D-FB84-C639-D40D-9F42DE1B4EDD}"/>
              </a:ext>
            </a:extLst>
          </p:cNvPr>
          <p:cNvSpPr txBox="1"/>
          <p:nvPr/>
        </p:nvSpPr>
        <p:spPr>
          <a:xfrm>
            <a:off x="559357" y="333375"/>
            <a:ext cx="56746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3. How to achieve NV</a:t>
            </a:r>
            <a:r>
              <a:rPr lang="en-US" sz="3200" baseline="30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</a:t>
            </a: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state:</a:t>
            </a:r>
          </a:p>
        </p:txBody>
      </p:sp>
    </p:spTree>
    <p:extLst>
      <p:ext uri="{BB962C8B-B14F-4D97-AF65-F5344CB8AC3E}">
        <p14:creationId xmlns:p14="http://schemas.microsoft.com/office/powerpoint/2010/main" val="4009182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28077E-2096-3AD7-806B-4D4450B17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0DDAC3-2655-00DD-CDB6-40C72AEDF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3" y="2183312"/>
            <a:ext cx="3634206" cy="44546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553BB4-C94A-E75B-3C99-C8F4AB310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5573" y="2212075"/>
            <a:ext cx="3634206" cy="44258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865E8E-D55B-E376-E997-3B7EA60C5901}"/>
              </a:ext>
            </a:extLst>
          </p:cNvPr>
          <p:cNvSpPr txBox="1"/>
          <p:nvPr/>
        </p:nvSpPr>
        <p:spPr>
          <a:xfrm>
            <a:off x="3733045" y="1437269"/>
            <a:ext cx="4725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Soft SemiBold"/>
                <a:ea typeface="+mn-ea"/>
                <a:cs typeface="+mn-cs"/>
              </a:rPr>
              <a:t>NV Center Electronic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036EB-7214-9421-8E8E-814D2E0AA132}"/>
              </a:ext>
            </a:extLst>
          </p:cNvPr>
          <p:cNvSpPr txBox="1"/>
          <p:nvPr/>
        </p:nvSpPr>
        <p:spPr>
          <a:xfrm>
            <a:off x="559357" y="333375"/>
            <a:ext cx="56746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3. How to achieve NV</a:t>
            </a:r>
            <a:r>
              <a:rPr lang="en-US" sz="3200" baseline="30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</a:t>
            </a: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state:</a:t>
            </a:r>
          </a:p>
        </p:txBody>
      </p:sp>
    </p:spTree>
    <p:extLst>
      <p:ext uri="{BB962C8B-B14F-4D97-AF65-F5344CB8AC3E}">
        <p14:creationId xmlns:p14="http://schemas.microsoft.com/office/powerpoint/2010/main" val="239290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61952-6254-54A8-04B6-97C99C171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4D0A62B-1B1D-7A2C-2D4C-10530B7F68E9}"/>
              </a:ext>
            </a:extLst>
          </p:cNvPr>
          <p:cNvSpPr txBox="1"/>
          <p:nvPr/>
        </p:nvSpPr>
        <p:spPr>
          <a:xfrm rot="16200000">
            <a:off x="-1435355" y="3725472"/>
            <a:ext cx="4070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60000"/>
                    <a:lumOff val="40000"/>
                  </a:srgbClr>
                </a:solidFill>
                <a:effectLst/>
                <a:uLnTx/>
                <a:uFillTx/>
                <a:latin typeface="Proxima Soft SemiBold"/>
                <a:ea typeface="+mn-ea"/>
                <a:cs typeface="+mn-cs"/>
              </a:rPr>
              <a:t>NV Center Electronic Structure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23D463F-6533-39D7-C32C-77B986EFE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800" y="2570431"/>
            <a:ext cx="2547861" cy="3821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D6847E-3847-ABAA-6504-D0B993517461}"/>
              </a:ext>
            </a:extLst>
          </p:cNvPr>
          <p:cNvSpPr/>
          <p:nvPr/>
        </p:nvSpPr>
        <p:spPr>
          <a:xfrm>
            <a:off x="3412042" y="5170975"/>
            <a:ext cx="459785" cy="1849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01E2AF-32E6-BA7C-7108-AE69647BE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981" y="2634173"/>
            <a:ext cx="3340969" cy="406107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7DD2AF-A976-CC53-CF64-B84038E43178}"/>
              </a:ext>
            </a:extLst>
          </p:cNvPr>
          <p:cNvCxnSpPr>
            <a:cxnSpLocks/>
          </p:cNvCxnSpPr>
          <p:nvPr/>
        </p:nvCxnSpPr>
        <p:spPr>
          <a:xfrm>
            <a:off x="3871827" y="5267359"/>
            <a:ext cx="3156039" cy="535083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5F738BD-9EBF-BE7E-5487-8B83E05F87E7}"/>
              </a:ext>
            </a:extLst>
          </p:cNvPr>
          <p:cNvSpPr txBox="1"/>
          <p:nvPr/>
        </p:nvSpPr>
        <p:spPr>
          <a:xfrm rot="18662583">
            <a:off x="4804938" y="2656211"/>
            <a:ext cx="2582123" cy="76140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*Not universal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local defect electric field dictates the gap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12B2A65-0D11-45EF-254F-28D98DD29082}"/>
              </a:ext>
            </a:extLst>
          </p:cNvPr>
          <p:cNvSpPr/>
          <p:nvPr/>
        </p:nvSpPr>
        <p:spPr>
          <a:xfrm>
            <a:off x="6163858" y="3917332"/>
            <a:ext cx="1005392" cy="541969"/>
          </a:xfrm>
          <a:custGeom>
            <a:avLst/>
            <a:gdLst>
              <a:gd name="csX0" fmla="*/ 0 w 1219200"/>
              <a:gd name="csY0" fmla="*/ 0 h 657225"/>
              <a:gd name="csX1" fmla="*/ 38100 w 1219200"/>
              <a:gd name="csY1" fmla="*/ 295275 h 657225"/>
              <a:gd name="csX2" fmla="*/ 47625 w 1219200"/>
              <a:gd name="csY2" fmla="*/ 333375 h 657225"/>
              <a:gd name="csX3" fmla="*/ 133350 w 1219200"/>
              <a:gd name="csY3" fmla="*/ 409575 h 657225"/>
              <a:gd name="csX4" fmla="*/ 200025 w 1219200"/>
              <a:gd name="csY4" fmla="*/ 438150 h 657225"/>
              <a:gd name="csX5" fmla="*/ 257175 w 1219200"/>
              <a:gd name="csY5" fmla="*/ 457200 h 657225"/>
              <a:gd name="csX6" fmla="*/ 371475 w 1219200"/>
              <a:gd name="csY6" fmla="*/ 476250 h 657225"/>
              <a:gd name="csX7" fmla="*/ 571500 w 1219200"/>
              <a:gd name="csY7" fmla="*/ 504825 h 657225"/>
              <a:gd name="csX8" fmla="*/ 609600 w 1219200"/>
              <a:gd name="csY8" fmla="*/ 514350 h 657225"/>
              <a:gd name="csX9" fmla="*/ 685800 w 1219200"/>
              <a:gd name="csY9" fmla="*/ 523875 h 657225"/>
              <a:gd name="csX10" fmla="*/ 781050 w 1219200"/>
              <a:gd name="csY10" fmla="*/ 561975 h 657225"/>
              <a:gd name="csX11" fmla="*/ 885825 w 1219200"/>
              <a:gd name="csY11" fmla="*/ 581025 h 657225"/>
              <a:gd name="csX12" fmla="*/ 1133475 w 1219200"/>
              <a:gd name="csY12" fmla="*/ 571500 h 657225"/>
              <a:gd name="csX13" fmla="*/ 1209675 w 1219200"/>
              <a:gd name="csY13" fmla="*/ 561975 h 657225"/>
              <a:gd name="csX14" fmla="*/ 1171575 w 1219200"/>
              <a:gd name="csY14" fmla="*/ 590550 h 657225"/>
              <a:gd name="csX15" fmla="*/ 1114425 w 1219200"/>
              <a:gd name="csY15" fmla="*/ 609600 h 657225"/>
              <a:gd name="csX16" fmla="*/ 1076325 w 1219200"/>
              <a:gd name="csY16" fmla="*/ 628650 h 657225"/>
              <a:gd name="csX17" fmla="*/ 1190625 w 1219200"/>
              <a:gd name="csY17" fmla="*/ 581025 h 657225"/>
              <a:gd name="csX18" fmla="*/ 1219200 w 1219200"/>
              <a:gd name="csY18" fmla="*/ 552450 h 657225"/>
              <a:gd name="csX19" fmla="*/ 1181100 w 1219200"/>
              <a:gd name="csY19" fmla="*/ 542925 h 657225"/>
              <a:gd name="csX20" fmla="*/ 1133475 w 1219200"/>
              <a:gd name="csY20" fmla="*/ 514350 h 657225"/>
              <a:gd name="csX21" fmla="*/ 1152525 w 1219200"/>
              <a:gd name="csY21" fmla="*/ 542925 h 657225"/>
              <a:gd name="csX22" fmla="*/ 1190625 w 1219200"/>
              <a:gd name="csY22" fmla="*/ 552450 h 657225"/>
              <a:gd name="csX23" fmla="*/ 1162050 w 1219200"/>
              <a:gd name="csY23" fmla="*/ 542925 h 657225"/>
              <a:gd name="csX24" fmla="*/ 1095375 w 1219200"/>
              <a:gd name="csY24" fmla="*/ 523875 h 657225"/>
              <a:gd name="csX25" fmla="*/ 1057275 w 1219200"/>
              <a:gd name="csY25" fmla="*/ 533400 h 657225"/>
              <a:gd name="csX26" fmla="*/ 1066800 w 1219200"/>
              <a:gd name="csY26" fmla="*/ 581025 h 657225"/>
              <a:gd name="csX27" fmla="*/ 1085850 w 1219200"/>
              <a:gd name="csY27" fmla="*/ 628650 h 657225"/>
              <a:gd name="csX28" fmla="*/ 1095375 w 1219200"/>
              <a:gd name="csY28" fmla="*/ 657225 h 657225"/>
              <a:gd name="csX29" fmla="*/ 1095375 w 1219200"/>
              <a:gd name="csY29" fmla="*/ 581025 h 657225"/>
              <a:gd name="csX30" fmla="*/ 1057275 w 1219200"/>
              <a:gd name="csY30" fmla="*/ 571500 h 657225"/>
              <a:gd name="csX31" fmla="*/ 1143000 w 1219200"/>
              <a:gd name="csY31" fmla="*/ 590550 h 657225"/>
              <a:gd name="csX32" fmla="*/ 1114425 w 1219200"/>
              <a:gd name="csY32" fmla="*/ 561975 h 657225"/>
              <a:gd name="csX33" fmla="*/ 1104900 w 1219200"/>
              <a:gd name="csY33" fmla="*/ 533400 h 657225"/>
              <a:gd name="csX34" fmla="*/ 1162050 w 1219200"/>
              <a:gd name="csY34" fmla="*/ 542925 h 657225"/>
              <a:gd name="csX35" fmla="*/ 1133475 w 1219200"/>
              <a:gd name="csY35" fmla="*/ 581025 h 657225"/>
              <a:gd name="csX36" fmla="*/ 1085850 w 1219200"/>
              <a:gd name="csY36" fmla="*/ 533400 h 657225"/>
              <a:gd name="csX37" fmla="*/ 1057275 w 1219200"/>
              <a:gd name="csY37" fmla="*/ 542925 h 657225"/>
              <a:gd name="csX38" fmla="*/ 1095375 w 1219200"/>
              <a:gd name="csY38" fmla="*/ 619125 h 657225"/>
              <a:gd name="csX39" fmla="*/ 1143000 w 1219200"/>
              <a:gd name="csY39" fmla="*/ 590550 h 657225"/>
              <a:gd name="csX40" fmla="*/ 1076325 w 1219200"/>
              <a:gd name="csY40" fmla="*/ 552450 h 657225"/>
              <a:gd name="csX41" fmla="*/ 1076325 w 1219200"/>
              <a:gd name="csY41" fmla="*/ 590550 h 657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219200" h="657225">
                <a:moveTo>
                  <a:pt x="0" y="0"/>
                </a:moveTo>
                <a:cubicBezTo>
                  <a:pt x="9761" y="165929"/>
                  <a:pt x="242" y="143845"/>
                  <a:pt x="38100" y="295275"/>
                </a:cubicBezTo>
                <a:cubicBezTo>
                  <a:pt x="41275" y="307975"/>
                  <a:pt x="40118" y="322651"/>
                  <a:pt x="47625" y="333375"/>
                </a:cubicBezTo>
                <a:cubicBezTo>
                  <a:pt x="61218" y="352793"/>
                  <a:pt x="104307" y="395053"/>
                  <a:pt x="133350" y="409575"/>
                </a:cubicBezTo>
                <a:cubicBezTo>
                  <a:pt x="154977" y="420389"/>
                  <a:pt x="177457" y="429470"/>
                  <a:pt x="200025" y="438150"/>
                </a:cubicBezTo>
                <a:cubicBezTo>
                  <a:pt x="218767" y="445358"/>
                  <a:pt x="237573" y="452844"/>
                  <a:pt x="257175" y="457200"/>
                </a:cubicBezTo>
                <a:cubicBezTo>
                  <a:pt x="294881" y="465579"/>
                  <a:pt x="333678" y="468293"/>
                  <a:pt x="371475" y="476250"/>
                </a:cubicBezTo>
                <a:cubicBezTo>
                  <a:pt x="540201" y="511771"/>
                  <a:pt x="300956" y="485500"/>
                  <a:pt x="571500" y="504825"/>
                </a:cubicBezTo>
                <a:cubicBezTo>
                  <a:pt x="584200" y="508000"/>
                  <a:pt x="596687" y="512198"/>
                  <a:pt x="609600" y="514350"/>
                </a:cubicBezTo>
                <a:cubicBezTo>
                  <a:pt x="634849" y="518558"/>
                  <a:pt x="661136" y="517024"/>
                  <a:pt x="685800" y="523875"/>
                </a:cubicBezTo>
                <a:cubicBezTo>
                  <a:pt x="718748" y="533027"/>
                  <a:pt x="748609" y="551161"/>
                  <a:pt x="781050" y="561975"/>
                </a:cubicBezTo>
                <a:cubicBezTo>
                  <a:pt x="794363" y="566413"/>
                  <a:pt x="876230" y="579426"/>
                  <a:pt x="885825" y="581025"/>
                </a:cubicBezTo>
                <a:cubicBezTo>
                  <a:pt x="968375" y="577850"/>
                  <a:pt x="1051007" y="576351"/>
                  <a:pt x="1133475" y="571500"/>
                </a:cubicBezTo>
                <a:cubicBezTo>
                  <a:pt x="1159028" y="569997"/>
                  <a:pt x="1186780" y="550527"/>
                  <a:pt x="1209675" y="561975"/>
                </a:cubicBezTo>
                <a:cubicBezTo>
                  <a:pt x="1223874" y="569075"/>
                  <a:pt x="1185774" y="583450"/>
                  <a:pt x="1171575" y="590550"/>
                </a:cubicBezTo>
                <a:cubicBezTo>
                  <a:pt x="1153614" y="599530"/>
                  <a:pt x="1132386" y="600620"/>
                  <a:pt x="1114425" y="609600"/>
                </a:cubicBezTo>
                <a:cubicBezTo>
                  <a:pt x="1101725" y="615950"/>
                  <a:pt x="1062402" y="631435"/>
                  <a:pt x="1076325" y="628650"/>
                </a:cubicBezTo>
                <a:cubicBezTo>
                  <a:pt x="1115437" y="620828"/>
                  <a:pt x="1158831" y="607520"/>
                  <a:pt x="1190625" y="581025"/>
                </a:cubicBezTo>
                <a:cubicBezTo>
                  <a:pt x="1200973" y="572401"/>
                  <a:pt x="1209675" y="561975"/>
                  <a:pt x="1219200" y="552450"/>
                </a:cubicBezTo>
                <a:cubicBezTo>
                  <a:pt x="1206500" y="549275"/>
                  <a:pt x="1193063" y="548242"/>
                  <a:pt x="1181100" y="542925"/>
                </a:cubicBezTo>
                <a:cubicBezTo>
                  <a:pt x="1164182" y="535406"/>
                  <a:pt x="1151988" y="514350"/>
                  <a:pt x="1133475" y="514350"/>
                </a:cubicBezTo>
                <a:cubicBezTo>
                  <a:pt x="1122027" y="514350"/>
                  <a:pt x="1143000" y="536575"/>
                  <a:pt x="1152525" y="542925"/>
                </a:cubicBezTo>
                <a:cubicBezTo>
                  <a:pt x="1163417" y="550187"/>
                  <a:pt x="1177534" y="552450"/>
                  <a:pt x="1190625" y="552450"/>
                </a:cubicBezTo>
                <a:cubicBezTo>
                  <a:pt x="1200665" y="552450"/>
                  <a:pt x="1171704" y="545683"/>
                  <a:pt x="1162050" y="542925"/>
                </a:cubicBezTo>
                <a:cubicBezTo>
                  <a:pt x="1078329" y="519005"/>
                  <a:pt x="1163888" y="546713"/>
                  <a:pt x="1095375" y="523875"/>
                </a:cubicBezTo>
                <a:cubicBezTo>
                  <a:pt x="1082675" y="527050"/>
                  <a:pt x="1063129" y="521691"/>
                  <a:pt x="1057275" y="533400"/>
                </a:cubicBezTo>
                <a:cubicBezTo>
                  <a:pt x="1050035" y="547880"/>
                  <a:pt x="1062148" y="565518"/>
                  <a:pt x="1066800" y="581025"/>
                </a:cubicBezTo>
                <a:cubicBezTo>
                  <a:pt x="1071713" y="597402"/>
                  <a:pt x="1079847" y="612641"/>
                  <a:pt x="1085850" y="628650"/>
                </a:cubicBezTo>
                <a:cubicBezTo>
                  <a:pt x="1089375" y="638051"/>
                  <a:pt x="1092200" y="647700"/>
                  <a:pt x="1095375" y="657225"/>
                </a:cubicBezTo>
                <a:cubicBezTo>
                  <a:pt x="1097912" y="644539"/>
                  <a:pt x="1115574" y="597184"/>
                  <a:pt x="1095375" y="581025"/>
                </a:cubicBezTo>
                <a:cubicBezTo>
                  <a:pt x="1085153" y="572847"/>
                  <a:pt x="1044184" y="571500"/>
                  <a:pt x="1057275" y="571500"/>
                </a:cubicBezTo>
                <a:cubicBezTo>
                  <a:pt x="1069367" y="571500"/>
                  <a:pt x="1128306" y="586876"/>
                  <a:pt x="1143000" y="590550"/>
                </a:cubicBezTo>
                <a:cubicBezTo>
                  <a:pt x="1133475" y="581025"/>
                  <a:pt x="1121897" y="573183"/>
                  <a:pt x="1114425" y="561975"/>
                </a:cubicBezTo>
                <a:cubicBezTo>
                  <a:pt x="1108856" y="553621"/>
                  <a:pt x="1095578" y="537129"/>
                  <a:pt x="1104900" y="533400"/>
                </a:cubicBezTo>
                <a:cubicBezTo>
                  <a:pt x="1122831" y="526227"/>
                  <a:pt x="1143000" y="539750"/>
                  <a:pt x="1162050" y="542925"/>
                </a:cubicBezTo>
                <a:cubicBezTo>
                  <a:pt x="1152525" y="555625"/>
                  <a:pt x="1148066" y="574772"/>
                  <a:pt x="1133475" y="581025"/>
                </a:cubicBezTo>
                <a:cubicBezTo>
                  <a:pt x="1090459" y="599460"/>
                  <a:pt x="1090766" y="553065"/>
                  <a:pt x="1085850" y="533400"/>
                </a:cubicBezTo>
                <a:cubicBezTo>
                  <a:pt x="1076325" y="536575"/>
                  <a:pt x="1060450" y="533400"/>
                  <a:pt x="1057275" y="542925"/>
                </a:cubicBezTo>
                <a:cubicBezTo>
                  <a:pt x="1045108" y="579425"/>
                  <a:pt x="1075599" y="599349"/>
                  <a:pt x="1095375" y="619125"/>
                </a:cubicBezTo>
                <a:cubicBezTo>
                  <a:pt x="1111250" y="609600"/>
                  <a:pt x="1136500" y="607885"/>
                  <a:pt x="1143000" y="590550"/>
                </a:cubicBezTo>
                <a:cubicBezTo>
                  <a:pt x="1162989" y="537245"/>
                  <a:pt x="1098058" y="530717"/>
                  <a:pt x="1076325" y="552450"/>
                </a:cubicBezTo>
                <a:lnTo>
                  <a:pt x="1076325" y="590550"/>
                </a:lnTo>
              </a:path>
            </a:pathLst>
          </a:cu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F97A8E9-A952-3231-97F4-64D7B29018C9}"/>
              </a:ext>
            </a:extLst>
          </p:cNvPr>
          <p:cNvSpPr txBox="1">
            <a:spLocks/>
          </p:cNvSpPr>
          <p:nvPr/>
        </p:nvSpPr>
        <p:spPr>
          <a:xfrm rot="16200000">
            <a:off x="-529746" y="3552017"/>
            <a:ext cx="3225800" cy="5207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oxima Soft SemiBold"/>
                <a:ea typeface="+mj-ea"/>
                <a:cs typeface="+mj-cs"/>
              </a:rPr>
              <a:t>Selection Engineering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4554CE-9D73-A3B4-3F16-707341DDB36D}"/>
              </a:ext>
            </a:extLst>
          </p:cNvPr>
          <p:cNvSpPr txBox="1"/>
          <p:nvPr/>
        </p:nvSpPr>
        <p:spPr>
          <a:xfrm>
            <a:off x="3385501" y="1105031"/>
            <a:ext cx="5556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 Which Ground State to choose?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02078-B3DB-E2E2-68CB-656FB606C281}"/>
              </a:ext>
            </a:extLst>
          </p:cNvPr>
          <p:cNvSpPr txBox="1"/>
          <p:nvPr/>
        </p:nvSpPr>
        <p:spPr>
          <a:xfrm>
            <a:off x="559357" y="333375"/>
            <a:ext cx="56746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3. How to achieve NV</a:t>
            </a:r>
            <a:r>
              <a:rPr lang="en-US" sz="3200" baseline="30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</a:t>
            </a: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state:</a:t>
            </a:r>
          </a:p>
        </p:txBody>
      </p:sp>
    </p:spTree>
    <p:extLst>
      <p:ext uri="{BB962C8B-B14F-4D97-AF65-F5344CB8AC3E}">
        <p14:creationId xmlns:p14="http://schemas.microsoft.com/office/powerpoint/2010/main" val="1123143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96A23-9BAB-C597-718C-DF427CAB6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1FB1148-9B70-76A3-B9E2-AB235C6324AB}"/>
              </a:ext>
            </a:extLst>
          </p:cNvPr>
          <p:cNvSpPr txBox="1"/>
          <p:nvPr/>
        </p:nvSpPr>
        <p:spPr>
          <a:xfrm rot="16200000">
            <a:off x="-1435355" y="3725472"/>
            <a:ext cx="4070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60000"/>
                    <a:lumOff val="40000"/>
                  </a:srgbClr>
                </a:solidFill>
                <a:effectLst/>
                <a:uLnTx/>
                <a:uFillTx/>
                <a:latin typeface="Proxima Soft SemiBold"/>
                <a:ea typeface="+mn-ea"/>
                <a:cs typeface="+mn-cs"/>
              </a:rPr>
              <a:t>NV Center Electronic Structure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63BF95-C5C1-BF08-B133-3FCF38BDC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981" y="651915"/>
            <a:ext cx="4922119" cy="598302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93F04F9-4335-FD40-301B-C918252888F1}"/>
              </a:ext>
            </a:extLst>
          </p:cNvPr>
          <p:cNvSpPr txBox="1">
            <a:spLocks/>
          </p:cNvSpPr>
          <p:nvPr/>
        </p:nvSpPr>
        <p:spPr>
          <a:xfrm rot="16200000">
            <a:off x="-529746" y="3552017"/>
            <a:ext cx="3225800" cy="5207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oxima Soft SemiBold"/>
                <a:ea typeface="+mj-ea"/>
                <a:cs typeface="+mj-cs"/>
              </a:rPr>
              <a:t>Selection Engineering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B1F491-E817-7CC9-6FB4-428C14A848C5}"/>
              </a:ext>
            </a:extLst>
          </p:cNvPr>
          <p:cNvSpPr txBox="1"/>
          <p:nvPr/>
        </p:nvSpPr>
        <p:spPr>
          <a:xfrm>
            <a:off x="1885950" y="3714888"/>
            <a:ext cx="3787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*How to choose a particular state?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ED5A0-3B34-3B74-16B4-1EF1D59F3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94" y="2048284"/>
            <a:ext cx="1352739" cy="156231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FDE375-6097-01DA-2CA9-C329E8836FB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673333" y="2829443"/>
            <a:ext cx="1870467" cy="1971157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5F28CDC-483A-E65B-FFD2-648E4D0EA3B0}"/>
              </a:ext>
            </a:extLst>
          </p:cNvPr>
          <p:cNvSpPr txBox="1"/>
          <p:nvPr/>
        </p:nvSpPr>
        <p:spPr>
          <a:xfrm>
            <a:off x="559357" y="333375"/>
            <a:ext cx="56746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3. How to achieve NV</a:t>
            </a:r>
            <a:r>
              <a:rPr lang="en-US" sz="3200" baseline="30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</a:t>
            </a: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state: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8EAE03-7968-2D77-2F15-31AE8128D2F2}"/>
              </a:ext>
            </a:extLst>
          </p:cNvPr>
          <p:cNvCxnSpPr>
            <a:cxnSpLocks/>
          </p:cNvCxnSpPr>
          <p:nvPr/>
        </p:nvCxnSpPr>
        <p:spPr>
          <a:xfrm flipV="1">
            <a:off x="3779641" y="5089067"/>
            <a:ext cx="3348299" cy="711767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758EAF6-C854-51E0-3B07-44786E392C1B}"/>
              </a:ext>
            </a:extLst>
          </p:cNvPr>
          <p:cNvSpPr txBox="1"/>
          <p:nvPr/>
        </p:nvSpPr>
        <p:spPr>
          <a:xfrm>
            <a:off x="2122215" y="5855110"/>
            <a:ext cx="2698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Zero-field Splitting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(Spin-Spin interaction)</a:t>
            </a:r>
          </a:p>
        </p:txBody>
      </p:sp>
    </p:spTree>
    <p:extLst>
      <p:ext uri="{BB962C8B-B14F-4D97-AF65-F5344CB8AC3E}">
        <p14:creationId xmlns:p14="http://schemas.microsoft.com/office/powerpoint/2010/main" val="114864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BF80B-AB0C-E4A9-B09D-561FAF46A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3A58B1-BBAE-D373-92C0-53E5C37465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224" y="201034"/>
            <a:ext cx="4922119" cy="59830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568A96-CDA7-3BAB-D8B0-6751990C8CE5}"/>
              </a:ext>
            </a:extLst>
          </p:cNvPr>
          <p:cNvSpPr txBox="1"/>
          <p:nvPr/>
        </p:nvSpPr>
        <p:spPr>
          <a:xfrm>
            <a:off x="559357" y="333375"/>
            <a:ext cx="56746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3. How to achieve NV</a:t>
            </a:r>
            <a:r>
              <a:rPr lang="en-US" sz="3200" baseline="30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</a:t>
            </a: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state: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B8A07-1D90-4D40-0C05-334A23B4D59D}"/>
              </a:ext>
            </a:extLst>
          </p:cNvPr>
          <p:cNvSpPr txBox="1"/>
          <p:nvPr/>
        </p:nvSpPr>
        <p:spPr>
          <a:xfrm>
            <a:off x="559357" y="2890391"/>
            <a:ext cx="44576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*Apply laser pulses with 535 nm wavelength</a:t>
            </a:r>
          </a:p>
          <a:p>
            <a:pPr algn="ctr"/>
            <a:endParaRPr lang="en-US" sz="3200" dirty="0"/>
          </a:p>
          <a:p>
            <a:r>
              <a:rPr lang="en-US" sz="3200" dirty="0"/>
              <a:t>- </a:t>
            </a:r>
            <a:r>
              <a:rPr lang="en-US" sz="3200" b="1" dirty="0"/>
              <a:t>Where does it go?</a:t>
            </a:r>
          </a:p>
        </p:txBody>
      </p:sp>
    </p:spTree>
    <p:extLst>
      <p:ext uri="{BB962C8B-B14F-4D97-AF65-F5344CB8AC3E}">
        <p14:creationId xmlns:p14="http://schemas.microsoft.com/office/powerpoint/2010/main" val="372328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E7A8F-E533-E7A5-BC9C-78066536C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94AC13B-34C3-377B-98A3-FF874652B452}"/>
              </a:ext>
            </a:extLst>
          </p:cNvPr>
          <p:cNvSpPr txBox="1"/>
          <p:nvPr/>
        </p:nvSpPr>
        <p:spPr>
          <a:xfrm>
            <a:off x="559357" y="333375"/>
            <a:ext cx="56746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3. How to achieve NV</a:t>
            </a:r>
            <a:r>
              <a:rPr lang="en-US" sz="3200" baseline="30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</a:t>
            </a: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state: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FA2E1A-2BBD-1CF1-DED0-2528FBCBEAF9}"/>
              </a:ext>
            </a:extLst>
          </p:cNvPr>
          <p:cNvSpPr txBox="1"/>
          <p:nvPr/>
        </p:nvSpPr>
        <p:spPr>
          <a:xfrm>
            <a:off x="559357" y="2890391"/>
            <a:ext cx="44576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*Apply laser pulses with 535 nm wavelength</a:t>
            </a:r>
          </a:p>
          <a:p>
            <a:pPr algn="ctr"/>
            <a:endParaRPr lang="en-US" sz="3200" dirty="0"/>
          </a:p>
          <a:p>
            <a:r>
              <a:rPr lang="en-US" sz="3200" dirty="0">
                <a:latin typeface="Proxima Soft SemiBold"/>
              </a:rPr>
              <a:t>- </a:t>
            </a:r>
            <a:r>
              <a:rPr lang="en-US" sz="3200" b="1" dirty="0">
                <a:latin typeface="Proxima Soft SemiBold"/>
              </a:rPr>
              <a:t>Goes above and then decays back or goes to another site</a:t>
            </a:r>
          </a:p>
        </p:txBody>
      </p:sp>
      <p:grpSp>
        <p:nvGrpSpPr>
          <p:cNvPr id="8" name="Graphic 5">
            <a:extLst>
              <a:ext uri="{FF2B5EF4-FFF2-40B4-BE49-F238E27FC236}">
                <a16:creationId xmlns:a16="http://schemas.microsoft.com/office/drawing/2014/main" id="{93E137EF-ECA1-E69A-3FD4-31AE5DA6AB3D}"/>
              </a:ext>
            </a:extLst>
          </p:cNvPr>
          <p:cNvGrpSpPr/>
          <p:nvPr/>
        </p:nvGrpSpPr>
        <p:grpSpPr>
          <a:xfrm>
            <a:off x="6931322" y="768576"/>
            <a:ext cx="4755495" cy="5334845"/>
            <a:chOff x="6931322" y="768576"/>
            <a:chExt cx="4755495" cy="5334845"/>
          </a:xfrm>
        </p:grpSpPr>
        <p:grpSp>
          <p:nvGrpSpPr>
            <p:cNvPr id="9" name="Graphic 5">
              <a:extLst>
                <a:ext uri="{FF2B5EF4-FFF2-40B4-BE49-F238E27FC236}">
                  <a16:creationId xmlns:a16="http://schemas.microsoft.com/office/drawing/2014/main" id="{83C7EE47-0CEE-1146-682B-8F5BC143664D}"/>
                </a:ext>
              </a:extLst>
            </p:cNvPr>
            <p:cNvGrpSpPr/>
            <p:nvPr/>
          </p:nvGrpSpPr>
          <p:grpSpPr>
            <a:xfrm>
              <a:off x="6931322" y="768576"/>
              <a:ext cx="4755495" cy="5334845"/>
              <a:chOff x="6931322" y="768576"/>
              <a:chExt cx="4755495" cy="5334845"/>
            </a:xfrm>
            <a:noFill/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DDDCCC8-A727-D942-C466-98A3CAC0DF14}"/>
                  </a:ext>
                </a:extLst>
              </p:cNvPr>
              <p:cNvSpPr/>
              <p:nvPr/>
            </p:nvSpPr>
            <p:spPr>
              <a:xfrm>
                <a:off x="7015810" y="768576"/>
                <a:ext cx="12069" cy="5250357"/>
              </a:xfrm>
              <a:custGeom>
                <a:avLst/>
                <a:gdLst>
                  <a:gd name="csX0" fmla="*/ -93 w 12069"/>
                  <a:gd name="csY0" fmla="*/ 5250297 h 5250357"/>
                  <a:gd name="csX1" fmla="*/ -93 w 12069"/>
                  <a:gd name="csY1" fmla="*/ -60 h 52503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069" h="5250357">
                    <a:moveTo>
                      <a:pt x="-93" y="5250297"/>
                    </a:moveTo>
                    <a:lnTo>
                      <a:pt x="-93" y="-60"/>
                    </a:lnTo>
                  </a:path>
                </a:pathLst>
              </a:custGeom>
              <a:noFill/>
              <a:ln w="3136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4CC37E2-D7AC-52D4-3513-0AA0996DEC44}"/>
                  </a:ext>
                </a:extLst>
              </p:cNvPr>
              <p:cNvSpPr/>
              <p:nvPr/>
            </p:nvSpPr>
            <p:spPr>
              <a:xfrm>
                <a:off x="6931322" y="768576"/>
                <a:ext cx="168977" cy="144837"/>
              </a:xfrm>
              <a:custGeom>
                <a:avLst/>
                <a:gdLst>
                  <a:gd name="csX0" fmla="*/ -93 w 168977"/>
                  <a:gd name="csY0" fmla="*/ 144777 h 144837"/>
                  <a:gd name="csX1" fmla="*/ 84396 w 168977"/>
                  <a:gd name="csY1" fmla="*/ -60 h 144837"/>
                  <a:gd name="csX2" fmla="*/ 168884 w 168977"/>
                  <a:gd name="csY2" fmla="*/ 144777 h 1448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68977" h="144837">
                    <a:moveTo>
                      <a:pt x="-93" y="144777"/>
                    </a:moveTo>
                    <a:lnTo>
                      <a:pt x="84396" y="-60"/>
                    </a:lnTo>
                    <a:lnTo>
                      <a:pt x="168884" y="144777"/>
                    </a:lnTo>
                  </a:path>
                </a:pathLst>
              </a:custGeom>
              <a:noFill/>
              <a:ln w="3136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9FF5D5E-B1DD-F674-BC6F-C1BEE7A0F4BE}"/>
                  </a:ext>
                </a:extLst>
              </p:cNvPr>
              <p:cNvSpPr/>
              <p:nvPr/>
            </p:nvSpPr>
            <p:spPr>
              <a:xfrm>
                <a:off x="7015810" y="6018934"/>
                <a:ext cx="4671007" cy="12069"/>
              </a:xfrm>
              <a:custGeom>
                <a:avLst/>
                <a:gdLst>
                  <a:gd name="csX0" fmla="*/ -93 w 4671007"/>
                  <a:gd name="csY0" fmla="*/ -60 h 12069"/>
                  <a:gd name="csX1" fmla="*/ 4670915 w 4671007"/>
                  <a:gd name="csY1" fmla="*/ -60 h 120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671007" h="12069">
                    <a:moveTo>
                      <a:pt x="-93" y="-60"/>
                    </a:moveTo>
                    <a:lnTo>
                      <a:pt x="4670915" y="-60"/>
                    </a:lnTo>
                  </a:path>
                </a:pathLst>
              </a:custGeom>
              <a:noFill/>
              <a:ln w="3136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8EC67DF-CD60-A799-66DC-A080279312ED}"/>
                  </a:ext>
                </a:extLst>
              </p:cNvPr>
              <p:cNvSpPr/>
              <p:nvPr/>
            </p:nvSpPr>
            <p:spPr>
              <a:xfrm>
                <a:off x="11554050" y="5934445"/>
                <a:ext cx="132767" cy="168977"/>
              </a:xfrm>
              <a:custGeom>
                <a:avLst/>
                <a:gdLst>
                  <a:gd name="csX0" fmla="*/ -93 w 132767"/>
                  <a:gd name="csY0" fmla="*/ -60 h 168977"/>
                  <a:gd name="csX1" fmla="*/ 132675 w 132767"/>
                  <a:gd name="csY1" fmla="*/ 84428 h 168977"/>
                  <a:gd name="csX2" fmla="*/ -93 w 132767"/>
                  <a:gd name="csY2" fmla="*/ 168917 h 1689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32767" h="168977">
                    <a:moveTo>
                      <a:pt x="-93" y="-60"/>
                    </a:moveTo>
                    <a:lnTo>
                      <a:pt x="132675" y="84428"/>
                    </a:lnTo>
                    <a:lnTo>
                      <a:pt x="-93" y="168917"/>
                    </a:lnTo>
                  </a:path>
                </a:pathLst>
              </a:custGeom>
              <a:noFill/>
              <a:ln w="31361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aphic 5">
              <a:extLst>
                <a:ext uri="{FF2B5EF4-FFF2-40B4-BE49-F238E27FC236}">
                  <a16:creationId xmlns:a16="http://schemas.microsoft.com/office/drawing/2014/main" id="{70399CE3-EB80-86A6-6DAB-AC2940A25064}"/>
                </a:ext>
              </a:extLst>
            </p:cNvPr>
            <p:cNvGrpSpPr/>
            <p:nvPr/>
          </p:nvGrpSpPr>
          <p:grpSpPr>
            <a:xfrm>
              <a:off x="7341695" y="997902"/>
              <a:ext cx="3596796" cy="4936542"/>
              <a:chOff x="7341695" y="997902"/>
              <a:chExt cx="3596796" cy="4936542"/>
            </a:xfrm>
            <a:noFill/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C96F33EF-91E7-577D-7CBF-83EE9B575D5B}"/>
                  </a:ext>
                </a:extLst>
              </p:cNvPr>
              <p:cNvSpPr/>
              <p:nvPr/>
            </p:nvSpPr>
            <p:spPr>
              <a:xfrm>
                <a:off x="8246929" y="997902"/>
                <a:ext cx="2691562" cy="1919096"/>
              </a:xfrm>
              <a:custGeom>
                <a:avLst/>
                <a:gdLst>
                  <a:gd name="csX0" fmla="*/ -93 w 2691562"/>
                  <a:gd name="csY0" fmla="*/ -60 h 1919096"/>
                  <a:gd name="csX1" fmla="*/ 1351723 w 2691562"/>
                  <a:gd name="csY1" fmla="*/ 1919036 h 1919096"/>
                  <a:gd name="csX2" fmla="*/ 2691470 w 2691562"/>
                  <a:gd name="csY2" fmla="*/ -60 h 1919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691562" h="1919096">
                    <a:moveTo>
                      <a:pt x="-93" y="-60"/>
                    </a:moveTo>
                    <a:cubicBezTo>
                      <a:pt x="374071" y="856894"/>
                      <a:pt x="760304" y="1919036"/>
                      <a:pt x="1351723" y="1919036"/>
                    </a:cubicBezTo>
                    <a:cubicBezTo>
                      <a:pt x="1906933" y="1919036"/>
                      <a:pt x="2317306" y="832755"/>
                      <a:pt x="2691470" y="-60"/>
                    </a:cubicBezTo>
                  </a:path>
                </a:pathLst>
              </a:custGeom>
              <a:noFill/>
              <a:ln w="2653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885232A-B9DC-1A33-BAFD-379DBD9B70D0}"/>
                  </a:ext>
                </a:extLst>
              </p:cNvPr>
              <p:cNvSpPr/>
              <p:nvPr/>
            </p:nvSpPr>
            <p:spPr>
              <a:xfrm>
                <a:off x="7341695" y="4039489"/>
                <a:ext cx="2679492" cy="1894956"/>
              </a:xfrm>
              <a:custGeom>
                <a:avLst/>
                <a:gdLst>
                  <a:gd name="csX0" fmla="*/ -93 w 2679492"/>
                  <a:gd name="csY0" fmla="*/ -60 h 1894956"/>
                  <a:gd name="csX1" fmla="*/ 1339653 w 2679492"/>
                  <a:gd name="csY1" fmla="*/ 1894896 h 1894956"/>
                  <a:gd name="csX2" fmla="*/ 2679400 w 2679492"/>
                  <a:gd name="csY2" fmla="*/ -60 h 18949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679492" h="1894956">
                    <a:moveTo>
                      <a:pt x="-93" y="-60"/>
                    </a:moveTo>
                    <a:cubicBezTo>
                      <a:pt x="410280" y="808615"/>
                      <a:pt x="832722" y="1894896"/>
                      <a:pt x="1339653" y="1894896"/>
                    </a:cubicBezTo>
                    <a:cubicBezTo>
                      <a:pt x="1834515" y="1894896"/>
                      <a:pt x="2293167" y="784476"/>
                      <a:pt x="2679400" y="-60"/>
                    </a:cubicBezTo>
                  </a:path>
                </a:pathLst>
              </a:custGeom>
              <a:noFill/>
              <a:ln w="2653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07D76EA-E444-2560-A18C-21BA9F50DE55}"/>
                  </a:ext>
                </a:extLst>
              </p:cNvPr>
              <p:cNvSpPr/>
              <p:nvPr/>
            </p:nvSpPr>
            <p:spPr>
              <a:xfrm>
                <a:off x="8415906" y="1323787"/>
                <a:ext cx="2353608" cy="12069"/>
              </a:xfrm>
              <a:custGeom>
                <a:avLst/>
                <a:gdLst>
                  <a:gd name="csX0" fmla="*/ -93 w 2353608"/>
                  <a:gd name="csY0" fmla="*/ -60 h 12069"/>
                  <a:gd name="csX1" fmla="*/ 2353516 w 2353608"/>
                  <a:gd name="csY1" fmla="*/ -60 h 120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353608" h="12069">
                    <a:moveTo>
                      <a:pt x="-93" y="-60"/>
                    </a:moveTo>
                    <a:lnTo>
                      <a:pt x="2353516" y="-60"/>
                    </a:lnTo>
                  </a:path>
                </a:pathLst>
              </a:custGeom>
              <a:noFill/>
              <a:ln w="2653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93BB725-13B0-A072-036C-B5EDE5937B5B}"/>
                  </a:ext>
                </a:extLst>
              </p:cNvPr>
              <p:cNvSpPr/>
              <p:nvPr/>
            </p:nvSpPr>
            <p:spPr>
              <a:xfrm>
                <a:off x="8572813" y="1697950"/>
                <a:ext cx="2039793" cy="12069"/>
              </a:xfrm>
              <a:custGeom>
                <a:avLst/>
                <a:gdLst>
                  <a:gd name="csX0" fmla="*/ -93 w 2039793"/>
                  <a:gd name="csY0" fmla="*/ -60 h 12069"/>
                  <a:gd name="csX1" fmla="*/ 2039701 w 2039793"/>
                  <a:gd name="csY1" fmla="*/ -60 h 120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39793" h="12069">
                    <a:moveTo>
                      <a:pt x="-93" y="-60"/>
                    </a:moveTo>
                    <a:lnTo>
                      <a:pt x="2039701" y="-60"/>
                    </a:lnTo>
                  </a:path>
                </a:pathLst>
              </a:custGeom>
              <a:noFill/>
              <a:ln w="2653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B915CD0-9E4A-AE23-6105-9A4C5FC64D71}"/>
                  </a:ext>
                </a:extLst>
              </p:cNvPr>
              <p:cNvSpPr/>
              <p:nvPr/>
            </p:nvSpPr>
            <p:spPr>
              <a:xfrm>
                <a:off x="8802139" y="2072113"/>
                <a:ext cx="1605281" cy="12069"/>
              </a:xfrm>
              <a:custGeom>
                <a:avLst/>
                <a:gdLst>
                  <a:gd name="csX0" fmla="*/ -93 w 1605281"/>
                  <a:gd name="csY0" fmla="*/ -60 h 12069"/>
                  <a:gd name="csX1" fmla="*/ 1605189 w 1605281"/>
                  <a:gd name="csY1" fmla="*/ -60 h 120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05281" h="12069">
                    <a:moveTo>
                      <a:pt x="-93" y="-60"/>
                    </a:moveTo>
                    <a:lnTo>
                      <a:pt x="1605189" y="-60"/>
                    </a:lnTo>
                  </a:path>
                </a:pathLst>
              </a:custGeom>
              <a:noFill/>
              <a:ln w="2653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73EE913-71FB-B7D2-A8D5-5AD63AF0248F}"/>
                  </a:ext>
                </a:extLst>
              </p:cNvPr>
              <p:cNvSpPr/>
              <p:nvPr/>
            </p:nvSpPr>
            <p:spPr>
              <a:xfrm>
                <a:off x="7510672" y="4329163"/>
                <a:ext cx="2341538" cy="12069"/>
              </a:xfrm>
              <a:custGeom>
                <a:avLst/>
                <a:gdLst>
                  <a:gd name="csX0" fmla="*/ -93 w 2341538"/>
                  <a:gd name="csY0" fmla="*/ -60 h 12069"/>
                  <a:gd name="csX1" fmla="*/ 2341446 w 2341538"/>
                  <a:gd name="csY1" fmla="*/ -60 h 120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341538" h="12069">
                    <a:moveTo>
                      <a:pt x="-93" y="-60"/>
                    </a:moveTo>
                    <a:lnTo>
                      <a:pt x="2341446" y="-60"/>
                    </a:lnTo>
                  </a:path>
                </a:pathLst>
              </a:custGeom>
              <a:noFill/>
              <a:ln w="2653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866E3C8-BFB4-20B0-9483-F9CEE9384C57}"/>
                  </a:ext>
                </a:extLst>
              </p:cNvPr>
              <p:cNvSpPr/>
              <p:nvPr/>
            </p:nvSpPr>
            <p:spPr>
              <a:xfrm>
                <a:off x="7691718" y="4715397"/>
                <a:ext cx="2003584" cy="12069"/>
              </a:xfrm>
              <a:custGeom>
                <a:avLst/>
                <a:gdLst>
                  <a:gd name="csX0" fmla="*/ -93 w 2003584"/>
                  <a:gd name="csY0" fmla="*/ -60 h 12069"/>
                  <a:gd name="csX1" fmla="*/ 2003492 w 2003584"/>
                  <a:gd name="csY1" fmla="*/ -60 h 120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03584" h="12069">
                    <a:moveTo>
                      <a:pt x="-93" y="-60"/>
                    </a:moveTo>
                    <a:lnTo>
                      <a:pt x="2003492" y="-60"/>
                    </a:lnTo>
                  </a:path>
                </a:pathLst>
              </a:custGeom>
              <a:noFill/>
              <a:ln w="2653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FF1EC66-ED83-9F4D-30C0-E72C3A27C892}"/>
                  </a:ext>
                </a:extLst>
              </p:cNvPr>
              <p:cNvSpPr/>
              <p:nvPr/>
            </p:nvSpPr>
            <p:spPr>
              <a:xfrm>
                <a:off x="7969324" y="5101630"/>
                <a:ext cx="1557002" cy="12069"/>
              </a:xfrm>
              <a:custGeom>
                <a:avLst/>
                <a:gdLst>
                  <a:gd name="csX0" fmla="*/ -93 w 1557002"/>
                  <a:gd name="csY0" fmla="*/ -60 h 12069"/>
                  <a:gd name="csX1" fmla="*/ 1556910 w 1557002"/>
                  <a:gd name="csY1" fmla="*/ -60 h 120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57002" h="12069">
                    <a:moveTo>
                      <a:pt x="-93" y="-60"/>
                    </a:moveTo>
                    <a:lnTo>
                      <a:pt x="1556910" y="-60"/>
                    </a:lnTo>
                  </a:path>
                </a:pathLst>
              </a:custGeom>
              <a:noFill/>
              <a:ln w="26536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aphic 5">
              <a:extLst>
                <a:ext uri="{FF2B5EF4-FFF2-40B4-BE49-F238E27FC236}">
                  <a16:creationId xmlns:a16="http://schemas.microsoft.com/office/drawing/2014/main" id="{3B54AE66-ABA9-14D2-E25C-EAC6816EA888}"/>
                </a:ext>
              </a:extLst>
            </p:cNvPr>
            <p:cNvGrpSpPr/>
            <p:nvPr/>
          </p:nvGrpSpPr>
          <p:grpSpPr>
            <a:xfrm>
              <a:off x="8693511" y="2446277"/>
              <a:ext cx="2932958" cy="3029516"/>
              <a:chOff x="8693511" y="2446277"/>
              <a:chExt cx="2932958" cy="3029516"/>
            </a:xfrm>
            <a:solidFill>
              <a:srgbClr val="000000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23273FD-1E16-3391-9558-0286AE2798CE}"/>
                  </a:ext>
                </a:extLst>
              </p:cNvPr>
              <p:cNvSpPr/>
              <p:nvPr/>
            </p:nvSpPr>
            <p:spPr>
              <a:xfrm>
                <a:off x="9236651" y="2446277"/>
                <a:ext cx="2389817" cy="12069"/>
              </a:xfrm>
              <a:custGeom>
                <a:avLst/>
                <a:gdLst>
                  <a:gd name="csX0" fmla="*/ -93 w 2389817"/>
                  <a:gd name="csY0" fmla="*/ -60 h 12069"/>
                  <a:gd name="csX1" fmla="*/ 2389725 w 2389817"/>
                  <a:gd name="csY1" fmla="*/ -60 h 120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389817" h="12069">
                    <a:moveTo>
                      <a:pt x="-93" y="-60"/>
                    </a:moveTo>
                    <a:lnTo>
                      <a:pt x="2389725" y="-60"/>
                    </a:lnTo>
                  </a:path>
                </a:pathLst>
              </a:custGeom>
              <a:solidFill>
                <a:srgbClr val="000000"/>
              </a:solidFill>
              <a:ln w="14474" cap="flat">
                <a:solidFill>
                  <a:srgbClr val="555555"/>
                </a:solidFill>
                <a:custDash>
                  <a:ds d="525000" sp="300000"/>
                </a:custDash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80E88B02-A72C-3EA1-9132-6856156669B7}"/>
                  </a:ext>
                </a:extLst>
              </p:cNvPr>
              <p:cNvSpPr/>
              <p:nvPr/>
            </p:nvSpPr>
            <p:spPr>
              <a:xfrm>
                <a:off x="8693511" y="5475793"/>
                <a:ext cx="2932958" cy="12069"/>
              </a:xfrm>
              <a:custGeom>
                <a:avLst/>
                <a:gdLst>
                  <a:gd name="csX0" fmla="*/ -93 w 2932958"/>
                  <a:gd name="csY0" fmla="*/ -60 h 12069"/>
                  <a:gd name="csX1" fmla="*/ 2932865 w 2932958"/>
                  <a:gd name="csY1" fmla="*/ -60 h 120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932958" h="12069">
                    <a:moveTo>
                      <a:pt x="-93" y="-60"/>
                    </a:moveTo>
                    <a:lnTo>
                      <a:pt x="2932865" y="-60"/>
                    </a:lnTo>
                  </a:path>
                </a:pathLst>
              </a:custGeom>
              <a:solidFill>
                <a:srgbClr val="000000"/>
              </a:solidFill>
              <a:ln w="14474" cap="flat">
                <a:solidFill>
                  <a:srgbClr val="555555"/>
                </a:solidFill>
                <a:custDash>
                  <a:ds d="525000" sp="300000"/>
                </a:custDash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" name="Graphic 5">
              <a:extLst>
                <a:ext uri="{FF2B5EF4-FFF2-40B4-BE49-F238E27FC236}">
                  <a16:creationId xmlns:a16="http://schemas.microsoft.com/office/drawing/2014/main" id="{E27A206C-5665-6BBA-3B19-355E1296A9FE}"/>
                </a:ext>
              </a:extLst>
            </p:cNvPr>
            <p:cNvGrpSpPr/>
            <p:nvPr/>
          </p:nvGrpSpPr>
          <p:grpSpPr>
            <a:xfrm>
              <a:off x="7148578" y="1378154"/>
              <a:ext cx="1025265" cy="3469710"/>
              <a:chOff x="7148578" y="1378154"/>
              <a:chExt cx="1025265" cy="3469710"/>
            </a:xfrm>
            <a:solidFill>
              <a:srgbClr val="000000"/>
            </a:solidFill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1E7E52-E82A-BC43-D288-096BC31C9134}"/>
                  </a:ext>
                </a:extLst>
              </p:cNvPr>
              <p:cNvSpPr txBox="1"/>
              <p:nvPr/>
            </p:nvSpPr>
            <p:spPr>
              <a:xfrm>
                <a:off x="7829604" y="1332434"/>
                <a:ext cx="435679" cy="3988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725" i="1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³E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A800397-FDFF-4CF4-AEA0-AB384692443A}"/>
                  </a:ext>
                </a:extLst>
              </p:cNvPr>
              <p:cNvSpPr txBox="1"/>
              <p:nvPr/>
            </p:nvSpPr>
            <p:spPr>
              <a:xfrm>
                <a:off x="7057138" y="4494718"/>
                <a:ext cx="518906" cy="3988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725" i="1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³A₂</a:t>
                </a:r>
              </a:p>
            </p:txBody>
          </p:sp>
        </p:grp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3EDA582-5591-34A5-38B8-56EC9BB0E921}"/>
                </a:ext>
              </a:extLst>
            </p:cNvPr>
            <p:cNvSpPr/>
            <p:nvPr/>
          </p:nvSpPr>
          <p:spPr>
            <a:xfrm>
              <a:off x="8621092" y="1323787"/>
              <a:ext cx="156907" cy="4152006"/>
            </a:xfrm>
            <a:custGeom>
              <a:avLst/>
              <a:gdLst>
                <a:gd name="csX0" fmla="*/ 48186 w 156907"/>
                <a:gd name="csY0" fmla="*/ 4151946 h 4152006"/>
                <a:gd name="csX1" fmla="*/ 48186 w 156907"/>
                <a:gd name="csY1" fmla="*/ 144777 h 4152006"/>
                <a:gd name="csX2" fmla="*/ -93 w 156907"/>
                <a:gd name="csY2" fmla="*/ 144777 h 4152006"/>
                <a:gd name="csX3" fmla="*/ 72326 w 156907"/>
                <a:gd name="csY3" fmla="*/ -60 h 4152006"/>
                <a:gd name="csX4" fmla="*/ 156814 w 156907"/>
                <a:gd name="csY4" fmla="*/ 144777 h 4152006"/>
                <a:gd name="csX5" fmla="*/ 108535 w 156907"/>
                <a:gd name="csY5" fmla="*/ 144777 h 4152006"/>
                <a:gd name="csX6" fmla="*/ 108535 w 156907"/>
                <a:gd name="csY6" fmla="*/ 4151946 h 41520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56907" h="4152006">
                  <a:moveTo>
                    <a:pt x="48186" y="4151946"/>
                  </a:moveTo>
                  <a:lnTo>
                    <a:pt x="48186" y="144777"/>
                  </a:lnTo>
                  <a:lnTo>
                    <a:pt x="-93" y="144777"/>
                  </a:lnTo>
                  <a:lnTo>
                    <a:pt x="72326" y="-60"/>
                  </a:lnTo>
                  <a:lnTo>
                    <a:pt x="156814" y="144777"/>
                  </a:lnTo>
                  <a:lnTo>
                    <a:pt x="108535" y="144777"/>
                  </a:lnTo>
                  <a:lnTo>
                    <a:pt x="108535" y="4151946"/>
                  </a:lnTo>
                  <a:close/>
                </a:path>
              </a:pathLst>
            </a:custGeom>
            <a:solidFill>
              <a:srgbClr val="0000FF"/>
            </a:solidFill>
            <a:ln w="1206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7DA044C-01B9-0A51-4743-97B657490AF9}"/>
                </a:ext>
              </a:extLst>
            </p:cNvPr>
            <p:cNvSpPr/>
            <p:nvPr/>
          </p:nvSpPr>
          <p:spPr>
            <a:xfrm>
              <a:off x="9354875" y="1323787"/>
              <a:ext cx="193116" cy="1122490"/>
            </a:xfrm>
            <a:custGeom>
              <a:avLst/>
              <a:gdLst>
                <a:gd name="csX0" fmla="*/ 48186 w 193116"/>
                <a:gd name="csY0" fmla="*/ -60 h 1122490"/>
                <a:gd name="csX1" fmla="*/ 132675 w 193116"/>
                <a:gd name="csY1" fmla="*/ -60 h 1122490"/>
                <a:gd name="csX2" fmla="*/ 132675 w 193116"/>
                <a:gd name="csY2" fmla="*/ 965523 h 1122490"/>
                <a:gd name="csX3" fmla="*/ 193024 w 193116"/>
                <a:gd name="csY3" fmla="*/ 965523 h 1122490"/>
                <a:gd name="csX4" fmla="*/ 96465 w 193116"/>
                <a:gd name="csY4" fmla="*/ 1122430 h 1122490"/>
                <a:gd name="csX5" fmla="*/ -93 w 193116"/>
                <a:gd name="csY5" fmla="*/ 965523 h 1122490"/>
                <a:gd name="csX6" fmla="*/ 48186 w 193116"/>
                <a:gd name="csY6" fmla="*/ 965523 h 11224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3116" h="1122490">
                  <a:moveTo>
                    <a:pt x="48186" y="-60"/>
                  </a:moveTo>
                  <a:lnTo>
                    <a:pt x="132675" y="-60"/>
                  </a:lnTo>
                  <a:lnTo>
                    <a:pt x="132675" y="965523"/>
                  </a:lnTo>
                  <a:lnTo>
                    <a:pt x="193024" y="965523"/>
                  </a:lnTo>
                  <a:lnTo>
                    <a:pt x="96465" y="1122430"/>
                  </a:lnTo>
                  <a:lnTo>
                    <a:pt x="-93" y="965523"/>
                  </a:lnTo>
                  <a:lnTo>
                    <a:pt x="48186" y="965523"/>
                  </a:lnTo>
                  <a:close/>
                </a:path>
              </a:pathLst>
            </a:custGeom>
            <a:solidFill>
              <a:srgbClr val="000000"/>
            </a:solidFill>
            <a:ln w="1206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5D5D289-7349-A0D8-834F-56D84442A939}"/>
                </a:ext>
              </a:extLst>
            </p:cNvPr>
            <p:cNvSpPr/>
            <p:nvPr/>
          </p:nvSpPr>
          <p:spPr>
            <a:xfrm>
              <a:off x="9140093" y="2446277"/>
              <a:ext cx="193116" cy="2281189"/>
            </a:xfrm>
            <a:custGeom>
              <a:avLst/>
              <a:gdLst>
                <a:gd name="csX0" fmla="*/ 48186 w 193116"/>
                <a:gd name="csY0" fmla="*/ -60 h 2281189"/>
                <a:gd name="csX1" fmla="*/ 132675 w 193116"/>
                <a:gd name="csY1" fmla="*/ -60 h 2281189"/>
                <a:gd name="csX2" fmla="*/ 132675 w 193116"/>
                <a:gd name="csY2" fmla="*/ 2112152 h 2281189"/>
                <a:gd name="csX3" fmla="*/ 193024 w 193116"/>
                <a:gd name="csY3" fmla="*/ 2112152 h 2281189"/>
                <a:gd name="csX4" fmla="*/ 96465 w 193116"/>
                <a:gd name="csY4" fmla="*/ 2281129 h 2281189"/>
                <a:gd name="csX5" fmla="*/ -93 w 193116"/>
                <a:gd name="csY5" fmla="*/ 2112152 h 2281189"/>
                <a:gd name="csX6" fmla="*/ 48186 w 193116"/>
                <a:gd name="csY6" fmla="*/ 2112152 h 22811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3116" h="2281189">
                  <a:moveTo>
                    <a:pt x="48186" y="-60"/>
                  </a:moveTo>
                  <a:lnTo>
                    <a:pt x="132675" y="-60"/>
                  </a:lnTo>
                  <a:lnTo>
                    <a:pt x="132675" y="2112152"/>
                  </a:lnTo>
                  <a:lnTo>
                    <a:pt x="193024" y="2112152"/>
                  </a:lnTo>
                  <a:lnTo>
                    <a:pt x="96465" y="2281129"/>
                  </a:lnTo>
                  <a:lnTo>
                    <a:pt x="-93" y="2112152"/>
                  </a:lnTo>
                  <a:lnTo>
                    <a:pt x="48186" y="2112152"/>
                  </a:lnTo>
                  <a:close/>
                </a:path>
              </a:pathLst>
            </a:custGeom>
            <a:solidFill>
              <a:srgbClr val="FF0000"/>
            </a:solidFill>
            <a:ln w="1206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953A5D2-D15A-E024-5393-78946F3A6D92}"/>
                </a:ext>
              </a:extLst>
            </p:cNvPr>
            <p:cNvSpPr/>
            <p:nvPr/>
          </p:nvSpPr>
          <p:spPr>
            <a:xfrm>
              <a:off x="8949173" y="4715674"/>
              <a:ext cx="193116" cy="736257"/>
            </a:xfrm>
            <a:custGeom>
              <a:avLst/>
              <a:gdLst>
                <a:gd name="csX0" fmla="*/ 48186 w 193116"/>
                <a:gd name="csY0" fmla="*/ -60 h 736257"/>
                <a:gd name="csX1" fmla="*/ 132675 w 193116"/>
                <a:gd name="csY1" fmla="*/ -60 h 736257"/>
                <a:gd name="csX2" fmla="*/ 132675 w 193116"/>
                <a:gd name="csY2" fmla="*/ 579289 h 736257"/>
                <a:gd name="csX3" fmla="*/ 193024 w 193116"/>
                <a:gd name="csY3" fmla="*/ 579289 h 736257"/>
                <a:gd name="csX4" fmla="*/ 96465 w 193116"/>
                <a:gd name="csY4" fmla="*/ 736197 h 736257"/>
                <a:gd name="csX5" fmla="*/ -93 w 193116"/>
                <a:gd name="csY5" fmla="*/ 579289 h 736257"/>
                <a:gd name="csX6" fmla="*/ 48186 w 193116"/>
                <a:gd name="csY6" fmla="*/ 579289 h 7362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3116" h="736257">
                  <a:moveTo>
                    <a:pt x="48186" y="-60"/>
                  </a:moveTo>
                  <a:lnTo>
                    <a:pt x="132675" y="-60"/>
                  </a:lnTo>
                  <a:lnTo>
                    <a:pt x="132675" y="579289"/>
                  </a:lnTo>
                  <a:lnTo>
                    <a:pt x="193024" y="579289"/>
                  </a:lnTo>
                  <a:lnTo>
                    <a:pt x="96465" y="736197"/>
                  </a:lnTo>
                  <a:lnTo>
                    <a:pt x="-93" y="579289"/>
                  </a:lnTo>
                  <a:lnTo>
                    <a:pt x="48186" y="579289"/>
                  </a:lnTo>
                  <a:close/>
                </a:path>
              </a:pathLst>
            </a:custGeom>
            <a:solidFill>
              <a:srgbClr val="000000"/>
            </a:solidFill>
            <a:ln w="1206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647FB82-B01D-6264-53B2-AD923B6AB275}"/>
                </a:ext>
              </a:extLst>
            </p:cNvPr>
            <p:cNvSpPr/>
            <p:nvPr/>
          </p:nvSpPr>
          <p:spPr>
            <a:xfrm>
              <a:off x="11360933" y="2446277"/>
              <a:ext cx="120697" cy="3029516"/>
            </a:xfrm>
            <a:custGeom>
              <a:avLst/>
              <a:gdLst>
                <a:gd name="csX0" fmla="*/ 36116 w 120697"/>
                <a:gd name="csY0" fmla="*/ 3029456 h 3029516"/>
                <a:gd name="csX1" fmla="*/ 36116 w 120697"/>
                <a:gd name="csY1" fmla="*/ 12009 h 3029516"/>
                <a:gd name="csX2" fmla="*/ -93 w 120697"/>
                <a:gd name="csY2" fmla="*/ 12009 h 3029516"/>
                <a:gd name="csX3" fmla="*/ 60256 w 120697"/>
                <a:gd name="csY3" fmla="*/ -60 h 3029516"/>
                <a:gd name="csX4" fmla="*/ 120605 w 120697"/>
                <a:gd name="csY4" fmla="*/ 132707 h 3029516"/>
                <a:gd name="csX5" fmla="*/ 84396 w 120697"/>
                <a:gd name="csY5" fmla="*/ 132707 h 3029516"/>
                <a:gd name="csX6" fmla="*/ 84396 w 120697"/>
                <a:gd name="csY6" fmla="*/ 3029456 h 3029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0697" h="3029516">
                  <a:moveTo>
                    <a:pt x="36116" y="3029456"/>
                  </a:moveTo>
                  <a:lnTo>
                    <a:pt x="36116" y="12009"/>
                  </a:lnTo>
                  <a:lnTo>
                    <a:pt x="-93" y="12009"/>
                  </a:lnTo>
                  <a:lnTo>
                    <a:pt x="60256" y="-60"/>
                  </a:lnTo>
                  <a:lnTo>
                    <a:pt x="120605" y="132707"/>
                  </a:lnTo>
                  <a:lnTo>
                    <a:pt x="84396" y="132707"/>
                  </a:lnTo>
                  <a:lnTo>
                    <a:pt x="84396" y="3029456"/>
                  </a:lnTo>
                  <a:close/>
                </a:path>
              </a:pathLst>
            </a:custGeom>
            <a:solidFill>
              <a:srgbClr val="00AD4C"/>
            </a:solidFill>
            <a:ln w="12062" cap="flat">
              <a:solidFill>
                <a:srgbClr val="00AD4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EBA6F67-F1E4-033F-F425-1DF3BF57911F}"/>
                </a:ext>
              </a:extLst>
            </p:cNvPr>
            <p:cNvSpPr/>
            <p:nvPr/>
          </p:nvSpPr>
          <p:spPr>
            <a:xfrm>
              <a:off x="11348864" y="2446277"/>
              <a:ext cx="144837" cy="132767"/>
            </a:xfrm>
            <a:custGeom>
              <a:avLst/>
              <a:gdLst>
                <a:gd name="csX0" fmla="*/ -93 w 144837"/>
                <a:gd name="csY0" fmla="*/ 132707 h 132767"/>
                <a:gd name="csX1" fmla="*/ 72326 w 144837"/>
                <a:gd name="csY1" fmla="*/ -60 h 132767"/>
                <a:gd name="csX2" fmla="*/ 144745 w 144837"/>
                <a:gd name="csY2" fmla="*/ 132707 h 132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4837" h="132767">
                  <a:moveTo>
                    <a:pt x="-93" y="132707"/>
                  </a:moveTo>
                  <a:lnTo>
                    <a:pt x="72326" y="-60"/>
                  </a:lnTo>
                  <a:lnTo>
                    <a:pt x="144745" y="132707"/>
                  </a:lnTo>
                </a:path>
              </a:pathLst>
            </a:custGeom>
            <a:solidFill>
              <a:srgbClr val="00AD4C"/>
            </a:solidFill>
            <a:ln w="24124" cap="flat">
              <a:solidFill>
                <a:srgbClr val="00AD4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2FC743B-46A7-5B12-5663-09F6875DF11B}"/>
                </a:ext>
              </a:extLst>
            </p:cNvPr>
            <p:cNvSpPr/>
            <p:nvPr/>
          </p:nvSpPr>
          <p:spPr>
            <a:xfrm>
              <a:off x="11348864" y="5343026"/>
              <a:ext cx="144837" cy="132767"/>
            </a:xfrm>
            <a:custGeom>
              <a:avLst/>
              <a:gdLst>
                <a:gd name="csX0" fmla="*/ -93 w 144837"/>
                <a:gd name="csY0" fmla="*/ -60 h 132767"/>
                <a:gd name="csX1" fmla="*/ 72326 w 144837"/>
                <a:gd name="csY1" fmla="*/ 132707 h 132767"/>
                <a:gd name="csX2" fmla="*/ 144745 w 144837"/>
                <a:gd name="csY2" fmla="*/ -60 h 132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4837" h="132767">
                  <a:moveTo>
                    <a:pt x="-93" y="-60"/>
                  </a:moveTo>
                  <a:lnTo>
                    <a:pt x="72326" y="132707"/>
                  </a:lnTo>
                  <a:lnTo>
                    <a:pt x="144745" y="-60"/>
                  </a:lnTo>
                </a:path>
              </a:pathLst>
            </a:custGeom>
            <a:solidFill>
              <a:srgbClr val="00AD4C"/>
            </a:solidFill>
            <a:ln w="24124" cap="flat">
              <a:solidFill>
                <a:srgbClr val="00AD4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EF4466D-2547-06BC-CB00-EFB2E44F46A3}"/>
                </a:ext>
              </a:extLst>
            </p:cNvPr>
            <p:cNvSpPr txBox="1"/>
            <p:nvPr/>
          </p:nvSpPr>
          <p:spPr>
            <a:xfrm>
              <a:off x="8838106" y="745264"/>
              <a:ext cx="1481230" cy="307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Non-Radiative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EE929E6-4332-A11D-9554-D321DFC8028B}"/>
                </a:ext>
              </a:extLst>
            </p:cNvPr>
            <p:cNvSpPr txBox="1"/>
            <p:nvPr/>
          </p:nvSpPr>
          <p:spPr>
            <a:xfrm>
              <a:off x="9202745" y="1010801"/>
              <a:ext cx="751951" cy="307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Decay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77D94B0-C6BE-BA46-872E-C6DA7A9AA71A}"/>
                </a:ext>
              </a:extLst>
            </p:cNvPr>
            <p:cNvSpPr txBox="1"/>
            <p:nvPr/>
          </p:nvSpPr>
          <p:spPr>
            <a:xfrm>
              <a:off x="7133611" y="2998200"/>
              <a:ext cx="1405888" cy="307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b="1" spc="0" baseline="0">
                  <a:ln/>
                  <a:solidFill>
                    <a:srgbClr val="00AD4C"/>
                  </a:solidFill>
                  <a:latin typeface="Arial"/>
                  <a:cs typeface="Arial"/>
                  <a:sym typeface="Arial"/>
                  <a:rtl val="0"/>
                </a:rPr>
                <a:t>Off-Resonant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639FEEB-1C26-1B0A-46BF-4F669D13B33E}"/>
                </a:ext>
              </a:extLst>
            </p:cNvPr>
            <p:cNvSpPr txBox="1"/>
            <p:nvPr/>
          </p:nvSpPr>
          <p:spPr>
            <a:xfrm>
              <a:off x="7283682" y="3263735"/>
              <a:ext cx="1105747" cy="307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b="1" spc="0" baseline="0">
                  <a:ln/>
                  <a:solidFill>
                    <a:srgbClr val="00AD4C"/>
                  </a:solidFill>
                  <a:latin typeface="Arial"/>
                  <a:cs typeface="Arial"/>
                  <a:sym typeface="Arial"/>
                  <a:rtl val="0"/>
                </a:rPr>
                <a:t>Excitation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D3D6E5A-4219-7FFD-768D-46F82A4B997B}"/>
                </a:ext>
              </a:extLst>
            </p:cNvPr>
            <p:cNvSpPr txBox="1"/>
            <p:nvPr/>
          </p:nvSpPr>
          <p:spPr>
            <a:xfrm>
              <a:off x="9584768" y="2913711"/>
              <a:ext cx="1234931" cy="307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b="1" spc="0" baseline="0">
                  <a:ln/>
                  <a:solidFill>
                    <a:srgbClr val="FF0000"/>
                  </a:solidFill>
                  <a:latin typeface="Arial"/>
                  <a:cs typeface="Arial"/>
                  <a:sym typeface="Arial"/>
                  <a:rtl val="0"/>
                </a:rPr>
                <a:t>637-800 nm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C8D3DAB-02E4-14DD-FAD8-27CF63D5BB8D}"/>
                </a:ext>
              </a:extLst>
            </p:cNvPr>
            <p:cNvSpPr txBox="1"/>
            <p:nvPr/>
          </p:nvSpPr>
          <p:spPr>
            <a:xfrm>
              <a:off x="9284768" y="3179247"/>
              <a:ext cx="1834932" cy="307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b="1" spc="0" baseline="0">
                  <a:ln/>
                  <a:solidFill>
                    <a:srgbClr val="FF0000"/>
                  </a:solidFill>
                  <a:latin typeface="Arial"/>
                  <a:cs typeface="Arial"/>
                  <a:sym typeface="Arial"/>
                  <a:rtl val="0"/>
                </a:rPr>
                <a:t>Phonon-Sideband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4435CFC-6305-6A4F-C673-AB149C27FDBC}"/>
                </a:ext>
              </a:extLst>
            </p:cNvPr>
            <p:cNvSpPr txBox="1"/>
            <p:nvPr/>
          </p:nvSpPr>
          <p:spPr>
            <a:xfrm>
              <a:off x="9488257" y="3444782"/>
              <a:ext cx="1427953" cy="307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b="1" spc="0" baseline="0">
                  <a:ln/>
                  <a:solidFill>
                    <a:srgbClr val="FF0000"/>
                  </a:solidFill>
                  <a:latin typeface="Arial"/>
                  <a:cs typeface="Arial"/>
                  <a:sym typeface="Arial"/>
                  <a:rtl val="0"/>
                </a:rPr>
                <a:t>Fluorescence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D20B18-26C4-4F28-90FE-7C167BB15639}"/>
                </a:ext>
              </a:extLst>
            </p:cNvPr>
            <p:cNvSpPr txBox="1"/>
            <p:nvPr/>
          </p:nvSpPr>
          <p:spPr>
            <a:xfrm>
              <a:off x="9944599" y="4482784"/>
              <a:ext cx="1384295" cy="307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b="1" spc="0" baseline="0">
                  <a:ln/>
                  <a:solidFill>
                    <a:srgbClr val="00AD4C"/>
                  </a:solidFill>
                  <a:latin typeface="Arial"/>
                  <a:cs typeface="Arial"/>
                  <a:sym typeface="Arial"/>
                  <a:rtl val="0"/>
                </a:rPr>
                <a:t>Zero-Phonon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793B812-2877-9F9C-FCA2-0288DF796DAC}"/>
                </a:ext>
              </a:extLst>
            </p:cNvPr>
            <p:cNvSpPr txBox="1"/>
            <p:nvPr/>
          </p:nvSpPr>
          <p:spPr>
            <a:xfrm>
              <a:off x="10346815" y="4748319"/>
              <a:ext cx="579862" cy="307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b="1" spc="0" baseline="0">
                  <a:ln/>
                  <a:solidFill>
                    <a:srgbClr val="00AD4C"/>
                  </a:solidFill>
                  <a:latin typeface="Arial"/>
                  <a:cs typeface="Arial"/>
                  <a:sym typeface="Arial"/>
                  <a:rtl val="0"/>
                </a:rPr>
                <a:t>Line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BD424C8-20B3-A252-3B73-1D1F8CF96B0D}"/>
                </a:ext>
              </a:extLst>
            </p:cNvPr>
            <p:cNvSpPr txBox="1"/>
            <p:nvPr/>
          </p:nvSpPr>
          <p:spPr>
            <a:xfrm>
              <a:off x="10148229" y="5013854"/>
              <a:ext cx="977034" cy="307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b="1" spc="0" baseline="0">
                  <a:ln/>
                  <a:solidFill>
                    <a:srgbClr val="00AD4C"/>
                  </a:solidFill>
                  <a:latin typeface="Arial"/>
                  <a:cs typeface="Arial"/>
                  <a:sym typeface="Arial"/>
                  <a:rtl val="0"/>
                </a:rPr>
                <a:t>(637 nm)</a:t>
              </a: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DD6EC5B-F9D7-2BD6-B2D6-482738C019A6}"/>
              </a:ext>
            </a:extLst>
          </p:cNvPr>
          <p:cNvCxnSpPr>
            <a:stCxn id="30" idx="6"/>
            <a:endCxn id="26" idx="1"/>
          </p:cNvCxnSpPr>
          <p:nvPr/>
        </p:nvCxnSpPr>
        <p:spPr>
          <a:xfrm>
            <a:off x="8729627" y="5475733"/>
            <a:ext cx="2896749" cy="0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608802D-0DDE-1D8E-EFE8-2909F2E27CAE}"/>
              </a:ext>
            </a:extLst>
          </p:cNvPr>
          <p:cNvCxnSpPr/>
          <p:nvPr/>
        </p:nvCxnSpPr>
        <p:spPr>
          <a:xfrm>
            <a:off x="8729627" y="2446277"/>
            <a:ext cx="2896749" cy="0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570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88790-703F-26CD-2D37-3C594B39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2F622C2-CEE5-753E-4928-FC27393A68FD}"/>
              </a:ext>
            </a:extLst>
          </p:cNvPr>
          <p:cNvSpPr txBox="1"/>
          <p:nvPr/>
        </p:nvSpPr>
        <p:spPr>
          <a:xfrm>
            <a:off x="559357" y="333375"/>
            <a:ext cx="55225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4. Hardware requirements: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C3531-88B6-BD5C-F04F-FA0233737069}"/>
              </a:ext>
            </a:extLst>
          </p:cNvPr>
          <p:cNvSpPr txBox="1"/>
          <p:nvPr/>
        </p:nvSpPr>
        <p:spPr>
          <a:xfrm>
            <a:off x="559357" y="2890391"/>
            <a:ext cx="44576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*Apply laser pulses with 535 nm wavelength</a:t>
            </a:r>
          </a:p>
          <a:p>
            <a:pPr algn="ctr"/>
            <a:endParaRPr lang="en-US" sz="3200" dirty="0"/>
          </a:p>
          <a:p>
            <a:r>
              <a:rPr lang="en-US" sz="3200" dirty="0"/>
              <a:t>- </a:t>
            </a:r>
            <a:r>
              <a:rPr lang="en-US" sz="3200" b="1" dirty="0"/>
              <a:t>Where does it go?</a:t>
            </a:r>
          </a:p>
        </p:txBody>
      </p:sp>
      <p:pic>
        <p:nvPicPr>
          <p:cNvPr id="2" name="Picture 1" descr="These single mode laser diodes can be purchased with this high speed laser diode driver with embedded AWG (Arbitrary Waveform Generator) and temporal pulse shaping capabilities">
            <a:extLst>
              <a:ext uri="{FF2B5EF4-FFF2-40B4-BE49-F238E27FC236}">
                <a16:creationId xmlns:a16="http://schemas.microsoft.com/office/drawing/2014/main" id="{87C792E4-05C5-82B8-51EA-ABA406C7F5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03898" y="176782"/>
            <a:ext cx="6808555" cy="51064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828D75-82B6-3C50-552A-2EAC0A5E9EB3}"/>
              </a:ext>
            </a:extLst>
          </p:cNvPr>
          <p:cNvSpPr txBox="1"/>
          <p:nvPr/>
        </p:nvSpPr>
        <p:spPr>
          <a:xfrm>
            <a:off x="6096000" y="4759979"/>
            <a:ext cx="5656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 </a:t>
            </a:r>
            <a:r>
              <a:rPr lang="en-US" sz="2800" dirty="0" err="1"/>
              <a:t>μs</a:t>
            </a:r>
            <a:r>
              <a:rPr lang="en-US" sz="2800" dirty="0"/>
              <a:t> pulse at approximately 400 </a:t>
            </a:r>
            <a:r>
              <a:rPr lang="en-US" sz="2800" dirty="0" err="1"/>
              <a:t>μW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6EF33A-ED65-32D2-A764-6796B92B9FF7}"/>
              </a:ext>
            </a:extLst>
          </p:cNvPr>
          <p:cNvSpPr txBox="1"/>
          <p:nvPr/>
        </p:nvSpPr>
        <p:spPr>
          <a:xfrm>
            <a:off x="850900" y="5665230"/>
            <a:ext cx="10901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During optical cycling, electrons can transfer from nearby donors or traps to NV⁰, producing NV⁻</a:t>
            </a:r>
          </a:p>
        </p:txBody>
      </p:sp>
    </p:spTree>
    <p:extLst>
      <p:ext uri="{BB962C8B-B14F-4D97-AF65-F5344CB8AC3E}">
        <p14:creationId xmlns:p14="http://schemas.microsoft.com/office/powerpoint/2010/main" val="2942042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8EC02-678C-2C64-425F-E8741BE3A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F0188FF-05FA-030D-DD10-C43253700E4D}"/>
              </a:ext>
            </a:extLst>
          </p:cNvPr>
          <p:cNvSpPr txBox="1"/>
          <p:nvPr/>
        </p:nvSpPr>
        <p:spPr>
          <a:xfrm>
            <a:off x="796067" y="699138"/>
            <a:ext cx="1030582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# How to verify NV</a:t>
            </a:r>
            <a:r>
              <a:rPr lang="en-US" sz="2400" baseline="30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state?</a:t>
            </a:r>
          </a:p>
          <a:p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-&gt; Using ZPL line: 637 nm or 575 nm? Using green laser.</a:t>
            </a:r>
          </a:p>
          <a:p>
            <a:endParaRPr lang="en-US" sz="24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# How long it will remain over there?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-&gt; There is no single fixed lifetime. In the dark, NV⁻ can remain stable for a long time, but optical illumination can </a:t>
            </a:r>
            <a:r>
              <a:rPr lang="en-US" sz="2400" dirty="0" err="1">
                <a:latin typeface="Arial Rounded MT Bold" panose="020F0704030504030204" pitchFamily="34" charset="0"/>
              </a:rPr>
              <a:t>photoionize</a:t>
            </a:r>
            <a:r>
              <a:rPr lang="en-US" sz="2400" dirty="0">
                <a:latin typeface="Arial Rounded MT Bold" panose="020F0704030504030204" pitchFamily="34" charset="0"/>
              </a:rPr>
              <a:t> it into NV⁰</a:t>
            </a:r>
          </a:p>
          <a:p>
            <a:endParaRPr lang="en-US" sz="2400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# How to select </a:t>
            </a:r>
            <a:r>
              <a:rPr lang="en-U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m_s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=0 state in NV- system? </a:t>
            </a:r>
          </a:p>
          <a:p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-&gt;532 nm Laser, 1-5 micro-sec pulse, at 100 micro-watt power 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  <a:p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005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9665A-921C-8C2C-6615-BEDF70310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88D954-FCFF-6E05-C885-5DBAF7707474}"/>
              </a:ext>
            </a:extLst>
          </p:cNvPr>
          <p:cNvSpPr txBox="1"/>
          <p:nvPr/>
        </p:nvSpPr>
        <p:spPr>
          <a:xfrm>
            <a:off x="438150" y="1819275"/>
            <a:ext cx="4848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To generate a photon entangled with the spin state         |0&gt;:            </a:t>
            </a:r>
            <a:r>
              <a:rPr lang="en-US" baseline="30000" dirty="0">
                <a:latin typeface="Arial Rounded MT Bold" panose="020F0704030504030204" pitchFamily="34" charset="0"/>
              </a:rPr>
              <a:t>3</a:t>
            </a:r>
            <a:r>
              <a:rPr lang="en-US" dirty="0">
                <a:latin typeface="Arial Rounded MT Bold" panose="020F0704030504030204" pitchFamily="34" charset="0"/>
              </a:rPr>
              <a:t>E -&gt; </a:t>
            </a:r>
            <a:r>
              <a:rPr lang="en-US" baseline="30000" dirty="0">
                <a:latin typeface="Arial Rounded MT Bold" panose="020F0704030504030204" pitchFamily="34" charset="0"/>
              </a:rPr>
              <a:t>3</a:t>
            </a:r>
            <a:r>
              <a:rPr lang="en-US" dirty="0">
                <a:latin typeface="Arial Rounded MT Bold" panose="020F0704030504030204" pitchFamily="34" charset="0"/>
              </a:rPr>
              <a:t>A</a:t>
            </a:r>
            <a:r>
              <a:rPr lang="en-US" baseline="-25000" dirty="0">
                <a:latin typeface="Arial Rounded MT Bold" panose="020F0704030504030204" pitchFamily="34" charset="0"/>
              </a:rPr>
              <a:t>2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A052BE-7243-6337-B629-103E9E096DBB}"/>
              </a:ext>
            </a:extLst>
          </p:cNvPr>
          <p:cNvSpPr txBox="1"/>
          <p:nvPr/>
        </p:nvSpPr>
        <p:spPr>
          <a:xfrm>
            <a:off x="332533" y="333375"/>
            <a:ext cx="57900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3.1 How to achieve NV</a:t>
            </a:r>
            <a:r>
              <a:rPr lang="en-US" sz="3200" baseline="30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</a:t>
            </a: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state</a:t>
            </a:r>
          </a:p>
          <a:p>
            <a:pPr algn="ctr"/>
            <a:r>
              <a:rPr lang="en-US" sz="32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with </a:t>
            </a:r>
            <a:r>
              <a:rPr lang="en-US" sz="3200" dirty="0" err="1">
                <a:solidFill>
                  <a:srgbClr val="00B050"/>
                </a:solidFill>
                <a:latin typeface="Arial Rounded MT Bold" panose="020F0704030504030204" pitchFamily="34" charset="0"/>
              </a:rPr>
              <a:t>m</a:t>
            </a:r>
            <a:r>
              <a:rPr lang="en-US" sz="3200" baseline="-25000" dirty="0" err="1">
                <a:solidFill>
                  <a:srgbClr val="00B050"/>
                </a:solidFill>
                <a:latin typeface="Arial Rounded MT Bold" panose="020F0704030504030204" pitchFamily="34" charset="0"/>
              </a:rPr>
              <a:t>s</a:t>
            </a:r>
            <a:r>
              <a:rPr lang="en-US" sz="32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 = 0: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D0487E-B0C9-46B7-352E-D49EBB4BA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080" y="673431"/>
            <a:ext cx="4922119" cy="598302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6874977-E4F8-35F1-E8B4-22627A68E4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 flipH="1">
            <a:off x="7817121" y="2050377"/>
            <a:ext cx="120362" cy="1601743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F46ADD8-7341-0697-540A-5C9F08BA9284}"/>
              </a:ext>
            </a:extLst>
          </p:cNvPr>
          <p:cNvCxnSpPr>
            <a:cxnSpLocks/>
          </p:cNvCxnSpPr>
          <p:nvPr/>
        </p:nvCxnSpPr>
        <p:spPr>
          <a:xfrm>
            <a:off x="7630424" y="1840791"/>
            <a:ext cx="0" cy="3429000"/>
          </a:xfrm>
          <a:prstGeom prst="line">
            <a:avLst/>
          </a:prstGeom>
          <a:ln>
            <a:solidFill>
              <a:srgbClr val="88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DFAA429D-127E-EF57-7065-37F99A3CF9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 flipH="1">
            <a:off x="6447404" y="2441832"/>
            <a:ext cx="120362" cy="2226918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AEE876E-7E0B-0583-24B4-184163E31032}"/>
              </a:ext>
            </a:extLst>
          </p:cNvPr>
          <p:cNvCxnSpPr>
            <a:cxnSpLocks/>
          </p:cNvCxnSpPr>
          <p:nvPr/>
        </p:nvCxnSpPr>
        <p:spPr>
          <a:xfrm>
            <a:off x="8678174" y="1689342"/>
            <a:ext cx="0" cy="32978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83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A76BB5-8743-3025-92B1-A4D6D756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D351167-E0FB-D3C0-0274-436AED749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080" y="673431"/>
            <a:ext cx="4922119" cy="59830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3D587F-B8E3-E59E-A852-6E5F55E83FAF}"/>
              </a:ext>
            </a:extLst>
          </p:cNvPr>
          <p:cNvSpPr txBox="1"/>
          <p:nvPr/>
        </p:nvSpPr>
        <p:spPr>
          <a:xfrm>
            <a:off x="438150" y="1819275"/>
            <a:ext cx="48482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To generate a photon entangled with the spin state         |0&gt;:            </a:t>
            </a:r>
            <a:r>
              <a:rPr lang="en-US" baseline="30000" dirty="0">
                <a:latin typeface="Arial Rounded MT Bold" panose="020F0704030504030204" pitchFamily="34" charset="0"/>
              </a:rPr>
              <a:t>3</a:t>
            </a:r>
            <a:r>
              <a:rPr lang="en-US" dirty="0">
                <a:latin typeface="Arial Rounded MT Bold" panose="020F0704030504030204" pitchFamily="34" charset="0"/>
              </a:rPr>
              <a:t>E -&gt; </a:t>
            </a:r>
            <a:r>
              <a:rPr lang="en-US" baseline="30000" dirty="0">
                <a:latin typeface="Arial Rounded MT Bold" panose="020F0704030504030204" pitchFamily="34" charset="0"/>
              </a:rPr>
              <a:t>3</a:t>
            </a:r>
            <a:r>
              <a:rPr lang="en-US" dirty="0">
                <a:latin typeface="Arial Rounded MT Bold" panose="020F0704030504030204" pitchFamily="34" charset="0"/>
              </a:rPr>
              <a:t>A</a:t>
            </a:r>
            <a:r>
              <a:rPr lang="en-US" baseline="-25000" dirty="0">
                <a:latin typeface="Arial Rounded MT Bold" panose="020F0704030504030204" pitchFamily="34" charset="0"/>
              </a:rPr>
              <a:t>2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 Rounded MT Bold" panose="020F07040305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The resonant wavelength would be 637 nm (ZPL).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 Rounded MT Bold" panose="020F07040305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How to excite it from the ground state to  the excited state?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F882BC-C78C-44F9-860F-329BE8E04ED0}"/>
              </a:ext>
            </a:extLst>
          </p:cNvPr>
          <p:cNvSpPr txBox="1"/>
          <p:nvPr/>
        </p:nvSpPr>
        <p:spPr>
          <a:xfrm>
            <a:off x="7133720" y="3664945"/>
            <a:ext cx="415498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88AA00"/>
                </a:solidFill>
              </a:rPr>
              <a:t>?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A75A1555-BCFA-FCA0-2D6F-470030E367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 flipH="1">
            <a:off x="7817121" y="2050377"/>
            <a:ext cx="120362" cy="1601743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083B298-26BD-C21C-6DD5-CCD1E9DC12E3}"/>
              </a:ext>
            </a:extLst>
          </p:cNvPr>
          <p:cNvCxnSpPr>
            <a:cxnSpLocks/>
          </p:cNvCxnSpPr>
          <p:nvPr/>
        </p:nvCxnSpPr>
        <p:spPr>
          <a:xfrm>
            <a:off x="7630424" y="1840791"/>
            <a:ext cx="0" cy="3429000"/>
          </a:xfrm>
          <a:prstGeom prst="line">
            <a:avLst/>
          </a:prstGeom>
          <a:ln>
            <a:solidFill>
              <a:srgbClr val="88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>
            <a:extLst>
              <a:ext uri="{FF2B5EF4-FFF2-40B4-BE49-F238E27FC236}">
                <a16:creationId xmlns:a16="http://schemas.microsoft.com/office/drawing/2014/main" id="{DD859C63-D643-47BF-23C0-610CF0F40F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 flipH="1">
            <a:off x="6447404" y="2441832"/>
            <a:ext cx="120362" cy="2226918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76E2783-BCA7-73F1-50E9-EE6C299D463F}"/>
              </a:ext>
            </a:extLst>
          </p:cNvPr>
          <p:cNvCxnSpPr>
            <a:cxnSpLocks/>
          </p:cNvCxnSpPr>
          <p:nvPr/>
        </p:nvCxnSpPr>
        <p:spPr>
          <a:xfrm>
            <a:off x="8678174" y="1689342"/>
            <a:ext cx="0" cy="32978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2EF3F0B-276E-4A71-C8FB-DF82E5F913FB}"/>
              </a:ext>
            </a:extLst>
          </p:cNvPr>
          <p:cNvSpPr txBox="1"/>
          <p:nvPr/>
        </p:nvSpPr>
        <p:spPr>
          <a:xfrm>
            <a:off x="332533" y="333375"/>
            <a:ext cx="57900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3.1 How to achieve NV</a:t>
            </a:r>
            <a:r>
              <a:rPr lang="en-US" sz="3200" baseline="30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</a:t>
            </a: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state</a:t>
            </a:r>
          </a:p>
          <a:p>
            <a:pPr algn="ctr"/>
            <a:r>
              <a:rPr lang="en-US" sz="32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with </a:t>
            </a:r>
            <a:r>
              <a:rPr lang="en-US" sz="3200" dirty="0" err="1">
                <a:solidFill>
                  <a:srgbClr val="00B050"/>
                </a:solidFill>
                <a:latin typeface="Arial Rounded MT Bold" panose="020F0704030504030204" pitchFamily="34" charset="0"/>
              </a:rPr>
              <a:t>m</a:t>
            </a:r>
            <a:r>
              <a:rPr lang="en-US" sz="3200" baseline="-25000" dirty="0" err="1">
                <a:solidFill>
                  <a:srgbClr val="00B050"/>
                </a:solidFill>
                <a:latin typeface="Arial Rounded MT Bold" panose="020F0704030504030204" pitchFamily="34" charset="0"/>
              </a:rPr>
              <a:t>s</a:t>
            </a:r>
            <a:r>
              <a:rPr lang="en-US" sz="32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 = 0:</a:t>
            </a:r>
          </a:p>
        </p:txBody>
      </p:sp>
    </p:spTree>
    <p:extLst>
      <p:ext uri="{BB962C8B-B14F-4D97-AF65-F5344CB8AC3E}">
        <p14:creationId xmlns:p14="http://schemas.microsoft.com/office/powerpoint/2010/main" val="130718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BCB3CC-9B05-5B3B-E54F-2E07F96CE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6ED2C6-86D2-C31B-9990-C7512318AA11}"/>
              </a:ext>
            </a:extLst>
          </p:cNvPr>
          <p:cNvSpPr txBox="1"/>
          <p:nvPr/>
        </p:nvSpPr>
        <p:spPr>
          <a:xfrm>
            <a:off x="438150" y="1819275"/>
            <a:ext cx="4848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What about this one?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6EA8C21-3F3A-85BB-9F91-AC22443F8F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58090" r="44702"/>
          <a:stretch>
            <a:fillRect/>
          </a:stretch>
        </p:blipFill>
        <p:spPr>
          <a:xfrm>
            <a:off x="6296248" y="1358900"/>
            <a:ext cx="5667152" cy="5220884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D173FA43-B829-2BDC-1383-5FBDFBC101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578469">
            <a:off x="10681188" y="3219365"/>
            <a:ext cx="161924" cy="173487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70F1CDD-A088-B740-08BA-926A6B3450C5}"/>
              </a:ext>
            </a:extLst>
          </p:cNvPr>
          <p:cNvCxnSpPr>
            <a:cxnSpLocks/>
          </p:cNvCxnSpPr>
          <p:nvPr/>
        </p:nvCxnSpPr>
        <p:spPr>
          <a:xfrm>
            <a:off x="10042525" y="3132105"/>
            <a:ext cx="0" cy="677895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164EAAC-EE14-36AA-22F3-0D579AA19E48}"/>
              </a:ext>
            </a:extLst>
          </p:cNvPr>
          <p:cNvSpPr txBox="1"/>
          <p:nvPr/>
        </p:nvSpPr>
        <p:spPr>
          <a:xfrm>
            <a:off x="332533" y="333375"/>
            <a:ext cx="57900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3.1 How to achieve NV</a:t>
            </a:r>
            <a:r>
              <a:rPr lang="en-US" sz="3200" baseline="30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</a:t>
            </a: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state</a:t>
            </a:r>
          </a:p>
          <a:p>
            <a:pPr algn="ctr"/>
            <a:r>
              <a:rPr lang="en-US" sz="32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with </a:t>
            </a:r>
            <a:r>
              <a:rPr lang="en-US" sz="3200" dirty="0" err="1">
                <a:solidFill>
                  <a:srgbClr val="00B050"/>
                </a:solidFill>
                <a:latin typeface="Arial Rounded MT Bold" panose="020F0704030504030204" pitchFamily="34" charset="0"/>
              </a:rPr>
              <a:t>m</a:t>
            </a:r>
            <a:r>
              <a:rPr lang="en-US" sz="3200" baseline="-25000" dirty="0" err="1">
                <a:solidFill>
                  <a:srgbClr val="00B050"/>
                </a:solidFill>
                <a:latin typeface="Arial Rounded MT Bold" panose="020F0704030504030204" pitchFamily="34" charset="0"/>
              </a:rPr>
              <a:t>s</a:t>
            </a:r>
            <a:r>
              <a:rPr lang="en-US" sz="32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 = 0:</a:t>
            </a:r>
          </a:p>
        </p:txBody>
      </p:sp>
    </p:spTree>
    <p:extLst>
      <p:ext uri="{BB962C8B-B14F-4D97-AF65-F5344CB8AC3E}">
        <p14:creationId xmlns:p14="http://schemas.microsoft.com/office/powerpoint/2010/main" val="131764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E41B4-2DEA-49E9-EF07-9FD730F6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B8CD06-4E55-F769-DD1B-66E38B229A22}"/>
              </a:ext>
            </a:extLst>
          </p:cNvPr>
          <p:cNvSpPr txBox="1"/>
          <p:nvPr/>
        </p:nvSpPr>
        <p:spPr>
          <a:xfrm>
            <a:off x="559357" y="333375"/>
            <a:ext cx="53363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-How to achieve NV</a:t>
            </a:r>
            <a:r>
              <a:rPr lang="en-US" sz="3200" baseline="30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</a:t>
            </a: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state: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AF1063-0DAD-6519-9F56-93694AA3F8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58090" r="44702"/>
          <a:stretch>
            <a:fillRect/>
          </a:stretch>
        </p:blipFill>
        <p:spPr>
          <a:xfrm>
            <a:off x="6296248" y="1358900"/>
            <a:ext cx="5667152" cy="5220884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8F8074E-49A7-E89B-1014-2A10126679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578469">
            <a:off x="10681188" y="3219365"/>
            <a:ext cx="161924" cy="173487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C6338E7-27D3-7C7E-EC00-9F33C4EB2D18}"/>
              </a:ext>
            </a:extLst>
          </p:cNvPr>
          <p:cNvCxnSpPr>
            <a:cxnSpLocks/>
          </p:cNvCxnSpPr>
          <p:nvPr/>
        </p:nvCxnSpPr>
        <p:spPr>
          <a:xfrm>
            <a:off x="10042525" y="3132105"/>
            <a:ext cx="0" cy="677895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9BEC6F0-EE33-D778-44F5-9C9F3FB8B299}"/>
              </a:ext>
            </a:extLst>
          </p:cNvPr>
          <p:cNvSpPr txBox="1"/>
          <p:nvPr/>
        </p:nvSpPr>
        <p:spPr>
          <a:xfrm>
            <a:off x="438150" y="1819275"/>
            <a:ext cx="48482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What about this one?</a:t>
            </a:r>
          </a:p>
          <a:p>
            <a:endParaRPr lang="en-US" sz="2800" dirty="0">
              <a:latin typeface="Arial Rounded MT Bold" panose="020F0704030504030204" pitchFamily="34" charset="0"/>
            </a:endParaRPr>
          </a:p>
          <a:p>
            <a:r>
              <a:rPr lang="en-US" sz="2800" dirty="0">
                <a:latin typeface="Arial Rounded MT Bold" panose="020F0704030504030204" pitchFamily="34" charset="0"/>
              </a:rPr>
              <a:t>- </a:t>
            </a:r>
            <a:r>
              <a:rPr lang="en-US" sz="28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Non-radiative decay (phonon/heat)</a:t>
            </a:r>
          </a:p>
        </p:txBody>
      </p:sp>
    </p:spTree>
    <p:extLst>
      <p:ext uri="{BB962C8B-B14F-4D97-AF65-F5344CB8AC3E}">
        <p14:creationId xmlns:p14="http://schemas.microsoft.com/office/powerpoint/2010/main" val="265676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1DD7E-5D8B-033D-B279-070DAF9D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3C2B1E-B3B0-67CB-29E9-8C41A2157F1B}"/>
              </a:ext>
            </a:extLst>
          </p:cNvPr>
          <p:cNvSpPr txBox="1"/>
          <p:nvPr/>
        </p:nvSpPr>
        <p:spPr>
          <a:xfrm>
            <a:off x="438150" y="1819275"/>
            <a:ext cx="48482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To generate a photon entangled with the spin state         |0&gt;:            </a:t>
            </a:r>
            <a:r>
              <a:rPr lang="en-US" baseline="30000" dirty="0">
                <a:latin typeface="Arial Rounded MT Bold" panose="020F0704030504030204" pitchFamily="34" charset="0"/>
              </a:rPr>
              <a:t>3</a:t>
            </a:r>
            <a:r>
              <a:rPr lang="en-US" dirty="0">
                <a:latin typeface="Arial Rounded MT Bold" panose="020F0704030504030204" pitchFamily="34" charset="0"/>
              </a:rPr>
              <a:t>E -&gt; </a:t>
            </a:r>
            <a:r>
              <a:rPr lang="en-US" baseline="30000" dirty="0">
                <a:latin typeface="Arial Rounded MT Bold" panose="020F0704030504030204" pitchFamily="34" charset="0"/>
              </a:rPr>
              <a:t>3</a:t>
            </a:r>
            <a:r>
              <a:rPr lang="en-US" dirty="0">
                <a:latin typeface="Arial Rounded MT Bold" panose="020F0704030504030204" pitchFamily="34" charset="0"/>
              </a:rPr>
              <a:t>A</a:t>
            </a:r>
            <a:r>
              <a:rPr lang="en-US" baseline="-25000" dirty="0">
                <a:latin typeface="Arial Rounded MT Bold" panose="020F0704030504030204" pitchFamily="34" charset="0"/>
              </a:rPr>
              <a:t>2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 Rounded MT Bold" panose="020F07040305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The resonant wavelength would be 637 nm.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 Rounded MT Bold" panose="020F07040305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How to excite it from the ground state to  the excited state?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275941-CCAE-CA5C-51E8-7E0565005994}"/>
              </a:ext>
            </a:extLst>
          </p:cNvPr>
          <p:cNvSpPr txBox="1"/>
          <p:nvPr/>
        </p:nvSpPr>
        <p:spPr>
          <a:xfrm>
            <a:off x="559357" y="333375"/>
            <a:ext cx="53363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-How to achieve NV</a:t>
            </a:r>
            <a:r>
              <a:rPr lang="en-US" sz="3200" baseline="30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</a:t>
            </a: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state: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7A83F9-F4AB-44F8-0DAC-985A37269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981" y="651915"/>
            <a:ext cx="4922119" cy="598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1254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504718-6296-8FB1-0009-5B462D646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8E52EA-E948-524D-1A4A-DC2B9EEB89F2}"/>
              </a:ext>
            </a:extLst>
          </p:cNvPr>
          <p:cNvSpPr txBox="1"/>
          <p:nvPr/>
        </p:nvSpPr>
        <p:spPr>
          <a:xfrm>
            <a:off x="279400" y="20320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Loophole-Free Bell Test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(Using NV Center in Diamond)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F554B-3A27-8204-697A-B2043CEAD8F6}"/>
              </a:ext>
            </a:extLst>
          </p:cNvPr>
          <p:cNvSpPr txBox="1"/>
          <p:nvPr/>
        </p:nvSpPr>
        <p:spPr>
          <a:xfrm rot="16200000">
            <a:off x="-1435355" y="3725472"/>
            <a:ext cx="4070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60000"/>
                    <a:lumOff val="40000"/>
                  </a:srgbClr>
                </a:solidFill>
                <a:effectLst/>
                <a:uLnTx/>
                <a:uFillTx/>
                <a:latin typeface="Proxima Soft SemiBold"/>
                <a:ea typeface="+mn-ea"/>
                <a:cs typeface="+mn-cs"/>
              </a:rPr>
              <a:t>NV Center Electronic Structure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4B1BB89-B9CE-B153-0AD5-AEBA17242E67}"/>
              </a:ext>
            </a:extLst>
          </p:cNvPr>
          <p:cNvSpPr txBox="1">
            <a:spLocks/>
          </p:cNvSpPr>
          <p:nvPr/>
        </p:nvSpPr>
        <p:spPr>
          <a:xfrm rot="16200000">
            <a:off x="-529746" y="3552017"/>
            <a:ext cx="3225800" cy="5207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oxima Soft SemiBold"/>
                <a:ea typeface="+mj-ea"/>
                <a:cs typeface="+mj-cs"/>
              </a:rPr>
              <a:t>Selection Engineering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CF9E77D-0236-D028-6B8A-A9BE085BBAC7}"/>
              </a:ext>
            </a:extLst>
          </p:cNvPr>
          <p:cNvGrpSpPr/>
          <p:nvPr/>
        </p:nvGrpSpPr>
        <p:grpSpPr>
          <a:xfrm>
            <a:off x="2400612" y="2343605"/>
            <a:ext cx="9422147" cy="3476818"/>
            <a:chOff x="410837" y="1857829"/>
            <a:chExt cx="11430660" cy="421796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A77BA53-459B-8334-4F15-155FFA3D7A30}"/>
                </a:ext>
              </a:extLst>
            </p:cNvPr>
            <p:cNvGrpSpPr/>
            <p:nvPr/>
          </p:nvGrpSpPr>
          <p:grpSpPr>
            <a:xfrm>
              <a:off x="698938" y="2214484"/>
              <a:ext cx="3190891" cy="3777574"/>
              <a:chOff x="6606253" y="1115923"/>
              <a:chExt cx="4364038" cy="5166418"/>
            </a:xfrm>
          </p:grpSpPr>
          <p:grpSp>
            <p:nvGrpSpPr>
              <p:cNvPr id="4" name="Graphic 78">
                <a:extLst>
                  <a:ext uri="{FF2B5EF4-FFF2-40B4-BE49-F238E27FC236}">
                    <a16:creationId xmlns:a16="http://schemas.microsoft.com/office/drawing/2014/main" id="{5CC0540F-DCB6-0E42-3650-37AB0784DE29}"/>
                  </a:ext>
                </a:extLst>
              </p:cNvPr>
              <p:cNvGrpSpPr/>
              <p:nvPr/>
            </p:nvGrpSpPr>
            <p:grpSpPr>
              <a:xfrm>
                <a:off x="6815087" y="2991966"/>
                <a:ext cx="510674" cy="379771"/>
                <a:chOff x="7189628" y="4086067"/>
                <a:chExt cx="364520" cy="271081"/>
              </a:xfrm>
              <a:solidFill>
                <a:srgbClr val="000000"/>
              </a:solidFill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A422D4B8-4A88-81F4-AD3F-98C5B5092A9F}"/>
                    </a:ext>
                  </a:extLst>
                </p:cNvPr>
                <p:cNvSpPr/>
                <p:nvPr/>
              </p:nvSpPr>
              <p:spPr>
                <a:xfrm>
                  <a:off x="7189628" y="4086067"/>
                  <a:ext cx="82485" cy="120776"/>
                </a:xfrm>
                <a:custGeom>
                  <a:avLst/>
                  <a:gdLst>
                    <a:gd name="csX0" fmla="*/ 36009 w 82485"/>
                    <a:gd name="csY0" fmla="*/ 45564 h 120776"/>
                    <a:gd name="csX1" fmla="*/ 48774 w 82485"/>
                    <a:gd name="csY1" fmla="*/ 41276 h 120776"/>
                    <a:gd name="csX2" fmla="*/ 54107 w 82485"/>
                    <a:gd name="csY2" fmla="*/ 28800 h 120776"/>
                    <a:gd name="csX3" fmla="*/ 49917 w 82485"/>
                    <a:gd name="csY3" fmla="*/ 18131 h 120776"/>
                    <a:gd name="csX4" fmla="*/ 38391 w 82485"/>
                    <a:gd name="csY4" fmla="*/ 13559 h 120776"/>
                    <a:gd name="csX5" fmla="*/ 30199 w 82485"/>
                    <a:gd name="csY5" fmla="*/ 14987 h 120776"/>
                    <a:gd name="csX6" fmla="*/ 25246 w 82485"/>
                    <a:gd name="csY6" fmla="*/ 18608 h 120776"/>
                    <a:gd name="csX7" fmla="*/ 21627 w 82485"/>
                    <a:gd name="csY7" fmla="*/ 24419 h 120776"/>
                    <a:gd name="csX8" fmla="*/ 18674 w 82485"/>
                    <a:gd name="csY8" fmla="*/ 31086 h 120776"/>
                    <a:gd name="csX9" fmla="*/ 15816 w 82485"/>
                    <a:gd name="csY9" fmla="*/ 33753 h 120776"/>
                    <a:gd name="csX10" fmla="*/ 10959 w 82485"/>
                    <a:gd name="csY10" fmla="*/ 34704 h 120776"/>
                    <a:gd name="csX11" fmla="*/ 4958 w 82485"/>
                    <a:gd name="csY11" fmla="*/ 32132 h 120776"/>
                    <a:gd name="csX12" fmla="*/ 2292 w 82485"/>
                    <a:gd name="csY12" fmla="*/ 25084 h 120776"/>
                    <a:gd name="csX13" fmla="*/ 4768 w 82485"/>
                    <a:gd name="csY13" fmla="*/ 16322 h 120776"/>
                    <a:gd name="csX14" fmla="*/ 12197 w 82485"/>
                    <a:gd name="csY14" fmla="*/ 7464 h 120776"/>
                    <a:gd name="csX15" fmla="*/ 24389 w 82485"/>
                    <a:gd name="csY15" fmla="*/ 795 h 120776"/>
                    <a:gd name="csX16" fmla="*/ 40581 w 82485"/>
                    <a:gd name="csY16" fmla="*/ -1775 h 120776"/>
                    <a:gd name="csX17" fmla="*/ 54869 w 82485"/>
                    <a:gd name="csY17" fmla="*/ 416 h 120776"/>
                    <a:gd name="csX18" fmla="*/ 66109 w 82485"/>
                    <a:gd name="csY18" fmla="*/ 6511 h 120776"/>
                    <a:gd name="csX19" fmla="*/ 73252 w 82485"/>
                    <a:gd name="csY19" fmla="*/ 15845 h 120776"/>
                    <a:gd name="csX20" fmla="*/ 75634 w 82485"/>
                    <a:gd name="csY20" fmla="*/ 27274 h 120776"/>
                    <a:gd name="csX21" fmla="*/ 72110 w 82485"/>
                    <a:gd name="csY21" fmla="*/ 41181 h 120776"/>
                    <a:gd name="csX22" fmla="*/ 62108 w 82485"/>
                    <a:gd name="csY22" fmla="*/ 52422 h 120776"/>
                    <a:gd name="csX23" fmla="*/ 72682 w 82485"/>
                    <a:gd name="csY23" fmla="*/ 60138 h 120776"/>
                    <a:gd name="csX24" fmla="*/ 79253 w 82485"/>
                    <a:gd name="csY24" fmla="*/ 69756 h 120776"/>
                    <a:gd name="csX25" fmla="*/ 81349 w 82485"/>
                    <a:gd name="csY25" fmla="*/ 81187 h 120776"/>
                    <a:gd name="csX26" fmla="*/ 78396 w 82485"/>
                    <a:gd name="csY26" fmla="*/ 95380 h 120776"/>
                    <a:gd name="csX27" fmla="*/ 69824 w 82485"/>
                    <a:gd name="csY27" fmla="*/ 107572 h 120776"/>
                    <a:gd name="csX28" fmla="*/ 56202 w 82485"/>
                    <a:gd name="csY28" fmla="*/ 115953 h 120776"/>
                    <a:gd name="csX29" fmla="*/ 38867 w 82485"/>
                    <a:gd name="csY29" fmla="*/ 119001 h 120776"/>
                    <a:gd name="csX30" fmla="*/ 21531 w 82485"/>
                    <a:gd name="csY30" fmla="*/ 115476 h 120776"/>
                    <a:gd name="csX31" fmla="*/ 8863 w 82485"/>
                    <a:gd name="csY31" fmla="*/ 106904 h 120776"/>
                    <a:gd name="csX32" fmla="*/ 1338 w 82485"/>
                    <a:gd name="csY32" fmla="*/ 96045 h 120776"/>
                    <a:gd name="csX33" fmla="*/ -1137 w 82485"/>
                    <a:gd name="csY33" fmla="*/ 86901 h 120776"/>
                    <a:gd name="csX34" fmla="*/ 1815 w 82485"/>
                    <a:gd name="csY34" fmla="*/ 79376 h 120776"/>
                    <a:gd name="csX35" fmla="*/ 9435 w 82485"/>
                    <a:gd name="csY35" fmla="*/ 76520 h 120776"/>
                    <a:gd name="csX36" fmla="*/ 13721 w 82485"/>
                    <a:gd name="csY36" fmla="*/ 77853 h 120776"/>
                    <a:gd name="csX37" fmla="*/ 16484 w 82485"/>
                    <a:gd name="csY37" fmla="*/ 80997 h 120776"/>
                    <a:gd name="csX38" fmla="*/ 25437 w 82485"/>
                    <a:gd name="csY38" fmla="*/ 97665 h 120776"/>
                    <a:gd name="csX39" fmla="*/ 38963 w 82485"/>
                    <a:gd name="csY39" fmla="*/ 103093 h 120776"/>
                    <a:gd name="csX40" fmla="*/ 48583 w 82485"/>
                    <a:gd name="csY40" fmla="*/ 100712 h 120776"/>
                    <a:gd name="csX41" fmla="*/ 56202 w 82485"/>
                    <a:gd name="csY41" fmla="*/ 93284 h 120776"/>
                    <a:gd name="csX42" fmla="*/ 59346 w 82485"/>
                    <a:gd name="csY42" fmla="*/ 82139 h 120776"/>
                    <a:gd name="csX43" fmla="*/ 54107 w 82485"/>
                    <a:gd name="csY43" fmla="*/ 67374 h 120776"/>
                    <a:gd name="csX44" fmla="*/ 39820 w 82485"/>
                    <a:gd name="csY44" fmla="*/ 61947 h 120776"/>
                    <a:gd name="csX45" fmla="*/ 34771 w 82485"/>
                    <a:gd name="csY45" fmla="*/ 62328 h 120776"/>
                    <a:gd name="csX46" fmla="*/ 30485 w 82485"/>
                    <a:gd name="csY46" fmla="*/ 62612 h 120776"/>
                    <a:gd name="csX47" fmla="*/ 23628 w 82485"/>
                    <a:gd name="csY47" fmla="*/ 60421 h 120776"/>
                    <a:gd name="csX48" fmla="*/ 21151 w 82485"/>
                    <a:gd name="csY48" fmla="*/ 54231 h 120776"/>
                    <a:gd name="csX49" fmla="*/ 24103 w 82485"/>
                    <a:gd name="csY49" fmla="*/ 48041 h 120776"/>
                    <a:gd name="csX50" fmla="*/ 32676 w 82485"/>
                    <a:gd name="csY50" fmla="*/ 45564 h 1207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</a:cxnLst>
                  <a:rect l="l" t="t" r="r" b="b"/>
                  <a:pathLst>
                    <a:path w="82485" h="120776">
                      <a:moveTo>
                        <a:pt x="36009" y="45564"/>
                      </a:moveTo>
                      <a:cubicBezTo>
                        <a:pt x="40963" y="45564"/>
                        <a:pt x="45154" y="44134"/>
                        <a:pt x="48774" y="41276"/>
                      </a:cubicBezTo>
                      <a:cubicBezTo>
                        <a:pt x="52393" y="38325"/>
                        <a:pt x="54107" y="34227"/>
                        <a:pt x="54107" y="28800"/>
                      </a:cubicBezTo>
                      <a:cubicBezTo>
                        <a:pt x="54107" y="24607"/>
                        <a:pt x="52678" y="21084"/>
                        <a:pt x="49917" y="18131"/>
                      </a:cubicBezTo>
                      <a:cubicBezTo>
                        <a:pt x="47059" y="15082"/>
                        <a:pt x="43153" y="13559"/>
                        <a:pt x="38391" y="13559"/>
                      </a:cubicBezTo>
                      <a:cubicBezTo>
                        <a:pt x="35057" y="13559"/>
                        <a:pt x="32390" y="14036"/>
                        <a:pt x="30199" y="14987"/>
                      </a:cubicBezTo>
                      <a:cubicBezTo>
                        <a:pt x="28104" y="15845"/>
                        <a:pt x="26484" y="17084"/>
                        <a:pt x="25246" y="18608"/>
                      </a:cubicBezTo>
                      <a:cubicBezTo>
                        <a:pt x="24008" y="20131"/>
                        <a:pt x="22770" y="22038"/>
                        <a:pt x="21627" y="24419"/>
                      </a:cubicBezTo>
                      <a:cubicBezTo>
                        <a:pt x="20579" y="26800"/>
                        <a:pt x="19627" y="28991"/>
                        <a:pt x="18674" y="31086"/>
                      </a:cubicBezTo>
                      <a:cubicBezTo>
                        <a:pt x="18102" y="32228"/>
                        <a:pt x="17150" y="33086"/>
                        <a:pt x="15816" y="33753"/>
                      </a:cubicBezTo>
                      <a:cubicBezTo>
                        <a:pt x="14387" y="34418"/>
                        <a:pt x="12769" y="34704"/>
                        <a:pt x="10959" y="34704"/>
                      </a:cubicBezTo>
                      <a:cubicBezTo>
                        <a:pt x="8768" y="34704"/>
                        <a:pt x="6768" y="33848"/>
                        <a:pt x="4958" y="32132"/>
                      </a:cubicBezTo>
                      <a:cubicBezTo>
                        <a:pt x="3244" y="30323"/>
                        <a:pt x="2292" y="28037"/>
                        <a:pt x="2292" y="25084"/>
                      </a:cubicBezTo>
                      <a:cubicBezTo>
                        <a:pt x="2292" y="22321"/>
                        <a:pt x="3149" y="19370"/>
                        <a:pt x="4768" y="16322"/>
                      </a:cubicBezTo>
                      <a:cubicBezTo>
                        <a:pt x="6482" y="13178"/>
                        <a:pt x="8959" y="10224"/>
                        <a:pt x="12197" y="7464"/>
                      </a:cubicBezTo>
                      <a:cubicBezTo>
                        <a:pt x="15532" y="4701"/>
                        <a:pt x="19531" y="2415"/>
                        <a:pt x="24389" y="795"/>
                      </a:cubicBezTo>
                      <a:cubicBezTo>
                        <a:pt x="29247" y="-919"/>
                        <a:pt x="34676" y="-1775"/>
                        <a:pt x="40581" y="-1775"/>
                      </a:cubicBezTo>
                      <a:cubicBezTo>
                        <a:pt x="45820" y="-1775"/>
                        <a:pt x="50583" y="-1110"/>
                        <a:pt x="54869" y="416"/>
                      </a:cubicBezTo>
                      <a:cubicBezTo>
                        <a:pt x="59156" y="1748"/>
                        <a:pt x="62871" y="3843"/>
                        <a:pt x="66109" y="6511"/>
                      </a:cubicBezTo>
                      <a:cubicBezTo>
                        <a:pt x="69252" y="9178"/>
                        <a:pt x="71633" y="12322"/>
                        <a:pt x="73252" y="15845"/>
                      </a:cubicBezTo>
                      <a:cubicBezTo>
                        <a:pt x="74872" y="19370"/>
                        <a:pt x="75634" y="23179"/>
                        <a:pt x="75634" y="27274"/>
                      </a:cubicBezTo>
                      <a:cubicBezTo>
                        <a:pt x="75634" y="32704"/>
                        <a:pt x="74491" y="37276"/>
                        <a:pt x="72110" y="41181"/>
                      </a:cubicBezTo>
                      <a:cubicBezTo>
                        <a:pt x="69824" y="44992"/>
                        <a:pt x="66490" y="48706"/>
                        <a:pt x="62108" y="52422"/>
                      </a:cubicBezTo>
                      <a:cubicBezTo>
                        <a:pt x="66299" y="54612"/>
                        <a:pt x="69824" y="57184"/>
                        <a:pt x="72682" y="60138"/>
                      </a:cubicBezTo>
                      <a:cubicBezTo>
                        <a:pt x="75634" y="62993"/>
                        <a:pt x="77729" y="66233"/>
                        <a:pt x="79253" y="69756"/>
                      </a:cubicBezTo>
                      <a:cubicBezTo>
                        <a:pt x="80682" y="73281"/>
                        <a:pt x="81349" y="77090"/>
                        <a:pt x="81349" y="81187"/>
                      </a:cubicBezTo>
                      <a:cubicBezTo>
                        <a:pt x="81349" y="86045"/>
                        <a:pt x="80396" y="90808"/>
                        <a:pt x="78396" y="95380"/>
                      </a:cubicBezTo>
                      <a:cubicBezTo>
                        <a:pt x="76491" y="99951"/>
                        <a:pt x="73634" y="103951"/>
                        <a:pt x="69824" y="107572"/>
                      </a:cubicBezTo>
                      <a:cubicBezTo>
                        <a:pt x="66013" y="111190"/>
                        <a:pt x="61442" y="113953"/>
                        <a:pt x="56202" y="115953"/>
                      </a:cubicBezTo>
                      <a:cubicBezTo>
                        <a:pt x="50964" y="117953"/>
                        <a:pt x="45154" y="119001"/>
                        <a:pt x="38867" y="119001"/>
                      </a:cubicBezTo>
                      <a:cubicBezTo>
                        <a:pt x="32390" y="119001"/>
                        <a:pt x="26580" y="117762"/>
                        <a:pt x="21531" y="115476"/>
                      </a:cubicBezTo>
                      <a:cubicBezTo>
                        <a:pt x="16389" y="113190"/>
                        <a:pt x="12197" y="110332"/>
                        <a:pt x="8863" y="106904"/>
                      </a:cubicBezTo>
                      <a:cubicBezTo>
                        <a:pt x="5530" y="103379"/>
                        <a:pt x="3053" y="99761"/>
                        <a:pt x="1338" y="96045"/>
                      </a:cubicBezTo>
                      <a:cubicBezTo>
                        <a:pt x="-280" y="92331"/>
                        <a:pt x="-1137" y="89282"/>
                        <a:pt x="-1137" y="86901"/>
                      </a:cubicBezTo>
                      <a:cubicBezTo>
                        <a:pt x="-1137" y="83759"/>
                        <a:pt x="-185" y="81283"/>
                        <a:pt x="1815" y="79376"/>
                      </a:cubicBezTo>
                      <a:cubicBezTo>
                        <a:pt x="3910" y="77471"/>
                        <a:pt x="6387" y="76520"/>
                        <a:pt x="9435" y="76520"/>
                      </a:cubicBezTo>
                      <a:cubicBezTo>
                        <a:pt x="10863" y="76520"/>
                        <a:pt x="12388" y="76899"/>
                        <a:pt x="13721" y="77853"/>
                      </a:cubicBezTo>
                      <a:cubicBezTo>
                        <a:pt x="15150" y="78711"/>
                        <a:pt x="16102" y="79757"/>
                        <a:pt x="16484" y="80997"/>
                      </a:cubicBezTo>
                      <a:cubicBezTo>
                        <a:pt x="19245" y="88427"/>
                        <a:pt x="22294" y="94045"/>
                        <a:pt x="25437" y="97665"/>
                      </a:cubicBezTo>
                      <a:cubicBezTo>
                        <a:pt x="28675" y="101284"/>
                        <a:pt x="33153" y="103093"/>
                        <a:pt x="38963" y="103093"/>
                      </a:cubicBezTo>
                      <a:cubicBezTo>
                        <a:pt x="42296" y="103093"/>
                        <a:pt x="45534" y="102237"/>
                        <a:pt x="48583" y="100712"/>
                      </a:cubicBezTo>
                      <a:cubicBezTo>
                        <a:pt x="51726" y="98998"/>
                        <a:pt x="54298" y="96521"/>
                        <a:pt x="56202" y="93284"/>
                      </a:cubicBezTo>
                      <a:cubicBezTo>
                        <a:pt x="58299" y="90140"/>
                        <a:pt x="59346" y="86331"/>
                        <a:pt x="59346" y="82139"/>
                      </a:cubicBezTo>
                      <a:cubicBezTo>
                        <a:pt x="59346" y="75853"/>
                        <a:pt x="57631" y="70900"/>
                        <a:pt x="54107" y="67374"/>
                      </a:cubicBezTo>
                      <a:cubicBezTo>
                        <a:pt x="50678" y="63756"/>
                        <a:pt x="45916" y="61947"/>
                        <a:pt x="39820" y="61947"/>
                      </a:cubicBezTo>
                      <a:cubicBezTo>
                        <a:pt x="38677" y="61947"/>
                        <a:pt x="37057" y="62042"/>
                        <a:pt x="34771" y="62328"/>
                      </a:cubicBezTo>
                      <a:cubicBezTo>
                        <a:pt x="32581" y="62519"/>
                        <a:pt x="31056" y="62612"/>
                        <a:pt x="30485" y="62612"/>
                      </a:cubicBezTo>
                      <a:cubicBezTo>
                        <a:pt x="27532" y="62612"/>
                        <a:pt x="25246" y="61851"/>
                        <a:pt x="23628" y="60421"/>
                      </a:cubicBezTo>
                      <a:cubicBezTo>
                        <a:pt x="22008" y="58898"/>
                        <a:pt x="21151" y="56898"/>
                        <a:pt x="21151" y="54231"/>
                      </a:cubicBezTo>
                      <a:cubicBezTo>
                        <a:pt x="21151" y="51659"/>
                        <a:pt x="22103" y="49564"/>
                        <a:pt x="24103" y="48041"/>
                      </a:cubicBezTo>
                      <a:cubicBezTo>
                        <a:pt x="26009" y="46420"/>
                        <a:pt x="28866" y="45564"/>
                        <a:pt x="32676" y="4556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4EB7CCF5-7C6F-5FF9-DC1C-0D1A93A4AE28}"/>
                    </a:ext>
                  </a:extLst>
                </p:cNvPr>
                <p:cNvSpPr/>
                <p:nvPr/>
              </p:nvSpPr>
              <p:spPr>
                <a:xfrm>
                  <a:off x="7286497" y="4121500"/>
                  <a:ext cx="168687" cy="188023"/>
                </a:xfrm>
                <a:custGeom>
                  <a:avLst/>
                  <a:gdLst>
                    <a:gd name="csX0" fmla="*/ 128213 w 168687"/>
                    <a:gd name="csY0" fmla="*/ 162531 h 188023"/>
                    <a:gd name="csX1" fmla="*/ 119545 w 168687"/>
                    <a:gd name="csY1" fmla="*/ 139670 h 188023"/>
                    <a:gd name="csX2" fmla="*/ 45631 w 168687"/>
                    <a:gd name="csY2" fmla="*/ 139670 h 188023"/>
                    <a:gd name="csX3" fmla="*/ 36963 w 168687"/>
                    <a:gd name="csY3" fmla="*/ 163006 h 188023"/>
                    <a:gd name="csX4" fmla="*/ 28201 w 168687"/>
                    <a:gd name="csY4" fmla="*/ 181486 h 188023"/>
                    <a:gd name="csX5" fmla="*/ 16484 w 168687"/>
                    <a:gd name="csY5" fmla="*/ 186248 h 188023"/>
                    <a:gd name="csX6" fmla="*/ 4197 w 168687"/>
                    <a:gd name="csY6" fmla="*/ 181105 h 188023"/>
                    <a:gd name="csX7" fmla="*/ -1137 w 168687"/>
                    <a:gd name="csY7" fmla="*/ 169580 h 188023"/>
                    <a:gd name="csX8" fmla="*/ 101 w 168687"/>
                    <a:gd name="csY8" fmla="*/ 161864 h 188023"/>
                    <a:gd name="csX9" fmla="*/ 4197 w 168687"/>
                    <a:gd name="csY9" fmla="*/ 150911 h 188023"/>
                    <a:gd name="csX10" fmla="*/ 50679 w 168687"/>
                    <a:gd name="csY10" fmla="*/ 32800 h 188023"/>
                    <a:gd name="csX11" fmla="*/ 55442 w 168687"/>
                    <a:gd name="csY11" fmla="*/ 20607 h 188023"/>
                    <a:gd name="csX12" fmla="*/ 61347 w 168687"/>
                    <a:gd name="csY12" fmla="*/ 8701 h 188023"/>
                    <a:gd name="csX13" fmla="*/ 69634 w 168687"/>
                    <a:gd name="csY13" fmla="*/ 1176 h 188023"/>
                    <a:gd name="csX14" fmla="*/ 82397 w 168687"/>
                    <a:gd name="csY14" fmla="*/ -1775 h 188023"/>
                    <a:gd name="csX15" fmla="*/ 95256 w 168687"/>
                    <a:gd name="csY15" fmla="*/ 1176 h 188023"/>
                    <a:gd name="csX16" fmla="*/ 103543 w 168687"/>
                    <a:gd name="csY16" fmla="*/ 8606 h 188023"/>
                    <a:gd name="csX17" fmla="*/ 108877 w 168687"/>
                    <a:gd name="csY17" fmla="*/ 18512 h 188023"/>
                    <a:gd name="csX18" fmla="*/ 114401 w 168687"/>
                    <a:gd name="csY18" fmla="*/ 32514 h 188023"/>
                    <a:gd name="csX19" fmla="*/ 161931 w 168687"/>
                    <a:gd name="csY19" fmla="*/ 149862 h 188023"/>
                    <a:gd name="csX20" fmla="*/ 167550 w 168687"/>
                    <a:gd name="csY20" fmla="*/ 169389 h 188023"/>
                    <a:gd name="csX21" fmla="*/ 162217 w 168687"/>
                    <a:gd name="csY21" fmla="*/ 181009 h 188023"/>
                    <a:gd name="csX22" fmla="*/ 149549 w 168687"/>
                    <a:gd name="csY22" fmla="*/ 186248 h 188023"/>
                    <a:gd name="csX23" fmla="*/ 142119 w 168687"/>
                    <a:gd name="csY23" fmla="*/ 184628 h 188023"/>
                    <a:gd name="csX24" fmla="*/ 136880 w 168687"/>
                    <a:gd name="csY24" fmla="*/ 180533 h 188023"/>
                    <a:gd name="csX25" fmla="*/ 132308 w 168687"/>
                    <a:gd name="csY25" fmla="*/ 172342 h 188023"/>
                    <a:gd name="csX26" fmla="*/ 128213 w 168687"/>
                    <a:gd name="csY26" fmla="*/ 162531 h 188023"/>
                    <a:gd name="csX27" fmla="*/ 55251 w 168687"/>
                    <a:gd name="csY27" fmla="*/ 112048 h 188023"/>
                    <a:gd name="csX28" fmla="*/ 109639 w 168687"/>
                    <a:gd name="csY28" fmla="*/ 112048 h 188023"/>
                    <a:gd name="csX29" fmla="*/ 82207 w 168687"/>
                    <a:gd name="csY29" fmla="*/ 36990 h 1880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</a:cxnLst>
                  <a:rect l="l" t="t" r="r" b="b"/>
                  <a:pathLst>
                    <a:path w="168687" h="188023">
                      <a:moveTo>
                        <a:pt x="128213" y="162531"/>
                      </a:moveTo>
                      <a:lnTo>
                        <a:pt x="119545" y="139670"/>
                      </a:lnTo>
                      <a:lnTo>
                        <a:pt x="45631" y="139670"/>
                      </a:lnTo>
                      <a:lnTo>
                        <a:pt x="36963" y="163006"/>
                      </a:lnTo>
                      <a:cubicBezTo>
                        <a:pt x="33534" y="172152"/>
                        <a:pt x="30676" y="178247"/>
                        <a:pt x="28201" y="181486"/>
                      </a:cubicBezTo>
                      <a:cubicBezTo>
                        <a:pt x="25819" y="184628"/>
                        <a:pt x="21914" y="186248"/>
                        <a:pt x="16484" y="186248"/>
                      </a:cubicBezTo>
                      <a:cubicBezTo>
                        <a:pt x="11817" y="186248"/>
                        <a:pt x="7722" y="184532"/>
                        <a:pt x="4197" y="181105"/>
                      </a:cubicBezTo>
                      <a:cubicBezTo>
                        <a:pt x="578" y="177770"/>
                        <a:pt x="-1137" y="173865"/>
                        <a:pt x="-1137" y="169580"/>
                      </a:cubicBezTo>
                      <a:cubicBezTo>
                        <a:pt x="-1137" y="167103"/>
                        <a:pt x="-756" y="164531"/>
                        <a:pt x="101" y="161864"/>
                      </a:cubicBezTo>
                      <a:cubicBezTo>
                        <a:pt x="863" y="159292"/>
                        <a:pt x="2292" y="155578"/>
                        <a:pt x="4197" y="150911"/>
                      </a:cubicBezTo>
                      <a:lnTo>
                        <a:pt x="50679" y="32800"/>
                      </a:lnTo>
                      <a:cubicBezTo>
                        <a:pt x="52013" y="29372"/>
                        <a:pt x="53536" y="25370"/>
                        <a:pt x="55442" y="20607"/>
                      </a:cubicBezTo>
                      <a:cubicBezTo>
                        <a:pt x="57346" y="15845"/>
                        <a:pt x="59251" y="11845"/>
                        <a:pt x="61347" y="8701"/>
                      </a:cubicBezTo>
                      <a:cubicBezTo>
                        <a:pt x="63538" y="5559"/>
                        <a:pt x="66301" y="3083"/>
                        <a:pt x="69634" y="1176"/>
                      </a:cubicBezTo>
                      <a:cubicBezTo>
                        <a:pt x="73158" y="-824"/>
                        <a:pt x="77349" y="-1775"/>
                        <a:pt x="82397" y="-1775"/>
                      </a:cubicBezTo>
                      <a:cubicBezTo>
                        <a:pt x="87541" y="-1775"/>
                        <a:pt x="91827" y="-824"/>
                        <a:pt x="95256" y="1176"/>
                      </a:cubicBezTo>
                      <a:cubicBezTo>
                        <a:pt x="98685" y="3083"/>
                        <a:pt x="101447" y="5559"/>
                        <a:pt x="103543" y="8606"/>
                      </a:cubicBezTo>
                      <a:cubicBezTo>
                        <a:pt x="105638" y="11654"/>
                        <a:pt x="107448" y="14989"/>
                        <a:pt x="108877" y="18512"/>
                      </a:cubicBezTo>
                      <a:cubicBezTo>
                        <a:pt x="110306" y="22038"/>
                        <a:pt x="112211" y="26705"/>
                        <a:pt x="114401" y="32514"/>
                      </a:cubicBezTo>
                      <a:lnTo>
                        <a:pt x="161931" y="149862"/>
                      </a:lnTo>
                      <a:cubicBezTo>
                        <a:pt x="165646" y="158815"/>
                        <a:pt x="167550" y="165292"/>
                        <a:pt x="167550" y="169389"/>
                      </a:cubicBezTo>
                      <a:cubicBezTo>
                        <a:pt x="167550" y="173579"/>
                        <a:pt x="165741" y="177484"/>
                        <a:pt x="162217" y="181009"/>
                      </a:cubicBezTo>
                      <a:cubicBezTo>
                        <a:pt x="158693" y="184437"/>
                        <a:pt x="154501" y="186248"/>
                        <a:pt x="149549" y="186248"/>
                      </a:cubicBezTo>
                      <a:cubicBezTo>
                        <a:pt x="146596" y="186248"/>
                        <a:pt x="144119" y="185676"/>
                        <a:pt x="142119" y="184628"/>
                      </a:cubicBezTo>
                      <a:cubicBezTo>
                        <a:pt x="140024" y="183581"/>
                        <a:pt x="138309" y="182246"/>
                        <a:pt x="136880" y="180533"/>
                      </a:cubicBezTo>
                      <a:cubicBezTo>
                        <a:pt x="135451" y="178723"/>
                        <a:pt x="133928" y="175961"/>
                        <a:pt x="132308" y="172342"/>
                      </a:cubicBezTo>
                      <a:cubicBezTo>
                        <a:pt x="130689" y="168626"/>
                        <a:pt x="129356" y="165387"/>
                        <a:pt x="128213" y="162531"/>
                      </a:cubicBezTo>
                      <a:close/>
                      <a:moveTo>
                        <a:pt x="55251" y="112048"/>
                      </a:moveTo>
                      <a:lnTo>
                        <a:pt x="109639" y="112048"/>
                      </a:lnTo>
                      <a:lnTo>
                        <a:pt x="82207" y="369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7CB47B03-4E4B-13A6-1029-E8D2DBBD9AA6}"/>
                    </a:ext>
                  </a:extLst>
                </p:cNvPr>
                <p:cNvSpPr/>
                <p:nvPr/>
              </p:nvSpPr>
              <p:spPr>
                <a:xfrm>
                  <a:off x="7471473" y="4238276"/>
                  <a:ext cx="82676" cy="118871"/>
                </a:xfrm>
                <a:custGeom>
                  <a:avLst/>
                  <a:gdLst>
                    <a:gd name="csX0" fmla="*/ 26581 w 82676"/>
                    <a:gd name="csY0" fmla="*/ 98142 h 118871"/>
                    <a:gd name="csX1" fmla="*/ 68681 w 82676"/>
                    <a:gd name="csY1" fmla="*/ 98142 h 118871"/>
                    <a:gd name="csX2" fmla="*/ 78206 w 82676"/>
                    <a:gd name="csY2" fmla="*/ 100714 h 118871"/>
                    <a:gd name="csX3" fmla="*/ 81539 w 82676"/>
                    <a:gd name="csY3" fmla="*/ 107667 h 118871"/>
                    <a:gd name="csX4" fmla="*/ 78873 w 82676"/>
                    <a:gd name="csY4" fmla="*/ 114430 h 118871"/>
                    <a:gd name="csX5" fmla="*/ 70967 w 82676"/>
                    <a:gd name="csY5" fmla="*/ 117097 h 118871"/>
                    <a:gd name="csX6" fmla="*/ 11626 w 82676"/>
                    <a:gd name="csY6" fmla="*/ 117097 h 118871"/>
                    <a:gd name="csX7" fmla="*/ 2196 w 82676"/>
                    <a:gd name="csY7" fmla="*/ 113858 h 118871"/>
                    <a:gd name="csX8" fmla="*/ -1137 w 82676"/>
                    <a:gd name="csY8" fmla="*/ 105951 h 118871"/>
                    <a:gd name="csX9" fmla="*/ 1053 w 82676"/>
                    <a:gd name="csY9" fmla="*/ 98238 h 118871"/>
                    <a:gd name="csX10" fmla="*/ 5816 w 82676"/>
                    <a:gd name="csY10" fmla="*/ 90712 h 118871"/>
                    <a:gd name="csX11" fmla="*/ 25152 w 82676"/>
                    <a:gd name="csY11" fmla="*/ 71662 h 118871"/>
                    <a:gd name="csX12" fmla="*/ 37438 w 82676"/>
                    <a:gd name="csY12" fmla="*/ 61184 h 118871"/>
                    <a:gd name="csX13" fmla="*/ 48392 w 82676"/>
                    <a:gd name="csY13" fmla="*/ 51850 h 118871"/>
                    <a:gd name="csX14" fmla="*/ 55156 w 82676"/>
                    <a:gd name="csY14" fmla="*/ 42134 h 118871"/>
                    <a:gd name="csX15" fmla="*/ 57442 w 82676"/>
                    <a:gd name="csY15" fmla="*/ 32418 h 118871"/>
                    <a:gd name="csX16" fmla="*/ 54965 w 82676"/>
                    <a:gd name="csY16" fmla="*/ 23179 h 118871"/>
                    <a:gd name="csX17" fmla="*/ 48297 w 82676"/>
                    <a:gd name="csY17" fmla="*/ 16894 h 118871"/>
                    <a:gd name="csX18" fmla="*/ 39058 w 82676"/>
                    <a:gd name="csY18" fmla="*/ 14608 h 118871"/>
                    <a:gd name="csX19" fmla="*/ 22485 w 82676"/>
                    <a:gd name="csY19" fmla="*/ 23847 h 118871"/>
                    <a:gd name="csX20" fmla="*/ 19722 w 82676"/>
                    <a:gd name="csY20" fmla="*/ 30514 h 118871"/>
                    <a:gd name="csX21" fmla="*/ 15436 w 82676"/>
                    <a:gd name="csY21" fmla="*/ 38802 h 118871"/>
                    <a:gd name="csX22" fmla="*/ 8483 w 82676"/>
                    <a:gd name="csY22" fmla="*/ 41657 h 118871"/>
                    <a:gd name="csX23" fmla="*/ 1815 w 82676"/>
                    <a:gd name="csY23" fmla="*/ 38990 h 118871"/>
                    <a:gd name="csX24" fmla="*/ -851 w 82676"/>
                    <a:gd name="csY24" fmla="*/ 31753 h 118871"/>
                    <a:gd name="csX25" fmla="*/ 1624 w 82676"/>
                    <a:gd name="csY25" fmla="*/ 20131 h 118871"/>
                    <a:gd name="csX26" fmla="*/ 9054 w 82676"/>
                    <a:gd name="csY26" fmla="*/ 9178 h 118871"/>
                    <a:gd name="csX27" fmla="*/ 21628 w 82676"/>
                    <a:gd name="csY27" fmla="*/ 1271 h 118871"/>
                    <a:gd name="csX28" fmla="*/ 39535 w 82676"/>
                    <a:gd name="csY28" fmla="*/ -1775 h 118871"/>
                    <a:gd name="csX29" fmla="*/ 60585 w 82676"/>
                    <a:gd name="csY29" fmla="*/ 2129 h 118871"/>
                    <a:gd name="csX30" fmla="*/ 70491 w 82676"/>
                    <a:gd name="csY30" fmla="*/ 9178 h 118871"/>
                    <a:gd name="csX31" fmla="*/ 77158 w 82676"/>
                    <a:gd name="csY31" fmla="*/ 19656 h 118871"/>
                    <a:gd name="csX32" fmla="*/ 79539 w 82676"/>
                    <a:gd name="csY32" fmla="*/ 31942 h 118871"/>
                    <a:gd name="csX33" fmla="*/ 74586 w 82676"/>
                    <a:gd name="csY33" fmla="*/ 50136 h 118871"/>
                    <a:gd name="csX34" fmla="*/ 64490 w 82676"/>
                    <a:gd name="csY34" fmla="*/ 62993 h 118871"/>
                    <a:gd name="csX35" fmla="*/ 47154 w 82676"/>
                    <a:gd name="csY35" fmla="*/ 77471 h 118871"/>
                    <a:gd name="csX36" fmla="*/ 30485 w 82676"/>
                    <a:gd name="csY36" fmla="*/ 92903 h 118871"/>
                    <a:gd name="csX37" fmla="*/ 26581 w 82676"/>
                    <a:gd name="csY37" fmla="*/ 98142 h 11887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</a:cxnLst>
                  <a:rect l="l" t="t" r="r" b="b"/>
                  <a:pathLst>
                    <a:path w="82676" h="118871">
                      <a:moveTo>
                        <a:pt x="26581" y="98142"/>
                      </a:moveTo>
                      <a:lnTo>
                        <a:pt x="68681" y="98142"/>
                      </a:lnTo>
                      <a:cubicBezTo>
                        <a:pt x="72872" y="98142"/>
                        <a:pt x="76015" y="98998"/>
                        <a:pt x="78206" y="100714"/>
                      </a:cubicBezTo>
                      <a:cubicBezTo>
                        <a:pt x="80492" y="102428"/>
                        <a:pt x="81539" y="104714"/>
                        <a:pt x="81539" y="107667"/>
                      </a:cubicBezTo>
                      <a:cubicBezTo>
                        <a:pt x="81539" y="110334"/>
                        <a:pt x="80682" y="112525"/>
                        <a:pt x="78873" y="114430"/>
                      </a:cubicBezTo>
                      <a:cubicBezTo>
                        <a:pt x="77158" y="116239"/>
                        <a:pt x="74586" y="117097"/>
                        <a:pt x="70967" y="117097"/>
                      </a:cubicBezTo>
                      <a:lnTo>
                        <a:pt x="11626" y="117097"/>
                      </a:lnTo>
                      <a:cubicBezTo>
                        <a:pt x="7625" y="117097"/>
                        <a:pt x="4482" y="116048"/>
                        <a:pt x="2196" y="113858"/>
                      </a:cubicBezTo>
                      <a:cubicBezTo>
                        <a:pt x="6" y="111572"/>
                        <a:pt x="-1137" y="108904"/>
                        <a:pt x="-1137" y="105951"/>
                      </a:cubicBezTo>
                      <a:cubicBezTo>
                        <a:pt x="-1137" y="104046"/>
                        <a:pt x="-471" y="101475"/>
                        <a:pt x="1053" y="98238"/>
                      </a:cubicBezTo>
                      <a:cubicBezTo>
                        <a:pt x="2482" y="95094"/>
                        <a:pt x="4101" y="92522"/>
                        <a:pt x="5816" y="90712"/>
                      </a:cubicBezTo>
                      <a:cubicBezTo>
                        <a:pt x="12960" y="83283"/>
                        <a:pt x="19342" y="76902"/>
                        <a:pt x="25152" y="71662"/>
                      </a:cubicBezTo>
                      <a:cubicBezTo>
                        <a:pt x="30867" y="66328"/>
                        <a:pt x="34962" y="62898"/>
                        <a:pt x="37438" y="61184"/>
                      </a:cubicBezTo>
                      <a:cubicBezTo>
                        <a:pt x="41821" y="58040"/>
                        <a:pt x="45536" y="54994"/>
                        <a:pt x="48392" y="51850"/>
                      </a:cubicBezTo>
                      <a:cubicBezTo>
                        <a:pt x="51346" y="48706"/>
                        <a:pt x="53632" y="45469"/>
                        <a:pt x="55156" y="42134"/>
                      </a:cubicBezTo>
                      <a:cubicBezTo>
                        <a:pt x="56679" y="38802"/>
                        <a:pt x="57442" y="35562"/>
                        <a:pt x="57442" y="32418"/>
                      </a:cubicBezTo>
                      <a:cubicBezTo>
                        <a:pt x="57442" y="28991"/>
                        <a:pt x="56584" y="25942"/>
                        <a:pt x="54965" y="23179"/>
                      </a:cubicBezTo>
                      <a:cubicBezTo>
                        <a:pt x="53346" y="20512"/>
                        <a:pt x="51155" y="18321"/>
                        <a:pt x="48297" y="16894"/>
                      </a:cubicBezTo>
                      <a:cubicBezTo>
                        <a:pt x="45440" y="15368"/>
                        <a:pt x="42392" y="14608"/>
                        <a:pt x="39058" y="14608"/>
                      </a:cubicBezTo>
                      <a:cubicBezTo>
                        <a:pt x="32010" y="14608"/>
                        <a:pt x="26486" y="17654"/>
                        <a:pt x="22485" y="23847"/>
                      </a:cubicBezTo>
                      <a:cubicBezTo>
                        <a:pt x="21913" y="24702"/>
                        <a:pt x="21056" y="26895"/>
                        <a:pt x="19722" y="30514"/>
                      </a:cubicBezTo>
                      <a:cubicBezTo>
                        <a:pt x="18484" y="34039"/>
                        <a:pt x="17056" y="36799"/>
                        <a:pt x="15436" y="38802"/>
                      </a:cubicBezTo>
                      <a:cubicBezTo>
                        <a:pt x="13912" y="40706"/>
                        <a:pt x="11626" y="41657"/>
                        <a:pt x="8483" y="41657"/>
                      </a:cubicBezTo>
                      <a:cubicBezTo>
                        <a:pt x="5816" y="41657"/>
                        <a:pt x="3625" y="40802"/>
                        <a:pt x="1815" y="38990"/>
                      </a:cubicBezTo>
                      <a:cubicBezTo>
                        <a:pt x="6" y="37276"/>
                        <a:pt x="-851" y="34800"/>
                        <a:pt x="-851" y="31753"/>
                      </a:cubicBezTo>
                      <a:cubicBezTo>
                        <a:pt x="-851" y="28037"/>
                        <a:pt x="6" y="24228"/>
                        <a:pt x="1624" y="20131"/>
                      </a:cubicBezTo>
                      <a:cubicBezTo>
                        <a:pt x="3339" y="16131"/>
                        <a:pt x="5816" y="12513"/>
                        <a:pt x="9054" y="9178"/>
                      </a:cubicBezTo>
                      <a:cubicBezTo>
                        <a:pt x="12388" y="5939"/>
                        <a:pt x="16579" y="3271"/>
                        <a:pt x="21628" y="1271"/>
                      </a:cubicBezTo>
                      <a:cubicBezTo>
                        <a:pt x="26770" y="-729"/>
                        <a:pt x="32771" y="-1775"/>
                        <a:pt x="39535" y="-1775"/>
                      </a:cubicBezTo>
                      <a:cubicBezTo>
                        <a:pt x="47821" y="-1775"/>
                        <a:pt x="54775" y="-442"/>
                        <a:pt x="60585" y="2129"/>
                      </a:cubicBezTo>
                      <a:cubicBezTo>
                        <a:pt x="64395" y="3843"/>
                        <a:pt x="67633" y="6225"/>
                        <a:pt x="70491" y="9178"/>
                      </a:cubicBezTo>
                      <a:cubicBezTo>
                        <a:pt x="73348" y="12227"/>
                        <a:pt x="75538" y="15654"/>
                        <a:pt x="77158" y="19656"/>
                      </a:cubicBezTo>
                      <a:cubicBezTo>
                        <a:pt x="78778" y="23561"/>
                        <a:pt x="79539" y="27656"/>
                        <a:pt x="79539" y="31942"/>
                      </a:cubicBezTo>
                      <a:cubicBezTo>
                        <a:pt x="79539" y="38611"/>
                        <a:pt x="77824" y="44706"/>
                        <a:pt x="74586" y="50136"/>
                      </a:cubicBezTo>
                      <a:cubicBezTo>
                        <a:pt x="71253" y="55566"/>
                        <a:pt x="67919" y="59852"/>
                        <a:pt x="64490" y="62993"/>
                      </a:cubicBezTo>
                      <a:cubicBezTo>
                        <a:pt x="61061" y="66042"/>
                        <a:pt x="55250" y="70900"/>
                        <a:pt x="47154" y="77471"/>
                      </a:cubicBezTo>
                      <a:cubicBezTo>
                        <a:pt x="39058" y="84045"/>
                        <a:pt x="33534" y="89187"/>
                        <a:pt x="30485" y="92903"/>
                      </a:cubicBezTo>
                      <a:cubicBezTo>
                        <a:pt x="29247" y="94331"/>
                        <a:pt x="27913" y="96047"/>
                        <a:pt x="26581" y="9814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" name="Graphic 78">
                <a:extLst>
                  <a:ext uri="{FF2B5EF4-FFF2-40B4-BE49-F238E27FC236}">
                    <a16:creationId xmlns:a16="http://schemas.microsoft.com/office/drawing/2014/main" id="{BCC25BC7-1C3C-2436-47C1-1DC8A4EB91BF}"/>
                  </a:ext>
                </a:extLst>
              </p:cNvPr>
              <p:cNvGrpSpPr/>
              <p:nvPr/>
            </p:nvGrpSpPr>
            <p:grpSpPr>
              <a:xfrm>
                <a:off x="7743433" y="3914438"/>
                <a:ext cx="1390050" cy="26688"/>
                <a:chOff x="7852282" y="4744529"/>
                <a:chExt cx="992219" cy="19050"/>
              </a:xfrm>
              <a:solidFill>
                <a:srgbClr val="000000"/>
              </a:solidFill>
            </p:grpSpPr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7CACC808-5C40-312D-B00E-96F50A433479}"/>
                    </a:ext>
                  </a:extLst>
                </p:cNvPr>
                <p:cNvSpPr/>
                <p:nvPr/>
              </p:nvSpPr>
              <p:spPr>
                <a:xfrm>
                  <a:off x="7852282" y="4754054"/>
                  <a:ext cx="992219" cy="9525"/>
                </a:xfrm>
                <a:custGeom>
                  <a:avLst/>
                  <a:gdLst>
                    <a:gd name="csX0" fmla="*/ -1137 w 992219"/>
                    <a:gd name="csY0" fmla="*/ -1775 h 9525"/>
                    <a:gd name="csX1" fmla="*/ 991083 w 992219"/>
                    <a:gd name="csY1" fmla="*/ -1775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92219" h="9525">
                      <a:moveTo>
                        <a:pt x="-1137" y="-1775"/>
                      </a:moveTo>
                      <a:lnTo>
                        <a:pt x="991083" y="-1775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1C228346-843B-5319-9AE0-00006A4342E0}"/>
                    </a:ext>
                  </a:extLst>
                </p:cNvPr>
                <p:cNvSpPr/>
                <p:nvPr/>
              </p:nvSpPr>
              <p:spPr>
                <a:xfrm>
                  <a:off x="7852282" y="4744529"/>
                  <a:ext cx="992124" cy="19050"/>
                </a:xfrm>
                <a:custGeom>
                  <a:avLst/>
                  <a:gdLst>
                    <a:gd name="csX0" fmla="*/ -1137 w 992124"/>
                    <a:gd name="csY0" fmla="*/ -1775 h 19050"/>
                    <a:gd name="csX1" fmla="*/ -1137 w 992124"/>
                    <a:gd name="csY1" fmla="*/ 17275 h 19050"/>
                    <a:gd name="csX2" fmla="*/ 990987 w 992124"/>
                    <a:gd name="csY2" fmla="*/ 17275 h 19050"/>
                    <a:gd name="csX3" fmla="*/ 990987 w 992124"/>
                    <a:gd name="csY3" fmla="*/ -1775 h 190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992124" h="19050">
                      <a:moveTo>
                        <a:pt x="-1137" y="-1775"/>
                      </a:moveTo>
                      <a:lnTo>
                        <a:pt x="-1137" y="17275"/>
                      </a:lnTo>
                      <a:lnTo>
                        <a:pt x="990987" y="17275"/>
                      </a:lnTo>
                      <a:lnTo>
                        <a:pt x="990987" y="-17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81AE301F-2F55-D685-D1AE-C242502C1A67}"/>
                  </a:ext>
                </a:extLst>
              </p:cNvPr>
              <p:cNvSpPr/>
              <p:nvPr/>
            </p:nvSpPr>
            <p:spPr>
              <a:xfrm>
                <a:off x="7362060" y="3823298"/>
                <a:ext cx="303176" cy="271018"/>
              </a:xfrm>
              <a:custGeom>
                <a:avLst/>
                <a:gdLst>
                  <a:gd name="csX0" fmla="*/ 20960 w 216407"/>
                  <a:gd name="csY0" fmla="*/ 14703 h 193453"/>
                  <a:gd name="csX1" fmla="*/ 20960 w 216407"/>
                  <a:gd name="csY1" fmla="*/ 178058 h 193453"/>
                  <a:gd name="csX2" fmla="*/ 17913 w 216407"/>
                  <a:gd name="csY2" fmla="*/ 188251 h 193453"/>
                  <a:gd name="csX3" fmla="*/ 10006 w 216407"/>
                  <a:gd name="csY3" fmla="*/ 191678 h 193453"/>
                  <a:gd name="csX4" fmla="*/ 2006 w 216407"/>
                  <a:gd name="csY4" fmla="*/ 188251 h 193453"/>
                  <a:gd name="csX5" fmla="*/ -1137 w 216407"/>
                  <a:gd name="csY5" fmla="*/ 178058 h 193453"/>
                  <a:gd name="csX6" fmla="*/ -1137 w 216407"/>
                  <a:gd name="csY6" fmla="*/ 14703 h 193453"/>
                  <a:gd name="csX7" fmla="*/ 2006 w 216407"/>
                  <a:gd name="csY7" fmla="*/ 4513 h 193453"/>
                  <a:gd name="csX8" fmla="*/ 10006 w 216407"/>
                  <a:gd name="csY8" fmla="*/ 1083 h 193453"/>
                  <a:gd name="csX9" fmla="*/ 17913 w 216407"/>
                  <a:gd name="csY9" fmla="*/ 4608 h 193453"/>
                  <a:gd name="csX10" fmla="*/ 20960 w 216407"/>
                  <a:gd name="csY10" fmla="*/ 14703 h 193453"/>
                  <a:gd name="csX11" fmla="*/ 149548 w 216407"/>
                  <a:gd name="csY11" fmla="*/ 77664 h 193453"/>
                  <a:gd name="csX12" fmla="*/ 147548 w 216407"/>
                  <a:gd name="csY12" fmla="*/ 105667 h 193453"/>
                  <a:gd name="csX13" fmla="*/ 140214 w 216407"/>
                  <a:gd name="csY13" fmla="*/ 126908 h 193453"/>
                  <a:gd name="csX14" fmla="*/ 122783 w 216407"/>
                  <a:gd name="csY14" fmla="*/ 144911 h 193453"/>
                  <a:gd name="csX15" fmla="*/ 98971 w 216407"/>
                  <a:gd name="csY15" fmla="*/ 151292 h 193453"/>
                  <a:gd name="csX16" fmla="*/ 71824 w 216407"/>
                  <a:gd name="csY16" fmla="*/ 142721 h 193453"/>
                  <a:gd name="csX17" fmla="*/ 53916 w 216407"/>
                  <a:gd name="csY17" fmla="*/ 119194 h 193453"/>
                  <a:gd name="csX18" fmla="*/ 49345 w 216407"/>
                  <a:gd name="csY18" fmla="*/ 101000 h 193453"/>
                  <a:gd name="csX19" fmla="*/ 47916 w 216407"/>
                  <a:gd name="csY19" fmla="*/ 79378 h 193453"/>
                  <a:gd name="csX20" fmla="*/ 49535 w 216407"/>
                  <a:gd name="csY20" fmla="*/ 52424 h 193453"/>
                  <a:gd name="csX21" fmla="*/ 54489 w 216407"/>
                  <a:gd name="csY21" fmla="*/ 31753 h 193453"/>
                  <a:gd name="csX22" fmla="*/ 71443 w 216407"/>
                  <a:gd name="csY22" fmla="*/ 10036 h 193453"/>
                  <a:gd name="csX23" fmla="*/ 98113 w 216407"/>
                  <a:gd name="csY23" fmla="*/ 2513 h 193453"/>
                  <a:gd name="csX24" fmla="*/ 116687 w 216407"/>
                  <a:gd name="csY24" fmla="*/ 5845 h 193453"/>
                  <a:gd name="csX25" fmla="*/ 131259 w 216407"/>
                  <a:gd name="csY25" fmla="*/ 15561 h 193453"/>
                  <a:gd name="csX26" fmla="*/ 142023 w 216407"/>
                  <a:gd name="csY26" fmla="*/ 31372 h 193453"/>
                  <a:gd name="csX27" fmla="*/ 149548 w 216407"/>
                  <a:gd name="csY27" fmla="*/ 77664 h 193453"/>
                  <a:gd name="csX28" fmla="*/ 122306 w 216407"/>
                  <a:gd name="csY28" fmla="*/ 75664 h 193453"/>
                  <a:gd name="csX29" fmla="*/ 120116 w 216407"/>
                  <a:gd name="csY29" fmla="*/ 46041 h 193453"/>
                  <a:gd name="csX30" fmla="*/ 112781 w 216407"/>
                  <a:gd name="csY30" fmla="*/ 28612 h 193453"/>
                  <a:gd name="csX31" fmla="*/ 98494 w 216407"/>
                  <a:gd name="csY31" fmla="*/ 22610 h 193453"/>
                  <a:gd name="csX32" fmla="*/ 80301 w 216407"/>
                  <a:gd name="csY32" fmla="*/ 35851 h 193453"/>
                  <a:gd name="csX33" fmla="*/ 75252 w 216407"/>
                  <a:gd name="csY33" fmla="*/ 76520 h 193453"/>
                  <a:gd name="csX34" fmla="*/ 77444 w 216407"/>
                  <a:gd name="csY34" fmla="*/ 107002 h 193453"/>
                  <a:gd name="csX35" fmla="*/ 84777 w 216407"/>
                  <a:gd name="csY35" fmla="*/ 125099 h 193453"/>
                  <a:gd name="csX36" fmla="*/ 98685 w 216407"/>
                  <a:gd name="csY36" fmla="*/ 131194 h 193453"/>
                  <a:gd name="csX37" fmla="*/ 112972 w 216407"/>
                  <a:gd name="csY37" fmla="*/ 124813 h 193453"/>
                  <a:gd name="csX38" fmla="*/ 120307 w 216407"/>
                  <a:gd name="csY38" fmla="*/ 106621 h 193453"/>
                  <a:gd name="csX39" fmla="*/ 122306 w 216407"/>
                  <a:gd name="csY39" fmla="*/ 75664 h 193453"/>
                  <a:gd name="csX40" fmla="*/ 182504 w 216407"/>
                  <a:gd name="csY40" fmla="*/ -1775 h 193453"/>
                  <a:gd name="csX41" fmla="*/ 215271 w 216407"/>
                  <a:gd name="csY41" fmla="*/ 93380 h 193453"/>
                  <a:gd name="csX42" fmla="*/ 182504 w 216407"/>
                  <a:gd name="csY42" fmla="*/ 188439 h 193453"/>
                  <a:gd name="csX43" fmla="*/ 169550 w 216407"/>
                  <a:gd name="csY43" fmla="*/ 188439 h 193453"/>
                  <a:gd name="csX44" fmla="*/ 201174 w 216407"/>
                  <a:gd name="csY44" fmla="*/ 93380 h 193453"/>
                  <a:gd name="csX45" fmla="*/ 169550 w 216407"/>
                  <a:gd name="csY45" fmla="*/ -1775 h 1934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</a:cxnLst>
                <a:rect l="l" t="t" r="r" b="b"/>
                <a:pathLst>
                  <a:path w="216407" h="193453">
                    <a:moveTo>
                      <a:pt x="20960" y="14703"/>
                    </a:moveTo>
                    <a:lnTo>
                      <a:pt x="20960" y="178058"/>
                    </a:lnTo>
                    <a:cubicBezTo>
                      <a:pt x="20960" y="182630"/>
                      <a:pt x="19913" y="185962"/>
                      <a:pt x="17913" y="188251"/>
                    </a:cubicBezTo>
                    <a:cubicBezTo>
                      <a:pt x="15912" y="190537"/>
                      <a:pt x="13246" y="191678"/>
                      <a:pt x="10006" y="191678"/>
                    </a:cubicBezTo>
                    <a:cubicBezTo>
                      <a:pt x="6768" y="191678"/>
                      <a:pt x="4101" y="190537"/>
                      <a:pt x="2006" y="188251"/>
                    </a:cubicBezTo>
                    <a:cubicBezTo>
                      <a:pt x="-90" y="185869"/>
                      <a:pt x="-1137" y="182535"/>
                      <a:pt x="-1137" y="178058"/>
                    </a:cubicBezTo>
                    <a:lnTo>
                      <a:pt x="-1137" y="14703"/>
                    </a:lnTo>
                    <a:cubicBezTo>
                      <a:pt x="-1137" y="10227"/>
                      <a:pt x="-90" y="6894"/>
                      <a:pt x="2006" y="4513"/>
                    </a:cubicBezTo>
                    <a:cubicBezTo>
                      <a:pt x="4101" y="2227"/>
                      <a:pt x="6768" y="1083"/>
                      <a:pt x="10006" y="1083"/>
                    </a:cubicBezTo>
                    <a:cubicBezTo>
                      <a:pt x="13246" y="1083"/>
                      <a:pt x="15912" y="2227"/>
                      <a:pt x="17913" y="4608"/>
                    </a:cubicBezTo>
                    <a:cubicBezTo>
                      <a:pt x="19913" y="6990"/>
                      <a:pt x="20960" y="10322"/>
                      <a:pt x="20960" y="14703"/>
                    </a:cubicBezTo>
                    <a:close/>
                    <a:moveTo>
                      <a:pt x="149548" y="77664"/>
                    </a:moveTo>
                    <a:cubicBezTo>
                      <a:pt x="149548" y="88522"/>
                      <a:pt x="148882" y="97856"/>
                      <a:pt x="147548" y="105667"/>
                    </a:cubicBezTo>
                    <a:cubicBezTo>
                      <a:pt x="146214" y="113478"/>
                      <a:pt x="143738" y="120527"/>
                      <a:pt x="140214" y="126908"/>
                    </a:cubicBezTo>
                    <a:cubicBezTo>
                      <a:pt x="135737" y="134719"/>
                      <a:pt x="129927" y="140719"/>
                      <a:pt x="122783" y="144911"/>
                    </a:cubicBezTo>
                    <a:cubicBezTo>
                      <a:pt x="115639" y="149197"/>
                      <a:pt x="107638" y="151292"/>
                      <a:pt x="98971" y="151292"/>
                    </a:cubicBezTo>
                    <a:cubicBezTo>
                      <a:pt x="88874" y="151292"/>
                      <a:pt x="79825" y="148434"/>
                      <a:pt x="71824" y="142721"/>
                    </a:cubicBezTo>
                    <a:cubicBezTo>
                      <a:pt x="63918" y="137100"/>
                      <a:pt x="57917" y="129194"/>
                      <a:pt x="53916" y="119194"/>
                    </a:cubicBezTo>
                    <a:cubicBezTo>
                      <a:pt x="51821" y="113669"/>
                      <a:pt x="50297" y="107572"/>
                      <a:pt x="49345" y="101000"/>
                    </a:cubicBezTo>
                    <a:cubicBezTo>
                      <a:pt x="48392" y="94333"/>
                      <a:pt x="47916" y="87094"/>
                      <a:pt x="47916" y="79378"/>
                    </a:cubicBezTo>
                    <a:cubicBezTo>
                      <a:pt x="47916" y="69377"/>
                      <a:pt x="48488" y="60424"/>
                      <a:pt x="49535" y="52424"/>
                    </a:cubicBezTo>
                    <a:cubicBezTo>
                      <a:pt x="50583" y="44422"/>
                      <a:pt x="52203" y="37469"/>
                      <a:pt x="54489" y="31753"/>
                    </a:cubicBezTo>
                    <a:cubicBezTo>
                      <a:pt x="58394" y="22228"/>
                      <a:pt x="64014" y="14989"/>
                      <a:pt x="71443" y="10036"/>
                    </a:cubicBezTo>
                    <a:cubicBezTo>
                      <a:pt x="78872" y="4987"/>
                      <a:pt x="87826" y="2513"/>
                      <a:pt x="98113" y="2513"/>
                    </a:cubicBezTo>
                    <a:cubicBezTo>
                      <a:pt x="104970" y="2513"/>
                      <a:pt x="111162" y="3560"/>
                      <a:pt x="116687" y="5845"/>
                    </a:cubicBezTo>
                    <a:cubicBezTo>
                      <a:pt x="122211" y="8036"/>
                      <a:pt x="127069" y="11275"/>
                      <a:pt x="131259" y="15561"/>
                    </a:cubicBezTo>
                    <a:cubicBezTo>
                      <a:pt x="135546" y="19847"/>
                      <a:pt x="139071" y="25086"/>
                      <a:pt x="142023" y="31372"/>
                    </a:cubicBezTo>
                    <a:cubicBezTo>
                      <a:pt x="146976" y="42232"/>
                      <a:pt x="149548" y="57661"/>
                      <a:pt x="149548" y="77664"/>
                    </a:cubicBezTo>
                    <a:close/>
                    <a:moveTo>
                      <a:pt x="122306" y="75664"/>
                    </a:moveTo>
                    <a:cubicBezTo>
                      <a:pt x="122306" y="63568"/>
                      <a:pt x="121639" y="53661"/>
                      <a:pt x="120116" y="46041"/>
                    </a:cubicBezTo>
                    <a:cubicBezTo>
                      <a:pt x="118687" y="38325"/>
                      <a:pt x="116210" y="32516"/>
                      <a:pt x="112781" y="28612"/>
                    </a:cubicBezTo>
                    <a:cubicBezTo>
                      <a:pt x="109353" y="24609"/>
                      <a:pt x="104590" y="22610"/>
                      <a:pt x="98494" y="22610"/>
                    </a:cubicBezTo>
                    <a:cubicBezTo>
                      <a:pt x="89826" y="22610"/>
                      <a:pt x="83730" y="26991"/>
                      <a:pt x="80301" y="35851"/>
                    </a:cubicBezTo>
                    <a:cubicBezTo>
                      <a:pt x="76872" y="44613"/>
                      <a:pt x="75252" y="58138"/>
                      <a:pt x="75252" y="76520"/>
                    </a:cubicBezTo>
                    <a:cubicBezTo>
                      <a:pt x="75252" y="88903"/>
                      <a:pt x="75920" y="99096"/>
                      <a:pt x="77444" y="107002"/>
                    </a:cubicBezTo>
                    <a:cubicBezTo>
                      <a:pt x="78872" y="115002"/>
                      <a:pt x="81253" y="121004"/>
                      <a:pt x="84777" y="125099"/>
                    </a:cubicBezTo>
                    <a:cubicBezTo>
                      <a:pt x="88207" y="129098"/>
                      <a:pt x="92875" y="131194"/>
                      <a:pt x="98685" y="131194"/>
                    </a:cubicBezTo>
                    <a:cubicBezTo>
                      <a:pt x="104781" y="131194"/>
                      <a:pt x="109543" y="129003"/>
                      <a:pt x="112972" y="124813"/>
                    </a:cubicBezTo>
                    <a:cubicBezTo>
                      <a:pt x="116496" y="120622"/>
                      <a:pt x="118878" y="114525"/>
                      <a:pt x="120307" y="106621"/>
                    </a:cubicBezTo>
                    <a:cubicBezTo>
                      <a:pt x="121639" y="98810"/>
                      <a:pt x="122306" y="88427"/>
                      <a:pt x="122306" y="75664"/>
                    </a:cubicBezTo>
                    <a:close/>
                    <a:moveTo>
                      <a:pt x="182504" y="-1775"/>
                    </a:moveTo>
                    <a:lnTo>
                      <a:pt x="215271" y="93380"/>
                    </a:lnTo>
                    <a:lnTo>
                      <a:pt x="182504" y="188439"/>
                    </a:lnTo>
                    <a:lnTo>
                      <a:pt x="169550" y="188439"/>
                    </a:lnTo>
                    <a:lnTo>
                      <a:pt x="201174" y="93380"/>
                    </a:lnTo>
                    <a:lnTo>
                      <a:pt x="169550" y="-17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9" name="Graphic 78">
                <a:extLst>
                  <a:ext uri="{FF2B5EF4-FFF2-40B4-BE49-F238E27FC236}">
                    <a16:creationId xmlns:a16="http://schemas.microsoft.com/office/drawing/2014/main" id="{A793A18D-5D25-03DA-2F31-055299D76203}"/>
                  </a:ext>
                </a:extLst>
              </p:cNvPr>
              <p:cNvGrpSpPr/>
              <p:nvPr/>
            </p:nvGrpSpPr>
            <p:grpSpPr>
              <a:xfrm>
                <a:off x="7751171" y="2996368"/>
                <a:ext cx="1160933" cy="21350"/>
                <a:chOff x="7857806" y="4089209"/>
                <a:chExt cx="828675" cy="15240"/>
              </a:xfrm>
            </p:grpSpPr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0A488D03-A400-BF83-F669-BC94F1E64402}"/>
                    </a:ext>
                  </a:extLst>
                </p:cNvPr>
                <p:cNvSpPr/>
                <p:nvPr/>
              </p:nvSpPr>
              <p:spPr>
                <a:xfrm>
                  <a:off x="7857806" y="4096829"/>
                  <a:ext cx="828675" cy="9525"/>
                </a:xfrm>
                <a:custGeom>
                  <a:avLst/>
                  <a:gdLst>
                    <a:gd name="csX0" fmla="*/ -1137 w 828675"/>
                    <a:gd name="csY0" fmla="*/ -1775 h 9525"/>
                    <a:gd name="csX1" fmla="*/ 827538 w 828675"/>
                    <a:gd name="csY1" fmla="*/ -1775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28675" h="9525">
                      <a:moveTo>
                        <a:pt x="-1137" y="-1775"/>
                      </a:moveTo>
                      <a:lnTo>
                        <a:pt x="827538" y="-1775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custDash>
                    <a:ds d="525000" sp="525000"/>
                  </a:custDash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E56A028D-D934-96E0-7F14-FAA76FCB677B}"/>
                    </a:ext>
                  </a:extLst>
                </p:cNvPr>
                <p:cNvSpPr/>
                <p:nvPr/>
              </p:nvSpPr>
              <p:spPr>
                <a:xfrm>
                  <a:off x="7857806" y="4089209"/>
                  <a:ext cx="828675" cy="15240"/>
                </a:xfrm>
                <a:custGeom>
                  <a:avLst/>
                  <a:gdLst>
                    <a:gd name="csX0" fmla="*/ -1137 w 828675"/>
                    <a:gd name="csY0" fmla="*/ -1775 h 15240"/>
                    <a:gd name="csX1" fmla="*/ -1137 w 828675"/>
                    <a:gd name="csY1" fmla="*/ 13466 h 15240"/>
                    <a:gd name="csX2" fmla="*/ 65538 w 828675"/>
                    <a:gd name="csY2" fmla="*/ 13466 h 15240"/>
                    <a:gd name="csX3" fmla="*/ 65538 w 828675"/>
                    <a:gd name="csY3" fmla="*/ -1775 h 15240"/>
                    <a:gd name="csX4" fmla="*/ 132213 w 828675"/>
                    <a:gd name="csY4" fmla="*/ -1775 h 15240"/>
                    <a:gd name="csX5" fmla="*/ 132213 w 828675"/>
                    <a:gd name="csY5" fmla="*/ 13466 h 15240"/>
                    <a:gd name="csX6" fmla="*/ 198888 w 828675"/>
                    <a:gd name="csY6" fmla="*/ 13466 h 15240"/>
                    <a:gd name="csX7" fmla="*/ 198888 w 828675"/>
                    <a:gd name="csY7" fmla="*/ -1775 h 15240"/>
                    <a:gd name="csX8" fmla="*/ 265563 w 828675"/>
                    <a:gd name="csY8" fmla="*/ -1775 h 15240"/>
                    <a:gd name="csX9" fmla="*/ 265563 w 828675"/>
                    <a:gd name="csY9" fmla="*/ 13466 h 15240"/>
                    <a:gd name="csX10" fmla="*/ 332238 w 828675"/>
                    <a:gd name="csY10" fmla="*/ 13466 h 15240"/>
                    <a:gd name="csX11" fmla="*/ 332238 w 828675"/>
                    <a:gd name="csY11" fmla="*/ -1775 h 15240"/>
                    <a:gd name="csX12" fmla="*/ 398913 w 828675"/>
                    <a:gd name="csY12" fmla="*/ -1775 h 15240"/>
                    <a:gd name="csX13" fmla="*/ 398913 w 828675"/>
                    <a:gd name="csY13" fmla="*/ 13466 h 15240"/>
                    <a:gd name="csX14" fmla="*/ 465588 w 828675"/>
                    <a:gd name="csY14" fmla="*/ 13466 h 15240"/>
                    <a:gd name="csX15" fmla="*/ 465588 w 828675"/>
                    <a:gd name="csY15" fmla="*/ -1775 h 15240"/>
                    <a:gd name="csX16" fmla="*/ 532263 w 828675"/>
                    <a:gd name="csY16" fmla="*/ -1775 h 15240"/>
                    <a:gd name="csX17" fmla="*/ 532263 w 828675"/>
                    <a:gd name="csY17" fmla="*/ 13466 h 15240"/>
                    <a:gd name="csX18" fmla="*/ 598938 w 828675"/>
                    <a:gd name="csY18" fmla="*/ 13466 h 15240"/>
                    <a:gd name="csX19" fmla="*/ 598938 w 828675"/>
                    <a:gd name="csY19" fmla="*/ -1775 h 15240"/>
                    <a:gd name="csX20" fmla="*/ 665613 w 828675"/>
                    <a:gd name="csY20" fmla="*/ -1775 h 15240"/>
                    <a:gd name="csX21" fmla="*/ 665613 w 828675"/>
                    <a:gd name="csY21" fmla="*/ 13466 h 15240"/>
                    <a:gd name="csX22" fmla="*/ 732288 w 828675"/>
                    <a:gd name="csY22" fmla="*/ 13466 h 15240"/>
                    <a:gd name="csX23" fmla="*/ 732288 w 828675"/>
                    <a:gd name="csY23" fmla="*/ -1775 h 15240"/>
                    <a:gd name="csX24" fmla="*/ 798963 w 828675"/>
                    <a:gd name="csY24" fmla="*/ -1775 h 15240"/>
                    <a:gd name="csX25" fmla="*/ 798963 w 828675"/>
                    <a:gd name="csY25" fmla="*/ 13466 h 15240"/>
                    <a:gd name="csX26" fmla="*/ 827538 w 828675"/>
                    <a:gd name="csY26" fmla="*/ 13466 h 15240"/>
                    <a:gd name="csX27" fmla="*/ 827538 w 828675"/>
                    <a:gd name="csY27" fmla="*/ -1775 h 152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</a:cxnLst>
                  <a:rect l="l" t="t" r="r" b="b"/>
                  <a:pathLst>
                    <a:path w="828675" h="15240">
                      <a:moveTo>
                        <a:pt x="-1137" y="-1775"/>
                      </a:moveTo>
                      <a:lnTo>
                        <a:pt x="-1137" y="13466"/>
                      </a:lnTo>
                      <a:lnTo>
                        <a:pt x="65538" y="13466"/>
                      </a:lnTo>
                      <a:lnTo>
                        <a:pt x="65538" y="-1775"/>
                      </a:lnTo>
                      <a:close/>
                      <a:moveTo>
                        <a:pt x="132213" y="-1775"/>
                      </a:moveTo>
                      <a:lnTo>
                        <a:pt x="132213" y="13466"/>
                      </a:lnTo>
                      <a:lnTo>
                        <a:pt x="198888" y="13466"/>
                      </a:lnTo>
                      <a:lnTo>
                        <a:pt x="198888" y="-1775"/>
                      </a:lnTo>
                      <a:close/>
                      <a:moveTo>
                        <a:pt x="265563" y="-1775"/>
                      </a:moveTo>
                      <a:lnTo>
                        <a:pt x="265563" y="13466"/>
                      </a:lnTo>
                      <a:lnTo>
                        <a:pt x="332238" y="13466"/>
                      </a:lnTo>
                      <a:lnTo>
                        <a:pt x="332238" y="-1775"/>
                      </a:lnTo>
                      <a:close/>
                      <a:moveTo>
                        <a:pt x="398913" y="-1775"/>
                      </a:moveTo>
                      <a:lnTo>
                        <a:pt x="398913" y="13466"/>
                      </a:lnTo>
                      <a:lnTo>
                        <a:pt x="465588" y="13466"/>
                      </a:lnTo>
                      <a:lnTo>
                        <a:pt x="465588" y="-1775"/>
                      </a:lnTo>
                      <a:close/>
                      <a:moveTo>
                        <a:pt x="532263" y="-1775"/>
                      </a:moveTo>
                      <a:lnTo>
                        <a:pt x="532263" y="13466"/>
                      </a:lnTo>
                      <a:lnTo>
                        <a:pt x="598938" y="13466"/>
                      </a:lnTo>
                      <a:lnTo>
                        <a:pt x="598938" y="-1775"/>
                      </a:lnTo>
                      <a:close/>
                      <a:moveTo>
                        <a:pt x="665613" y="-1775"/>
                      </a:moveTo>
                      <a:lnTo>
                        <a:pt x="665613" y="13466"/>
                      </a:lnTo>
                      <a:lnTo>
                        <a:pt x="732288" y="13466"/>
                      </a:lnTo>
                      <a:lnTo>
                        <a:pt x="732288" y="-1775"/>
                      </a:lnTo>
                      <a:close/>
                      <a:moveTo>
                        <a:pt x="798963" y="-1775"/>
                      </a:moveTo>
                      <a:lnTo>
                        <a:pt x="798963" y="13466"/>
                      </a:lnTo>
                      <a:lnTo>
                        <a:pt x="827538" y="13466"/>
                      </a:lnTo>
                      <a:lnTo>
                        <a:pt x="827538" y="-1775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 cap="flat">
                  <a:noFill/>
                  <a:custDash>
                    <a:ds d="525000" sp="525000"/>
                  </a:custDash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" name="Graphic 78">
                <a:extLst>
                  <a:ext uri="{FF2B5EF4-FFF2-40B4-BE49-F238E27FC236}">
                    <a16:creationId xmlns:a16="http://schemas.microsoft.com/office/drawing/2014/main" id="{A7E03DCA-C70A-23A9-3622-F7949B98799B}"/>
                  </a:ext>
                </a:extLst>
              </p:cNvPr>
              <p:cNvGrpSpPr/>
              <p:nvPr/>
            </p:nvGrpSpPr>
            <p:grpSpPr>
              <a:xfrm>
                <a:off x="8886485" y="2681717"/>
                <a:ext cx="157992" cy="330529"/>
                <a:chOff x="8668194" y="3864611"/>
                <a:chExt cx="112775" cy="235932"/>
              </a:xfrm>
              <a:solidFill>
                <a:srgbClr val="000000"/>
              </a:solidFill>
            </p:grpSpPr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7FF2341C-DA3E-2175-DD89-90AC99D12002}"/>
                    </a:ext>
                  </a:extLst>
                </p:cNvPr>
                <p:cNvSpPr/>
                <p:nvPr/>
              </p:nvSpPr>
              <p:spPr>
                <a:xfrm>
                  <a:off x="8676956" y="3868229"/>
                  <a:ext cx="95250" cy="228600"/>
                </a:xfrm>
                <a:custGeom>
                  <a:avLst/>
                  <a:gdLst>
                    <a:gd name="csX0" fmla="*/ -1137 w 95250"/>
                    <a:gd name="csY0" fmla="*/ 226825 h 228600"/>
                    <a:gd name="csX1" fmla="*/ 94113 w 95250"/>
                    <a:gd name="csY1" fmla="*/ -1775 h 2286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0" h="228600">
                      <a:moveTo>
                        <a:pt x="-1137" y="226825"/>
                      </a:moveTo>
                      <a:lnTo>
                        <a:pt x="94113" y="-1775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CF4CCC65-D6F0-5336-0326-84322C4C53BF}"/>
                    </a:ext>
                  </a:extLst>
                </p:cNvPr>
                <p:cNvSpPr/>
                <p:nvPr/>
              </p:nvSpPr>
              <p:spPr>
                <a:xfrm>
                  <a:off x="8668194" y="3864611"/>
                  <a:ext cx="112775" cy="235932"/>
                </a:xfrm>
                <a:custGeom>
                  <a:avLst/>
                  <a:gdLst>
                    <a:gd name="csX0" fmla="*/ 94113 w 112775"/>
                    <a:gd name="csY0" fmla="*/ -1775 h 235932"/>
                    <a:gd name="csX1" fmla="*/ -1137 w 112775"/>
                    <a:gd name="csY1" fmla="*/ 226825 h 235932"/>
                    <a:gd name="csX2" fmla="*/ 16389 w 112775"/>
                    <a:gd name="csY2" fmla="*/ 234157 h 235932"/>
                    <a:gd name="csX3" fmla="*/ 111639 w 112775"/>
                    <a:gd name="csY3" fmla="*/ 5557 h 23593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12775" h="235932">
                      <a:moveTo>
                        <a:pt x="94113" y="-1775"/>
                      </a:moveTo>
                      <a:lnTo>
                        <a:pt x="-1137" y="226825"/>
                      </a:lnTo>
                      <a:lnTo>
                        <a:pt x="16389" y="234157"/>
                      </a:lnTo>
                      <a:lnTo>
                        <a:pt x="111639" y="55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" name="Graphic 78">
                <a:extLst>
                  <a:ext uri="{FF2B5EF4-FFF2-40B4-BE49-F238E27FC236}">
                    <a16:creationId xmlns:a16="http://schemas.microsoft.com/office/drawing/2014/main" id="{646BAF71-544D-75E3-AEAF-509D3F541A59}"/>
                  </a:ext>
                </a:extLst>
              </p:cNvPr>
              <p:cNvGrpSpPr/>
              <p:nvPr/>
            </p:nvGrpSpPr>
            <p:grpSpPr>
              <a:xfrm>
                <a:off x="9032201" y="2673441"/>
                <a:ext cx="1147589" cy="26688"/>
                <a:chOff x="8772206" y="3858704"/>
                <a:chExt cx="819150" cy="19050"/>
              </a:xfrm>
              <a:solidFill>
                <a:srgbClr val="000000"/>
              </a:solidFill>
            </p:grpSpPr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318ED81D-87A6-A390-9A1B-75D857570196}"/>
                    </a:ext>
                  </a:extLst>
                </p:cNvPr>
                <p:cNvSpPr/>
                <p:nvPr/>
              </p:nvSpPr>
              <p:spPr>
                <a:xfrm>
                  <a:off x="8772206" y="3868229"/>
                  <a:ext cx="819150" cy="9525"/>
                </a:xfrm>
                <a:custGeom>
                  <a:avLst/>
                  <a:gdLst>
                    <a:gd name="csX0" fmla="*/ -1137 w 819150"/>
                    <a:gd name="csY0" fmla="*/ -1775 h 9525"/>
                    <a:gd name="csX1" fmla="*/ 818013 w 819150"/>
                    <a:gd name="csY1" fmla="*/ -1775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19150" h="9525">
                      <a:moveTo>
                        <a:pt x="-1137" y="-1775"/>
                      </a:moveTo>
                      <a:lnTo>
                        <a:pt x="818013" y="-1775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8B2D53C1-0548-A8CA-9AAD-5FD07880228F}"/>
                    </a:ext>
                  </a:extLst>
                </p:cNvPr>
                <p:cNvSpPr/>
                <p:nvPr/>
              </p:nvSpPr>
              <p:spPr>
                <a:xfrm>
                  <a:off x="8772206" y="3858704"/>
                  <a:ext cx="819150" cy="19050"/>
                </a:xfrm>
                <a:custGeom>
                  <a:avLst/>
                  <a:gdLst>
                    <a:gd name="csX0" fmla="*/ -1137 w 819150"/>
                    <a:gd name="csY0" fmla="*/ -1775 h 19050"/>
                    <a:gd name="csX1" fmla="*/ -1137 w 819150"/>
                    <a:gd name="csY1" fmla="*/ 17275 h 19050"/>
                    <a:gd name="csX2" fmla="*/ 818013 w 819150"/>
                    <a:gd name="csY2" fmla="*/ 17275 h 19050"/>
                    <a:gd name="csX3" fmla="*/ 818013 w 819150"/>
                    <a:gd name="csY3" fmla="*/ -1775 h 190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9150" h="19050">
                      <a:moveTo>
                        <a:pt x="-1137" y="-1775"/>
                      </a:moveTo>
                      <a:lnTo>
                        <a:pt x="-1137" y="17275"/>
                      </a:lnTo>
                      <a:lnTo>
                        <a:pt x="818013" y="17275"/>
                      </a:lnTo>
                      <a:lnTo>
                        <a:pt x="818013" y="-17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" name="Graphic 78">
                <a:extLst>
                  <a:ext uri="{FF2B5EF4-FFF2-40B4-BE49-F238E27FC236}">
                    <a16:creationId xmlns:a16="http://schemas.microsoft.com/office/drawing/2014/main" id="{2AD7C341-25D8-9D34-8100-D77F9EFE5534}"/>
                  </a:ext>
                </a:extLst>
              </p:cNvPr>
              <p:cNvGrpSpPr/>
              <p:nvPr/>
            </p:nvGrpSpPr>
            <p:grpSpPr>
              <a:xfrm>
                <a:off x="8886352" y="3002104"/>
                <a:ext cx="158260" cy="343478"/>
                <a:chOff x="8668099" y="4093304"/>
                <a:chExt cx="112966" cy="245175"/>
              </a:xfrm>
              <a:solidFill>
                <a:srgbClr val="000000"/>
              </a:solidFill>
            </p:grpSpPr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28809E0E-4367-C78F-E468-B8A3F53CAF1E}"/>
                    </a:ext>
                  </a:extLst>
                </p:cNvPr>
                <p:cNvSpPr/>
                <p:nvPr/>
              </p:nvSpPr>
              <p:spPr>
                <a:xfrm>
                  <a:off x="8676956" y="4096829"/>
                  <a:ext cx="95250" cy="238125"/>
                </a:xfrm>
                <a:custGeom>
                  <a:avLst/>
                  <a:gdLst>
                    <a:gd name="csX0" fmla="*/ -1137 w 95250"/>
                    <a:gd name="csY0" fmla="*/ -1775 h 238125"/>
                    <a:gd name="csX1" fmla="*/ 94113 w 95250"/>
                    <a:gd name="csY1" fmla="*/ 236350 h 2381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0" h="238125">
                      <a:moveTo>
                        <a:pt x="-1137" y="-1775"/>
                      </a:moveTo>
                      <a:lnTo>
                        <a:pt x="94113" y="236350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28577352-2354-0C85-D6FE-0FC6C14BD0AA}"/>
                    </a:ext>
                  </a:extLst>
                </p:cNvPr>
                <p:cNvSpPr/>
                <p:nvPr/>
              </p:nvSpPr>
              <p:spPr>
                <a:xfrm>
                  <a:off x="8668099" y="4093304"/>
                  <a:ext cx="112966" cy="245175"/>
                </a:xfrm>
                <a:custGeom>
                  <a:avLst/>
                  <a:gdLst>
                    <a:gd name="csX0" fmla="*/ 16579 w 112966"/>
                    <a:gd name="csY0" fmla="*/ -1775 h 245175"/>
                    <a:gd name="csX1" fmla="*/ -1137 w 112966"/>
                    <a:gd name="csY1" fmla="*/ 5276 h 245175"/>
                    <a:gd name="csX2" fmla="*/ 94113 w 112966"/>
                    <a:gd name="csY2" fmla="*/ 243401 h 245175"/>
                    <a:gd name="csX3" fmla="*/ 111829 w 112966"/>
                    <a:gd name="csY3" fmla="*/ 236350 h 2451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12966" h="245175">
                      <a:moveTo>
                        <a:pt x="16579" y="-1775"/>
                      </a:moveTo>
                      <a:lnTo>
                        <a:pt x="-1137" y="5276"/>
                      </a:lnTo>
                      <a:lnTo>
                        <a:pt x="94113" y="243401"/>
                      </a:lnTo>
                      <a:lnTo>
                        <a:pt x="111829" y="2363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" name="Graphic 78">
                <a:extLst>
                  <a:ext uri="{FF2B5EF4-FFF2-40B4-BE49-F238E27FC236}">
                    <a16:creationId xmlns:a16="http://schemas.microsoft.com/office/drawing/2014/main" id="{E463354C-582B-FEEF-44C1-3FD861AA920F}"/>
                  </a:ext>
                </a:extLst>
              </p:cNvPr>
              <p:cNvGrpSpPr/>
              <p:nvPr/>
            </p:nvGrpSpPr>
            <p:grpSpPr>
              <a:xfrm>
                <a:off x="9032201" y="3327300"/>
                <a:ext cx="1147589" cy="26688"/>
                <a:chOff x="8772206" y="4325429"/>
                <a:chExt cx="819150" cy="19050"/>
              </a:xfrm>
              <a:solidFill>
                <a:srgbClr val="000000"/>
              </a:solidFill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E91C321D-4C83-F360-C7BD-9347AC019700}"/>
                    </a:ext>
                  </a:extLst>
                </p:cNvPr>
                <p:cNvSpPr/>
                <p:nvPr/>
              </p:nvSpPr>
              <p:spPr>
                <a:xfrm>
                  <a:off x="8772206" y="4334954"/>
                  <a:ext cx="819150" cy="9525"/>
                </a:xfrm>
                <a:custGeom>
                  <a:avLst/>
                  <a:gdLst>
                    <a:gd name="csX0" fmla="*/ -1137 w 819150"/>
                    <a:gd name="csY0" fmla="*/ -1775 h 9525"/>
                    <a:gd name="csX1" fmla="*/ 818013 w 819150"/>
                    <a:gd name="csY1" fmla="*/ -1775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19150" h="9525">
                      <a:moveTo>
                        <a:pt x="-1137" y="-1775"/>
                      </a:moveTo>
                      <a:lnTo>
                        <a:pt x="818013" y="-1775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5FD6B47D-E6EB-4448-8C4E-E8683994EBC8}"/>
                    </a:ext>
                  </a:extLst>
                </p:cNvPr>
                <p:cNvSpPr/>
                <p:nvPr/>
              </p:nvSpPr>
              <p:spPr>
                <a:xfrm>
                  <a:off x="8772206" y="4325429"/>
                  <a:ext cx="819150" cy="19050"/>
                </a:xfrm>
                <a:custGeom>
                  <a:avLst/>
                  <a:gdLst>
                    <a:gd name="csX0" fmla="*/ -1137 w 819150"/>
                    <a:gd name="csY0" fmla="*/ -1775 h 19050"/>
                    <a:gd name="csX1" fmla="*/ -1137 w 819150"/>
                    <a:gd name="csY1" fmla="*/ 17275 h 19050"/>
                    <a:gd name="csX2" fmla="*/ 818013 w 819150"/>
                    <a:gd name="csY2" fmla="*/ 17275 h 19050"/>
                    <a:gd name="csX3" fmla="*/ 818013 w 819150"/>
                    <a:gd name="csY3" fmla="*/ -1775 h 190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9150" h="19050">
                      <a:moveTo>
                        <a:pt x="-1137" y="-1775"/>
                      </a:moveTo>
                      <a:lnTo>
                        <a:pt x="-1137" y="17275"/>
                      </a:lnTo>
                      <a:lnTo>
                        <a:pt x="818013" y="17275"/>
                      </a:lnTo>
                      <a:lnTo>
                        <a:pt x="818013" y="-17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E2EC20E-A266-4EB2-A218-2E650B914BDF}"/>
                  </a:ext>
                </a:extLst>
              </p:cNvPr>
              <p:cNvSpPr/>
              <p:nvPr/>
            </p:nvSpPr>
            <p:spPr>
              <a:xfrm>
                <a:off x="10191000" y="2568957"/>
                <a:ext cx="469041" cy="271018"/>
              </a:xfrm>
              <a:custGeom>
                <a:avLst/>
                <a:gdLst>
                  <a:gd name="csX0" fmla="*/ 20960 w 334802"/>
                  <a:gd name="csY0" fmla="*/ 14703 h 193453"/>
                  <a:gd name="csX1" fmla="*/ 20960 w 334802"/>
                  <a:gd name="csY1" fmla="*/ 178058 h 193453"/>
                  <a:gd name="csX2" fmla="*/ 17913 w 334802"/>
                  <a:gd name="csY2" fmla="*/ 188251 h 193453"/>
                  <a:gd name="csX3" fmla="*/ 10006 w 334802"/>
                  <a:gd name="csY3" fmla="*/ 191678 h 193453"/>
                  <a:gd name="csX4" fmla="*/ 2006 w 334802"/>
                  <a:gd name="csY4" fmla="*/ 188251 h 193453"/>
                  <a:gd name="csX5" fmla="*/ -1137 w 334802"/>
                  <a:gd name="csY5" fmla="*/ 178058 h 193453"/>
                  <a:gd name="csX6" fmla="*/ -1137 w 334802"/>
                  <a:gd name="csY6" fmla="*/ 14703 h 193453"/>
                  <a:gd name="csX7" fmla="*/ 2006 w 334802"/>
                  <a:gd name="csY7" fmla="*/ 4513 h 193453"/>
                  <a:gd name="csX8" fmla="*/ 10006 w 334802"/>
                  <a:gd name="csY8" fmla="*/ 1083 h 193453"/>
                  <a:gd name="csX9" fmla="*/ 17913 w 334802"/>
                  <a:gd name="csY9" fmla="*/ 4608 h 193453"/>
                  <a:gd name="csX10" fmla="*/ 20960 w 334802"/>
                  <a:gd name="csY10" fmla="*/ 14703 h 193453"/>
                  <a:gd name="csX11" fmla="*/ 110305 w 334802"/>
                  <a:gd name="csY11" fmla="*/ 128052 h 193453"/>
                  <a:gd name="csX12" fmla="*/ 84777 w 334802"/>
                  <a:gd name="csY12" fmla="*/ 128052 h 193453"/>
                  <a:gd name="csX13" fmla="*/ 84777 w 334802"/>
                  <a:gd name="csY13" fmla="*/ 90238 h 193453"/>
                  <a:gd name="csX14" fmla="*/ 46773 w 334802"/>
                  <a:gd name="csY14" fmla="*/ 90238 h 193453"/>
                  <a:gd name="csX15" fmla="*/ 46773 w 334802"/>
                  <a:gd name="csY15" fmla="*/ 64330 h 193453"/>
                  <a:gd name="csX16" fmla="*/ 84777 w 334802"/>
                  <a:gd name="csY16" fmla="*/ 64330 h 193453"/>
                  <a:gd name="csX17" fmla="*/ 84777 w 334802"/>
                  <a:gd name="csY17" fmla="*/ 26326 h 193453"/>
                  <a:gd name="csX18" fmla="*/ 110305 w 334802"/>
                  <a:gd name="csY18" fmla="*/ 26326 h 193453"/>
                  <a:gd name="csX19" fmla="*/ 110305 w 334802"/>
                  <a:gd name="csY19" fmla="*/ 64330 h 193453"/>
                  <a:gd name="csX20" fmla="*/ 148500 w 334802"/>
                  <a:gd name="csY20" fmla="*/ 64330 h 193453"/>
                  <a:gd name="csX21" fmla="*/ 148500 w 334802"/>
                  <a:gd name="csY21" fmla="*/ 90238 h 193453"/>
                  <a:gd name="csX22" fmla="*/ 110305 w 334802"/>
                  <a:gd name="csY22" fmla="*/ 90238 h 193453"/>
                  <a:gd name="csX23" fmla="*/ 214223 w 334802"/>
                  <a:gd name="csY23" fmla="*/ 135386 h 193453"/>
                  <a:gd name="csX24" fmla="*/ 214223 w 334802"/>
                  <a:gd name="csY24" fmla="*/ 45090 h 193453"/>
                  <a:gd name="csX25" fmla="*/ 180313 w 334802"/>
                  <a:gd name="csY25" fmla="*/ 64519 h 193453"/>
                  <a:gd name="csX26" fmla="*/ 172884 w 334802"/>
                  <a:gd name="csY26" fmla="*/ 61186 h 193453"/>
                  <a:gd name="csX27" fmla="*/ 169645 w 334802"/>
                  <a:gd name="csY27" fmla="*/ 53470 h 193453"/>
                  <a:gd name="csX28" fmla="*/ 172884 w 334802"/>
                  <a:gd name="csY28" fmla="*/ 46041 h 193453"/>
                  <a:gd name="csX29" fmla="*/ 184028 w 334802"/>
                  <a:gd name="csY29" fmla="*/ 39850 h 193453"/>
                  <a:gd name="csX30" fmla="*/ 203174 w 334802"/>
                  <a:gd name="csY30" fmla="*/ 27944 h 193453"/>
                  <a:gd name="csX31" fmla="*/ 216032 w 334802"/>
                  <a:gd name="csY31" fmla="*/ 13943 h 193453"/>
                  <a:gd name="csX32" fmla="*/ 223271 w 334802"/>
                  <a:gd name="csY32" fmla="*/ 4418 h 193453"/>
                  <a:gd name="csX33" fmla="*/ 229558 w 334802"/>
                  <a:gd name="csY33" fmla="*/ 2702 h 193453"/>
                  <a:gd name="csX34" fmla="*/ 238035 w 334802"/>
                  <a:gd name="csY34" fmla="*/ 6704 h 193453"/>
                  <a:gd name="csX35" fmla="*/ 241178 w 334802"/>
                  <a:gd name="csY35" fmla="*/ 17942 h 193453"/>
                  <a:gd name="csX36" fmla="*/ 241178 w 334802"/>
                  <a:gd name="csY36" fmla="*/ 131575 h 193453"/>
                  <a:gd name="csX37" fmla="*/ 227652 w 334802"/>
                  <a:gd name="csY37" fmla="*/ 151483 h 193453"/>
                  <a:gd name="csX38" fmla="*/ 217938 w 334802"/>
                  <a:gd name="csY38" fmla="*/ 147388 h 193453"/>
                  <a:gd name="csX39" fmla="*/ 214223 w 334802"/>
                  <a:gd name="csY39" fmla="*/ 135386 h 193453"/>
                  <a:gd name="csX40" fmla="*/ 300996 w 334802"/>
                  <a:gd name="csY40" fmla="*/ -1775 h 193453"/>
                  <a:gd name="csX41" fmla="*/ 333666 w 334802"/>
                  <a:gd name="csY41" fmla="*/ 93380 h 193453"/>
                  <a:gd name="csX42" fmla="*/ 300996 w 334802"/>
                  <a:gd name="csY42" fmla="*/ 188439 h 193453"/>
                  <a:gd name="csX43" fmla="*/ 287946 w 334802"/>
                  <a:gd name="csY43" fmla="*/ 188439 h 193453"/>
                  <a:gd name="csX44" fmla="*/ 319664 w 334802"/>
                  <a:gd name="csY44" fmla="*/ 93380 h 193453"/>
                  <a:gd name="csX45" fmla="*/ 287946 w 334802"/>
                  <a:gd name="csY45" fmla="*/ -1775 h 1934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</a:cxnLst>
                <a:rect l="l" t="t" r="r" b="b"/>
                <a:pathLst>
                  <a:path w="334802" h="193453">
                    <a:moveTo>
                      <a:pt x="20960" y="14703"/>
                    </a:moveTo>
                    <a:lnTo>
                      <a:pt x="20960" y="178058"/>
                    </a:lnTo>
                    <a:cubicBezTo>
                      <a:pt x="20960" y="182630"/>
                      <a:pt x="19913" y="185962"/>
                      <a:pt x="17913" y="188251"/>
                    </a:cubicBezTo>
                    <a:cubicBezTo>
                      <a:pt x="15912" y="190537"/>
                      <a:pt x="13246" y="191678"/>
                      <a:pt x="10006" y="191678"/>
                    </a:cubicBezTo>
                    <a:cubicBezTo>
                      <a:pt x="6768" y="191678"/>
                      <a:pt x="4101" y="190537"/>
                      <a:pt x="2006" y="188251"/>
                    </a:cubicBezTo>
                    <a:cubicBezTo>
                      <a:pt x="-90" y="185869"/>
                      <a:pt x="-1137" y="182535"/>
                      <a:pt x="-1137" y="178058"/>
                    </a:cubicBezTo>
                    <a:lnTo>
                      <a:pt x="-1137" y="14703"/>
                    </a:lnTo>
                    <a:cubicBezTo>
                      <a:pt x="-1137" y="10227"/>
                      <a:pt x="-90" y="6894"/>
                      <a:pt x="2006" y="4513"/>
                    </a:cubicBezTo>
                    <a:cubicBezTo>
                      <a:pt x="4101" y="2227"/>
                      <a:pt x="6768" y="1083"/>
                      <a:pt x="10006" y="1083"/>
                    </a:cubicBezTo>
                    <a:cubicBezTo>
                      <a:pt x="13246" y="1083"/>
                      <a:pt x="15912" y="2227"/>
                      <a:pt x="17913" y="4608"/>
                    </a:cubicBezTo>
                    <a:cubicBezTo>
                      <a:pt x="19913" y="6990"/>
                      <a:pt x="20960" y="10322"/>
                      <a:pt x="20960" y="14703"/>
                    </a:cubicBezTo>
                    <a:close/>
                    <a:moveTo>
                      <a:pt x="110305" y="128052"/>
                    </a:moveTo>
                    <a:lnTo>
                      <a:pt x="84777" y="128052"/>
                    </a:lnTo>
                    <a:lnTo>
                      <a:pt x="84777" y="90238"/>
                    </a:lnTo>
                    <a:lnTo>
                      <a:pt x="46773" y="90238"/>
                    </a:lnTo>
                    <a:lnTo>
                      <a:pt x="46773" y="64330"/>
                    </a:lnTo>
                    <a:lnTo>
                      <a:pt x="84777" y="64330"/>
                    </a:lnTo>
                    <a:lnTo>
                      <a:pt x="84777" y="26326"/>
                    </a:lnTo>
                    <a:lnTo>
                      <a:pt x="110305" y="26326"/>
                    </a:lnTo>
                    <a:lnTo>
                      <a:pt x="110305" y="64330"/>
                    </a:lnTo>
                    <a:lnTo>
                      <a:pt x="148500" y="64330"/>
                    </a:lnTo>
                    <a:lnTo>
                      <a:pt x="148500" y="90238"/>
                    </a:lnTo>
                    <a:lnTo>
                      <a:pt x="110305" y="90238"/>
                    </a:lnTo>
                    <a:close/>
                    <a:moveTo>
                      <a:pt x="214223" y="135386"/>
                    </a:moveTo>
                    <a:lnTo>
                      <a:pt x="214223" y="45090"/>
                    </a:lnTo>
                    <a:cubicBezTo>
                      <a:pt x="197459" y="58042"/>
                      <a:pt x="186124" y="64519"/>
                      <a:pt x="180313" y="64519"/>
                    </a:cubicBezTo>
                    <a:cubicBezTo>
                      <a:pt x="177552" y="64519"/>
                      <a:pt x="175075" y="63377"/>
                      <a:pt x="172884" y="61186"/>
                    </a:cubicBezTo>
                    <a:cubicBezTo>
                      <a:pt x="170693" y="58996"/>
                      <a:pt x="169645" y="56424"/>
                      <a:pt x="169645" y="53470"/>
                    </a:cubicBezTo>
                    <a:cubicBezTo>
                      <a:pt x="169645" y="50138"/>
                      <a:pt x="170693" y="47662"/>
                      <a:pt x="172884" y="46041"/>
                    </a:cubicBezTo>
                    <a:cubicBezTo>
                      <a:pt x="174980" y="44422"/>
                      <a:pt x="178695" y="42422"/>
                      <a:pt x="184028" y="39850"/>
                    </a:cubicBezTo>
                    <a:cubicBezTo>
                      <a:pt x="192029" y="36134"/>
                      <a:pt x="198411" y="32135"/>
                      <a:pt x="203174" y="27944"/>
                    </a:cubicBezTo>
                    <a:cubicBezTo>
                      <a:pt x="208031" y="23849"/>
                      <a:pt x="212317" y="19182"/>
                      <a:pt x="216032" y="13943"/>
                    </a:cubicBezTo>
                    <a:cubicBezTo>
                      <a:pt x="219747" y="8799"/>
                      <a:pt x="222128" y="5655"/>
                      <a:pt x="223271" y="4418"/>
                    </a:cubicBezTo>
                    <a:cubicBezTo>
                      <a:pt x="224414" y="3274"/>
                      <a:pt x="226509" y="2702"/>
                      <a:pt x="229558" y="2702"/>
                    </a:cubicBezTo>
                    <a:cubicBezTo>
                      <a:pt x="233082" y="2702"/>
                      <a:pt x="235939" y="4036"/>
                      <a:pt x="238035" y="6704"/>
                    </a:cubicBezTo>
                    <a:cubicBezTo>
                      <a:pt x="240131" y="9466"/>
                      <a:pt x="241178" y="13180"/>
                      <a:pt x="241178" y="17942"/>
                    </a:cubicBezTo>
                    <a:lnTo>
                      <a:pt x="241178" y="131575"/>
                    </a:lnTo>
                    <a:cubicBezTo>
                      <a:pt x="241178" y="144816"/>
                      <a:pt x="236702" y="151483"/>
                      <a:pt x="227652" y="151483"/>
                    </a:cubicBezTo>
                    <a:cubicBezTo>
                      <a:pt x="223557" y="151483"/>
                      <a:pt x="220319" y="150151"/>
                      <a:pt x="217938" y="147388"/>
                    </a:cubicBezTo>
                    <a:cubicBezTo>
                      <a:pt x="215461" y="144721"/>
                      <a:pt x="214223" y="140719"/>
                      <a:pt x="214223" y="135386"/>
                    </a:cubicBezTo>
                    <a:close/>
                    <a:moveTo>
                      <a:pt x="300996" y="-1775"/>
                    </a:moveTo>
                    <a:lnTo>
                      <a:pt x="333666" y="93380"/>
                    </a:lnTo>
                    <a:lnTo>
                      <a:pt x="300996" y="188439"/>
                    </a:lnTo>
                    <a:lnTo>
                      <a:pt x="287946" y="188439"/>
                    </a:lnTo>
                    <a:lnTo>
                      <a:pt x="319664" y="93380"/>
                    </a:lnTo>
                    <a:lnTo>
                      <a:pt x="287946" y="-17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88504F-DFC4-CCE9-1015-315D2544A4E8}"/>
                  </a:ext>
                </a:extLst>
              </p:cNvPr>
              <p:cNvSpPr/>
              <p:nvPr/>
            </p:nvSpPr>
            <p:spPr>
              <a:xfrm>
                <a:off x="10191000" y="3222816"/>
                <a:ext cx="397918" cy="271018"/>
              </a:xfrm>
              <a:custGeom>
                <a:avLst/>
                <a:gdLst>
                  <a:gd name="csX0" fmla="*/ 20960 w 284034"/>
                  <a:gd name="csY0" fmla="*/ 14703 h 193453"/>
                  <a:gd name="csX1" fmla="*/ 20960 w 284034"/>
                  <a:gd name="csY1" fmla="*/ 178058 h 193453"/>
                  <a:gd name="csX2" fmla="*/ 17913 w 284034"/>
                  <a:gd name="csY2" fmla="*/ 188251 h 193453"/>
                  <a:gd name="csX3" fmla="*/ 10006 w 284034"/>
                  <a:gd name="csY3" fmla="*/ 191678 h 193453"/>
                  <a:gd name="csX4" fmla="*/ 2006 w 284034"/>
                  <a:gd name="csY4" fmla="*/ 188251 h 193453"/>
                  <a:gd name="csX5" fmla="*/ -1137 w 284034"/>
                  <a:gd name="csY5" fmla="*/ 178058 h 193453"/>
                  <a:gd name="csX6" fmla="*/ -1137 w 284034"/>
                  <a:gd name="csY6" fmla="*/ 14703 h 193453"/>
                  <a:gd name="csX7" fmla="*/ 2006 w 284034"/>
                  <a:gd name="csY7" fmla="*/ 4513 h 193453"/>
                  <a:gd name="csX8" fmla="*/ 10006 w 284034"/>
                  <a:gd name="csY8" fmla="*/ 1083 h 193453"/>
                  <a:gd name="csX9" fmla="*/ 17913 w 284034"/>
                  <a:gd name="csY9" fmla="*/ 4608 h 193453"/>
                  <a:gd name="csX10" fmla="*/ 20960 w 284034"/>
                  <a:gd name="csY10" fmla="*/ 14703 h 193453"/>
                  <a:gd name="csX11" fmla="*/ 88017 w 284034"/>
                  <a:gd name="csY11" fmla="*/ 108144 h 193453"/>
                  <a:gd name="csX12" fmla="*/ 56679 w 284034"/>
                  <a:gd name="csY12" fmla="*/ 108144 h 193453"/>
                  <a:gd name="csX13" fmla="*/ 45725 w 284034"/>
                  <a:gd name="csY13" fmla="*/ 104907 h 193453"/>
                  <a:gd name="csX14" fmla="*/ 42106 w 284034"/>
                  <a:gd name="csY14" fmla="*/ 96238 h 193453"/>
                  <a:gd name="csX15" fmla="*/ 45630 w 284034"/>
                  <a:gd name="csY15" fmla="*/ 87571 h 193453"/>
                  <a:gd name="csX16" fmla="*/ 56679 w 284034"/>
                  <a:gd name="csY16" fmla="*/ 84236 h 193453"/>
                  <a:gd name="csX17" fmla="*/ 88017 w 284034"/>
                  <a:gd name="csY17" fmla="*/ 84236 h 193453"/>
                  <a:gd name="csX18" fmla="*/ 98971 w 284034"/>
                  <a:gd name="csY18" fmla="*/ 87571 h 193453"/>
                  <a:gd name="csX19" fmla="*/ 102589 w 284034"/>
                  <a:gd name="csY19" fmla="*/ 96238 h 193453"/>
                  <a:gd name="csX20" fmla="*/ 99065 w 284034"/>
                  <a:gd name="csY20" fmla="*/ 104907 h 193453"/>
                  <a:gd name="csX21" fmla="*/ 88017 w 284034"/>
                  <a:gd name="csY21" fmla="*/ 108144 h 193453"/>
                  <a:gd name="csX22" fmla="*/ 163454 w 284034"/>
                  <a:gd name="csY22" fmla="*/ 135386 h 193453"/>
                  <a:gd name="csX23" fmla="*/ 163454 w 284034"/>
                  <a:gd name="csY23" fmla="*/ 45090 h 193453"/>
                  <a:gd name="csX24" fmla="*/ 129450 w 284034"/>
                  <a:gd name="csY24" fmla="*/ 64519 h 193453"/>
                  <a:gd name="csX25" fmla="*/ 122020 w 284034"/>
                  <a:gd name="csY25" fmla="*/ 61186 h 193453"/>
                  <a:gd name="csX26" fmla="*/ 118878 w 284034"/>
                  <a:gd name="csY26" fmla="*/ 53470 h 193453"/>
                  <a:gd name="csX27" fmla="*/ 122020 w 284034"/>
                  <a:gd name="csY27" fmla="*/ 46041 h 193453"/>
                  <a:gd name="csX28" fmla="*/ 133260 w 284034"/>
                  <a:gd name="csY28" fmla="*/ 39850 h 193453"/>
                  <a:gd name="csX29" fmla="*/ 152406 w 284034"/>
                  <a:gd name="csY29" fmla="*/ 27944 h 193453"/>
                  <a:gd name="csX30" fmla="*/ 165169 w 284034"/>
                  <a:gd name="csY30" fmla="*/ 13943 h 193453"/>
                  <a:gd name="csX31" fmla="*/ 172408 w 284034"/>
                  <a:gd name="csY31" fmla="*/ 4418 h 193453"/>
                  <a:gd name="csX32" fmla="*/ 178789 w 284034"/>
                  <a:gd name="csY32" fmla="*/ 2702 h 193453"/>
                  <a:gd name="csX33" fmla="*/ 187266 w 284034"/>
                  <a:gd name="csY33" fmla="*/ 6704 h 193453"/>
                  <a:gd name="csX34" fmla="*/ 190410 w 284034"/>
                  <a:gd name="csY34" fmla="*/ 17942 h 193453"/>
                  <a:gd name="csX35" fmla="*/ 190410 w 284034"/>
                  <a:gd name="csY35" fmla="*/ 131575 h 193453"/>
                  <a:gd name="csX36" fmla="*/ 176789 w 284034"/>
                  <a:gd name="csY36" fmla="*/ 151483 h 193453"/>
                  <a:gd name="csX37" fmla="*/ 167074 w 284034"/>
                  <a:gd name="csY37" fmla="*/ 147388 h 193453"/>
                  <a:gd name="csX38" fmla="*/ 163454 w 284034"/>
                  <a:gd name="csY38" fmla="*/ 135386 h 193453"/>
                  <a:gd name="csX39" fmla="*/ 250227 w 284034"/>
                  <a:gd name="csY39" fmla="*/ -1775 h 193453"/>
                  <a:gd name="csX40" fmla="*/ 282898 w 284034"/>
                  <a:gd name="csY40" fmla="*/ 93380 h 193453"/>
                  <a:gd name="csX41" fmla="*/ 250227 w 284034"/>
                  <a:gd name="csY41" fmla="*/ 188439 h 193453"/>
                  <a:gd name="csX42" fmla="*/ 237177 w 284034"/>
                  <a:gd name="csY42" fmla="*/ 188439 h 193453"/>
                  <a:gd name="csX43" fmla="*/ 268896 w 284034"/>
                  <a:gd name="csY43" fmla="*/ 93380 h 193453"/>
                  <a:gd name="csX44" fmla="*/ 237177 w 284034"/>
                  <a:gd name="csY44" fmla="*/ -1775 h 1934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</a:cxnLst>
                <a:rect l="l" t="t" r="r" b="b"/>
                <a:pathLst>
                  <a:path w="284034" h="193453">
                    <a:moveTo>
                      <a:pt x="20960" y="14703"/>
                    </a:moveTo>
                    <a:lnTo>
                      <a:pt x="20960" y="178058"/>
                    </a:lnTo>
                    <a:cubicBezTo>
                      <a:pt x="20960" y="182630"/>
                      <a:pt x="19913" y="185962"/>
                      <a:pt x="17913" y="188251"/>
                    </a:cubicBezTo>
                    <a:cubicBezTo>
                      <a:pt x="15912" y="190537"/>
                      <a:pt x="13246" y="191678"/>
                      <a:pt x="10006" y="191678"/>
                    </a:cubicBezTo>
                    <a:cubicBezTo>
                      <a:pt x="6768" y="191678"/>
                      <a:pt x="4101" y="190537"/>
                      <a:pt x="2006" y="188251"/>
                    </a:cubicBezTo>
                    <a:cubicBezTo>
                      <a:pt x="-90" y="185869"/>
                      <a:pt x="-1137" y="182535"/>
                      <a:pt x="-1137" y="178058"/>
                    </a:cubicBezTo>
                    <a:lnTo>
                      <a:pt x="-1137" y="14703"/>
                    </a:lnTo>
                    <a:cubicBezTo>
                      <a:pt x="-1137" y="10227"/>
                      <a:pt x="-90" y="6894"/>
                      <a:pt x="2006" y="4513"/>
                    </a:cubicBezTo>
                    <a:cubicBezTo>
                      <a:pt x="4101" y="2227"/>
                      <a:pt x="6768" y="1083"/>
                      <a:pt x="10006" y="1083"/>
                    </a:cubicBezTo>
                    <a:cubicBezTo>
                      <a:pt x="13246" y="1083"/>
                      <a:pt x="15912" y="2227"/>
                      <a:pt x="17913" y="4608"/>
                    </a:cubicBezTo>
                    <a:cubicBezTo>
                      <a:pt x="19913" y="6990"/>
                      <a:pt x="20960" y="10322"/>
                      <a:pt x="20960" y="14703"/>
                    </a:cubicBezTo>
                    <a:close/>
                    <a:moveTo>
                      <a:pt x="88017" y="108144"/>
                    </a:moveTo>
                    <a:lnTo>
                      <a:pt x="56679" y="108144"/>
                    </a:lnTo>
                    <a:cubicBezTo>
                      <a:pt x="51917" y="108144"/>
                      <a:pt x="48297" y="107002"/>
                      <a:pt x="45725" y="104907"/>
                    </a:cubicBezTo>
                    <a:cubicBezTo>
                      <a:pt x="43344" y="102619"/>
                      <a:pt x="42106" y="99763"/>
                      <a:pt x="42106" y="96238"/>
                    </a:cubicBezTo>
                    <a:cubicBezTo>
                      <a:pt x="42106" y="92619"/>
                      <a:pt x="43249" y="89761"/>
                      <a:pt x="45630" y="87571"/>
                    </a:cubicBezTo>
                    <a:cubicBezTo>
                      <a:pt x="48106" y="85380"/>
                      <a:pt x="51726" y="84236"/>
                      <a:pt x="56679" y="84236"/>
                    </a:cubicBezTo>
                    <a:lnTo>
                      <a:pt x="88017" y="84236"/>
                    </a:lnTo>
                    <a:cubicBezTo>
                      <a:pt x="92875" y="84236"/>
                      <a:pt x="96589" y="85380"/>
                      <a:pt x="98971" y="87571"/>
                    </a:cubicBezTo>
                    <a:cubicBezTo>
                      <a:pt x="101352" y="89761"/>
                      <a:pt x="102589" y="92619"/>
                      <a:pt x="102589" y="96238"/>
                    </a:cubicBezTo>
                    <a:cubicBezTo>
                      <a:pt x="102589" y="99763"/>
                      <a:pt x="101446" y="102619"/>
                      <a:pt x="99065" y="104907"/>
                    </a:cubicBezTo>
                    <a:cubicBezTo>
                      <a:pt x="96684" y="107002"/>
                      <a:pt x="92970" y="108144"/>
                      <a:pt x="88017" y="108144"/>
                    </a:cubicBezTo>
                    <a:close/>
                    <a:moveTo>
                      <a:pt x="163454" y="135386"/>
                    </a:moveTo>
                    <a:lnTo>
                      <a:pt x="163454" y="45090"/>
                    </a:lnTo>
                    <a:cubicBezTo>
                      <a:pt x="146596" y="58042"/>
                      <a:pt x="135260" y="64519"/>
                      <a:pt x="129450" y="64519"/>
                    </a:cubicBezTo>
                    <a:cubicBezTo>
                      <a:pt x="126688" y="64519"/>
                      <a:pt x="124211" y="63377"/>
                      <a:pt x="122020" y="61186"/>
                    </a:cubicBezTo>
                    <a:cubicBezTo>
                      <a:pt x="119925" y="58996"/>
                      <a:pt x="118878" y="56424"/>
                      <a:pt x="118878" y="53470"/>
                    </a:cubicBezTo>
                    <a:cubicBezTo>
                      <a:pt x="118878" y="50138"/>
                      <a:pt x="119925" y="47662"/>
                      <a:pt x="122020" y="46041"/>
                    </a:cubicBezTo>
                    <a:cubicBezTo>
                      <a:pt x="124116" y="44422"/>
                      <a:pt x="127926" y="42422"/>
                      <a:pt x="133260" y="39850"/>
                    </a:cubicBezTo>
                    <a:cubicBezTo>
                      <a:pt x="141261" y="36134"/>
                      <a:pt x="147643" y="32135"/>
                      <a:pt x="152406" y="27944"/>
                    </a:cubicBezTo>
                    <a:cubicBezTo>
                      <a:pt x="157264" y="23849"/>
                      <a:pt x="161454" y="19182"/>
                      <a:pt x="165169" y="13943"/>
                    </a:cubicBezTo>
                    <a:cubicBezTo>
                      <a:pt x="168884" y="8799"/>
                      <a:pt x="171360" y="5655"/>
                      <a:pt x="172408" y="4418"/>
                    </a:cubicBezTo>
                    <a:cubicBezTo>
                      <a:pt x="173551" y="3274"/>
                      <a:pt x="175646" y="2702"/>
                      <a:pt x="178789" y="2702"/>
                    </a:cubicBezTo>
                    <a:cubicBezTo>
                      <a:pt x="182314" y="2702"/>
                      <a:pt x="185076" y="4036"/>
                      <a:pt x="187266" y="6704"/>
                    </a:cubicBezTo>
                    <a:cubicBezTo>
                      <a:pt x="189363" y="9466"/>
                      <a:pt x="190410" y="13180"/>
                      <a:pt x="190410" y="17942"/>
                    </a:cubicBezTo>
                    <a:lnTo>
                      <a:pt x="190410" y="131575"/>
                    </a:lnTo>
                    <a:cubicBezTo>
                      <a:pt x="190410" y="144816"/>
                      <a:pt x="185839" y="151483"/>
                      <a:pt x="176789" y="151483"/>
                    </a:cubicBezTo>
                    <a:cubicBezTo>
                      <a:pt x="172789" y="151483"/>
                      <a:pt x="169550" y="150151"/>
                      <a:pt x="167074" y="147388"/>
                    </a:cubicBezTo>
                    <a:cubicBezTo>
                      <a:pt x="164597" y="144721"/>
                      <a:pt x="163454" y="140719"/>
                      <a:pt x="163454" y="135386"/>
                    </a:cubicBezTo>
                    <a:close/>
                    <a:moveTo>
                      <a:pt x="250227" y="-1775"/>
                    </a:moveTo>
                    <a:lnTo>
                      <a:pt x="282898" y="93380"/>
                    </a:lnTo>
                    <a:lnTo>
                      <a:pt x="250227" y="188439"/>
                    </a:lnTo>
                    <a:lnTo>
                      <a:pt x="237177" y="188439"/>
                    </a:lnTo>
                    <a:lnTo>
                      <a:pt x="268896" y="93380"/>
                    </a:lnTo>
                    <a:lnTo>
                      <a:pt x="237177" y="-17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1288FB4-0B76-5750-6433-5120909A8D73}"/>
                  </a:ext>
                </a:extLst>
              </p:cNvPr>
              <p:cNvSpPr/>
              <p:nvPr/>
            </p:nvSpPr>
            <p:spPr>
              <a:xfrm>
                <a:off x="8208740" y="4254310"/>
                <a:ext cx="829332" cy="267014"/>
              </a:xfrm>
              <a:custGeom>
                <a:avLst/>
                <a:gdLst>
                  <a:gd name="csX0" fmla="*/ 11531 w 591978"/>
                  <a:gd name="csY0" fmla="*/ 40897 h 190595"/>
                  <a:gd name="csX1" fmla="*/ 14484 w 591978"/>
                  <a:gd name="csY1" fmla="*/ 40897 h 190595"/>
                  <a:gd name="csX2" fmla="*/ 14484 w 591978"/>
                  <a:gd name="csY2" fmla="*/ 24609 h 190595"/>
                  <a:gd name="csX3" fmla="*/ 14770 w 591978"/>
                  <a:gd name="csY3" fmla="*/ 14417 h 190595"/>
                  <a:gd name="csX4" fmla="*/ 16770 w 591978"/>
                  <a:gd name="csY4" fmla="*/ 7941 h 190595"/>
                  <a:gd name="csX5" fmla="*/ 21342 w 591978"/>
                  <a:gd name="csY5" fmla="*/ 3464 h 190595"/>
                  <a:gd name="csX6" fmla="*/ 28010 w 591978"/>
                  <a:gd name="csY6" fmla="*/ 1655 h 190595"/>
                  <a:gd name="csX7" fmla="*/ 37249 w 591978"/>
                  <a:gd name="csY7" fmla="*/ 5559 h 190595"/>
                  <a:gd name="csX8" fmla="*/ 40773 w 591978"/>
                  <a:gd name="csY8" fmla="*/ 11940 h 190595"/>
                  <a:gd name="csX9" fmla="*/ 41535 w 591978"/>
                  <a:gd name="csY9" fmla="*/ 22419 h 190595"/>
                  <a:gd name="csX10" fmla="*/ 41535 w 591978"/>
                  <a:gd name="csY10" fmla="*/ 40897 h 190595"/>
                  <a:gd name="csX11" fmla="*/ 51441 w 591978"/>
                  <a:gd name="csY11" fmla="*/ 40897 h 190595"/>
                  <a:gd name="csX12" fmla="*/ 60203 w 591978"/>
                  <a:gd name="csY12" fmla="*/ 43659 h 190595"/>
                  <a:gd name="csX13" fmla="*/ 63252 w 591978"/>
                  <a:gd name="csY13" fmla="*/ 50613 h 190595"/>
                  <a:gd name="csX14" fmla="*/ 58871 w 591978"/>
                  <a:gd name="csY14" fmla="*/ 58233 h 190595"/>
                  <a:gd name="csX15" fmla="*/ 46583 w 591978"/>
                  <a:gd name="csY15" fmla="*/ 60424 h 190595"/>
                  <a:gd name="csX16" fmla="*/ 41535 w 591978"/>
                  <a:gd name="csY16" fmla="*/ 60424 h 190595"/>
                  <a:gd name="csX17" fmla="*/ 41535 w 591978"/>
                  <a:gd name="csY17" fmla="*/ 110239 h 190595"/>
                  <a:gd name="csX18" fmla="*/ 41916 w 591978"/>
                  <a:gd name="csY18" fmla="*/ 120050 h 190595"/>
                  <a:gd name="csX19" fmla="*/ 44297 w 591978"/>
                  <a:gd name="csY19" fmla="*/ 125575 h 190595"/>
                  <a:gd name="csX20" fmla="*/ 50678 w 591978"/>
                  <a:gd name="csY20" fmla="*/ 127671 h 190595"/>
                  <a:gd name="csX21" fmla="*/ 57156 w 591978"/>
                  <a:gd name="csY21" fmla="*/ 126908 h 190595"/>
                  <a:gd name="csX22" fmla="*/ 63443 w 591978"/>
                  <a:gd name="csY22" fmla="*/ 126050 h 190595"/>
                  <a:gd name="csX23" fmla="*/ 69348 w 591978"/>
                  <a:gd name="csY23" fmla="*/ 128717 h 190595"/>
                  <a:gd name="csX24" fmla="*/ 72015 w 591978"/>
                  <a:gd name="csY24" fmla="*/ 135196 h 190595"/>
                  <a:gd name="csX25" fmla="*/ 64872 w 591978"/>
                  <a:gd name="csY25" fmla="*/ 145195 h 190595"/>
                  <a:gd name="csX26" fmla="*/ 44297 w 591978"/>
                  <a:gd name="csY26" fmla="*/ 148625 h 190595"/>
                  <a:gd name="csX27" fmla="*/ 25057 w 591978"/>
                  <a:gd name="csY27" fmla="*/ 144339 h 190595"/>
                  <a:gd name="csX28" fmla="*/ 16484 w 591978"/>
                  <a:gd name="csY28" fmla="*/ 132528 h 190595"/>
                  <a:gd name="csX29" fmla="*/ 14484 w 591978"/>
                  <a:gd name="csY29" fmla="*/ 112430 h 190595"/>
                  <a:gd name="csX30" fmla="*/ 14484 w 591978"/>
                  <a:gd name="csY30" fmla="*/ 60424 h 190595"/>
                  <a:gd name="csX31" fmla="*/ 10864 w 591978"/>
                  <a:gd name="csY31" fmla="*/ 60424 h 190595"/>
                  <a:gd name="csX32" fmla="*/ 2006 w 591978"/>
                  <a:gd name="csY32" fmla="*/ 57661 h 190595"/>
                  <a:gd name="csX33" fmla="*/ -1137 w 591978"/>
                  <a:gd name="csY33" fmla="*/ 50613 h 190595"/>
                  <a:gd name="csX34" fmla="*/ 2101 w 591978"/>
                  <a:gd name="csY34" fmla="*/ 43659 h 190595"/>
                  <a:gd name="csX35" fmla="*/ 11531 w 591978"/>
                  <a:gd name="csY35" fmla="*/ 40897 h 190595"/>
                  <a:gd name="csX36" fmla="*/ 108877 w 591978"/>
                  <a:gd name="csY36" fmla="*/ 109572 h 190595"/>
                  <a:gd name="csX37" fmla="*/ 108877 w 591978"/>
                  <a:gd name="csY37" fmla="*/ 132147 h 190595"/>
                  <a:gd name="csX38" fmla="*/ 104971 w 591978"/>
                  <a:gd name="csY38" fmla="*/ 144530 h 190595"/>
                  <a:gd name="csX39" fmla="*/ 95160 w 591978"/>
                  <a:gd name="csY39" fmla="*/ 148625 h 190595"/>
                  <a:gd name="csX40" fmla="*/ 85540 w 591978"/>
                  <a:gd name="csY40" fmla="*/ 144435 h 190595"/>
                  <a:gd name="csX41" fmla="*/ 81730 w 591978"/>
                  <a:gd name="csY41" fmla="*/ 132147 h 190595"/>
                  <a:gd name="csX42" fmla="*/ 81730 w 591978"/>
                  <a:gd name="csY42" fmla="*/ 56805 h 190595"/>
                  <a:gd name="csX43" fmla="*/ 94970 w 591978"/>
                  <a:gd name="csY43" fmla="*/ 38516 h 190595"/>
                  <a:gd name="csX44" fmla="*/ 104685 w 591978"/>
                  <a:gd name="csY44" fmla="*/ 42801 h 190595"/>
                  <a:gd name="csX45" fmla="*/ 107924 w 591978"/>
                  <a:gd name="csY45" fmla="*/ 55375 h 190595"/>
                  <a:gd name="csX46" fmla="*/ 117830 w 591978"/>
                  <a:gd name="csY46" fmla="*/ 42801 h 190595"/>
                  <a:gd name="csX47" fmla="*/ 131547 w 591978"/>
                  <a:gd name="csY47" fmla="*/ 38516 h 190595"/>
                  <a:gd name="csX48" fmla="*/ 148120 w 591978"/>
                  <a:gd name="csY48" fmla="*/ 42801 h 190595"/>
                  <a:gd name="csX49" fmla="*/ 156121 w 591978"/>
                  <a:gd name="csY49" fmla="*/ 54043 h 190595"/>
                  <a:gd name="csX50" fmla="*/ 152692 w 591978"/>
                  <a:gd name="csY50" fmla="*/ 62328 h 190595"/>
                  <a:gd name="csX51" fmla="*/ 145357 w 591978"/>
                  <a:gd name="csY51" fmla="*/ 65472 h 190595"/>
                  <a:gd name="csX52" fmla="*/ 138118 w 591978"/>
                  <a:gd name="csY52" fmla="*/ 63663 h 190595"/>
                  <a:gd name="csX53" fmla="*/ 128117 w 591978"/>
                  <a:gd name="csY53" fmla="*/ 61851 h 190595"/>
                  <a:gd name="csX54" fmla="*/ 118402 w 591978"/>
                  <a:gd name="csY54" fmla="*/ 64995 h 190595"/>
                  <a:gd name="csX55" fmla="*/ 112497 w 591978"/>
                  <a:gd name="csY55" fmla="*/ 74234 h 190595"/>
                  <a:gd name="csX56" fmla="*/ 109639 w 591978"/>
                  <a:gd name="csY56" fmla="*/ 88903 h 190595"/>
                  <a:gd name="csX57" fmla="*/ 108877 w 591978"/>
                  <a:gd name="csY57" fmla="*/ 109572 h 190595"/>
                  <a:gd name="csX58" fmla="*/ 198031 w 591978"/>
                  <a:gd name="csY58" fmla="*/ 53852 h 190595"/>
                  <a:gd name="csX59" fmla="*/ 198031 w 591978"/>
                  <a:gd name="csY59" fmla="*/ 132147 h 190595"/>
                  <a:gd name="csX60" fmla="*/ 194125 w 591978"/>
                  <a:gd name="csY60" fmla="*/ 144435 h 190595"/>
                  <a:gd name="csX61" fmla="*/ 184314 w 591978"/>
                  <a:gd name="csY61" fmla="*/ 148625 h 190595"/>
                  <a:gd name="csX62" fmla="*/ 174599 w 591978"/>
                  <a:gd name="csY62" fmla="*/ 144339 h 190595"/>
                  <a:gd name="csX63" fmla="*/ 170979 w 591978"/>
                  <a:gd name="csY63" fmla="*/ 132147 h 190595"/>
                  <a:gd name="csX64" fmla="*/ 170979 w 591978"/>
                  <a:gd name="csY64" fmla="*/ 54708 h 190595"/>
                  <a:gd name="csX65" fmla="*/ 174599 w 591978"/>
                  <a:gd name="csY65" fmla="*/ 42611 h 190595"/>
                  <a:gd name="csX66" fmla="*/ 184314 w 591978"/>
                  <a:gd name="csY66" fmla="*/ 38516 h 190595"/>
                  <a:gd name="csX67" fmla="*/ 194125 w 591978"/>
                  <a:gd name="csY67" fmla="*/ 42611 h 190595"/>
                  <a:gd name="csX68" fmla="*/ 198031 w 591978"/>
                  <a:gd name="csY68" fmla="*/ 53852 h 190595"/>
                  <a:gd name="csX69" fmla="*/ 184600 w 591978"/>
                  <a:gd name="csY69" fmla="*/ 25942 h 190595"/>
                  <a:gd name="csX70" fmla="*/ 174885 w 591978"/>
                  <a:gd name="csY70" fmla="*/ 22419 h 190595"/>
                  <a:gd name="csX71" fmla="*/ 170979 w 591978"/>
                  <a:gd name="csY71" fmla="*/ 12608 h 190595"/>
                  <a:gd name="csX72" fmla="*/ 174980 w 591978"/>
                  <a:gd name="csY72" fmla="*/ 3178 h 190595"/>
                  <a:gd name="csX73" fmla="*/ 184600 w 591978"/>
                  <a:gd name="csY73" fmla="*/ -631 h 190595"/>
                  <a:gd name="csX74" fmla="*/ 193935 w 591978"/>
                  <a:gd name="csY74" fmla="*/ 2797 h 190595"/>
                  <a:gd name="csX75" fmla="*/ 198031 w 591978"/>
                  <a:gd name="csY75" fmla="*/ 12608 h 190595"/>
                  <a:gd name="csX76" fmla="*/ 194030 w 591978"/>
                  <a:gd name="csY76" fmla="*/ 22419 h 190595"/>
                  <a:gd name="csX77" fmla="*/ 184600 w 591978"/>
                  <a:gd name="csY77" fmla="*/ 25942 h 190595"/>
                  <a:gd name="csX78" fmla="*/ 250989 w 591978"/>
                  <a:gd name="csY78" fmla="*/ 53661 h 190595"/>
                  <a:gd name="csX79" fmla="*/ 250989 w 591978"/>
                  <a:gd name="csY79" fmla="*/ 56994 h 190595"/>
                  <a:gd name="csX80" fmla="*/ 266896 w 591978"/>
                  <a:gd name="csY80" fmla="*/ 43183 h 190595"/>
                  <a:gd name="csX81" fmla="*/ 285565 w 591978"/>
                  <a:gd name="csY81" fmla="*/ 38706 h 190595"/>
                  <a:gd name="csX82" fmla="*/ 308521 w 591978"/>
                  <a:gd name="csY82" fmla="*/ 45183 h 190595"/>
                  <a:gd name="csX83" fmla="*/ 325094 w 591978"/>
                  <a:gd name="csY83" fmla="*/ 64042 h 190595"/>
                  <a:gd name="csX84" fmla="*/ 331286 w 591978"/>
                  <a:gd name="csY84" fmla="*/ 93380 h 190595"/>
                  <a:gd name="csX85" fmla="*/ 327666 w 591978"/>
                  <a:gd name="csY85" fmla="*/ 116429 h 190595"/>
                  <a:gd name="csX86" fmla="*/ 318046 w 591978"/>
                  <a:gd name="csY86" fmla="*/ 133956 h 190595"/>
                  <a:gd name="csX87" fmla="*/ 303472 w 591978"/>
                  <a:gd name="csY87" fmla="*/ 144911 h 190595"/>
                  <a:gd name="csX88" fmla="*/ 285565 w 591978"/>
                  <a:gd name="csY88" fmla="*/ 148625 h 190595"/>
                  <a:gd name="csX89" fmla="*/ 266040 w 591978"/>
                  <a:gd name="csY89" fmla="*/ 143958 h 190595"/>
                  <a:gd name="csX90" fmla="*/ 250989 w 591978"/>
                  <a:gd name="csY90" fmla="*/ 130243 h 190595"/>
                  <a:gd name="csX91" fmla="*/ 250989 w 591978"/>
                  <a:gd name="csY91" fmla="*/ 171010 h 190595"/>
                  <a:gd name="csX92" fmla="*/ 238035 w 591978"/>
                  <a:gd name="csY92" fmla="*/ 188820 h 190595"/>
                  <a:gd name="csX93" fmla="*/ 227940 w 591978"/>
                  <a:gd name="csY93" fmla="*/ 184153 h 190595"/>
                  <a:gd name="csX94" fmla="*/ 225368 w 591978"/>
                  <a:gd name="csY94" fmla="*/ 170724 h 190595"/>
                  <a:gd name="csX95" fmla="*/ 225368 w 591978"/>
                  <a:gd name="csY95" fmla="*/ 53852 h 190595"/>
                  <a:gd name="csX96" fmla="*/ 228796 w 591978"/>
                  <a:gd name="csY96" fmla="*/ 42422 h 190595"/>
                  <a:gd name="csX97" fmla="*/ 238035 w 591978"/>
                  <a:gd name="csY97" fmla="*/ 38516 h 190595"/>
                  <a:gd name="csX98" fmla="*/ 247370 w 591978"/>
                  <a:gd name="csY98" fmla="*/ 42518 h 190595"/>
                  <a:gd name="csX99" fmla="*/ 250989 w 591978"/>
                  <a:gd name="csY99" fmla="*/ 53661 h 190595"/>
                  <a:gd name="csX100" fmla="*/ 304140 w 591978"/>
                  <a:gd name="csY100" fmla="*/ 93094 h 190595"/>
                  <a:gd name="csX101" fmla="*/ 300805 w 591978"/>
                  <a:gd name="csY101" fmla="*/ 74711 h 190595"/>
                  <a:gd name="csX102" fmla="*/ 291661 w 591978"/>
                  <a:gd name="csY102" fmla="*/ 62900 h 190595"/>
                  <a:gd name="csX103" fmla="*/ 278898 w 591978"/>
                  <a:gd name="csY103" fmla="*/ 58710 h 190595"/>
                  <a:gd name="csX104" fmla="*/ 259943 w 591978"/>
                  <a:gd name="csY104" fmla="*/ 67567 h 190595"/>
                  <a:gd name="csX105" fmla="*/ 252323 w 591978"/>
                  <a:gd name="csY105" fmla="*/ 93570 h 190595"/>
                  <a:gd name="csX106" fmla="*/ 259943 w 591978"/>
                  <a:gd name="csY106" fmla="*/ 118811 h 190595"/>
                  <a:gd name="csX107" fmla="*/ 278898 w 591978"/>
                  <a:gd name="csY107" fmla="*/ 127671 h 190595"/>
                  <a:gd name="csX108" fmla="*/ 291375 w 591978"/>
                  <a:gd name="csY108" fmla="*/ 123859 h 190595"/>
                  <a:gd name="csX109" fmla="*/ 300615 w 591978"/>
                  <a:gd name="csY109" fmla="*/ 112048 h 190595"/>
                  <a:gd name="csX110" fmla="*/ 304140 w 591978"/>
                  <a:gd name="csY110" fmla="*/ 93094 h 190595"/>
                  <a:gd name="csX111" fmla="*/ 353003 w 591978"/>
                  <a:gd name="csY111" fmla="*/ 132147 h 190595"/>
                  <a:gd name="csX112" fmla="*/ 353003 w 591978"/>
                  <a:gd name="csY112" fmla="*/ 14703 h 190595"/>
                  <a:gd name="csX113" fmla="*/ 356622 w 591978"/>
                  <a:gd name="csY113" fmla="*/ 2415 h 190595"/>
                  <a:gd name="csX114" fmla="*/ 366432 w 591978"/>
                  <a:gd name="csY114" fmla="*/ -1775 h 190595"/>
                  <a:gd name="csX115" fmla="*/ 376339 w 591978"/>
                  <a:gd name="csY115" fmla="*/ 2415 h 190595"/>
                  <a:gd name="csX116" fmla="*/ 380054 w 591978"/>
                  <a:gd name="csY116" fmla="*/ 14703 h 190595"/>
                  <a:gd name="csX117" fmla="*/ 380054 w 591978"/>
                  <a:gd name="csY117" fmla="*/ 132147 h 190595"/>
                  <a:gd name="csX118" fmla="*/ 376243 w 591978"/>
                  <a:gd name="csY118" fmla="*/ 144530 h 190595"/>
                  <a:gd name="csX119" fmla="*/ 366432 w 591978"/>
                  <a:gd name="csY119" fmla="*/ 148625 h 190595"/>
                  <a:gd name="csX120" fmla="*/ 356717 w 591978"/>
                  <a:gd name="csY120" fmla="*/ 144339 h 190595"/>
                  <a:gd name="csX121" fmla="*/ 353003 w 591978"/>
                  <a:gd name="csY121" fmla="*/ 132147 h 190595"/>
                  <a:gd name="csX122" fmla="*/ 483686 w 591978"/>
                  <a:gd name="csY122" fmla="*/ 100237 h 190595"/>
                  <a:gd name="csX123" fmla="*/ 430726 w 591978"/>
                  <a:gd name="csY123" fmla="*/ 100237 h 190595"/>
                  <a:gd name="csX124" fmla="*/ 434346 w 591978"/>
                  <a:gd name="csY124" fmla="*/ 116525 h 190595"/>
                  <a:gd name="csX125" fmla="*/ 443966 w 591978"/>
                  <a:gd name="csY125" fmla="*/ 127099 h 190595"/>
                  <a:gd name="csX126" fmla="*/ 457301 w 591978"/>
                  <a:gd name="csY126" fmla="*/ 130717 h 190595"/>
                  <a:gd name="csX127" fmla="*/ 466160 w 591978"/>
                  <a:gd name="csY127" fmla="*/ 129575 h 190595"/>
                  <a:gd name="csX128" fmla="*/ 473970 w 591978"/>
                  <a:gd name="csY128" fmla="*/ 126050 h 190595"/>
                  <a:gd name="csX129" fmla="*/ 480923 w 591978"/>
                  <a:gd name="csY129" fmla="*/ 120718 h 190595"/>
                  <a:gd name="csX130" fmla="*/ 489114 w 591978"/>
                  <a:gd name="csY130" fmla="*/ 113192 h 190595"/>
                  <a:gd name="csX131" fmla="*/ 495115 w 591978"/>
                  <a:gd name="csY131" fmla="*/ 111479 h 190595"/>
                  <a:gd name="csX132" fmla="*/ 501879 w 591978"/>
                  <a:gd name="csY132" fmla="*/ 113669 h 190595"/>
                  <a:gd name="csX133" fmla="*/ 504449 w 591978"/>
                  <a:gd name="csY133" fmla="*/ 120145 h 190595"/>
                  <a:gd name="csX134" fmla="*/ 501497 w 591978"/>
                  <a:gd name="csY134" fmla="*/ 128812 h 190595"/>
                  <a:gd name="csX135" fmla="*/ 492829 w 591978"/>
                  <a:gd name="csY135" fmla="*/ 138242 h 190595"/>
                  <a:gd name="csX136" fmla="*/ 478256 w 591978"/>
                  <a:gd name="csY136" fmla="*/ 145672 h 190595"/>
                  <a:gd name="csX137" fmla="*/ 458063 w 591978"/>
                  <a:gd name="csY137" fmla="*/ 148625 h 190595"/>
                  <a:gd name="csX138" fmla="*/ 417486 w 591978"/>
                  <a:gd name="csY138" fmla="*/ 133766 h 190595"/>
                  <a:gd name="csX139" fmla="*/ 403009 w 591978"/>
                  <a:gd name="csY139" fmla="*/ 93380 h 190595"/>
                  <a:gd name="csX140" fmla="*/ 406629 w 591978"/>
                  <a:gd name="csY140" fmla="*/ 71186 h 190595"/>
                  <a:gd name="csX141" fmla="*/ 417011 w 591978"/>
                  <a:gd name="csY141" fmla="*/ 53470 h 190595"/>
                  <a:gd name="csX142" fmla="*/ 433870 w 591978"/>
                  <a:gd name="csY142" fmla="*/ 42232 h 190595"/>
                  <a:gd name="csX143" fmla="*/ 456063 w 591978"/>
                  <a:gd name="csY143" fmla="*/ 38325 h 190595"/>
                  <a:gd name="csX144" fmla="*/ 483304 w 591978"/>
                  <a:gd name="csY144" fmla="*/ 45087 h 190595"/>
                  <a:gd name="csX145" fmla="*/ 500354 w 591978"/>
                  <a:gd name="csY145" fmla="*/ 62328 h 190595"/>
                  <a:gd name="csX146" fmla="*/ 505974 w 591978"/>
                  <a:gd name="csY146" fmla="*/ 83950 h 190595"/>
                  <a:gd name="csX147" fmla="*/ 500164 w 591978"/>
                  <a:gd name="csY147" fmla="*/ 97286 h 190595"/>
                  <a:gd name="csX148" fmla="*/ 483686 w 591978"/>
                  <a:gd name="csY148" fmla="*/ 100237 h 190595"/>
                  <a:gd name="csX149" fmla="*/ 430726 w 591978"/>
                  <a:gd name="csY149" fmla="*/ 84808 h 190595"/>
                  <a:gd name="csX150" fmla="*/ 479780 w 591978"/>
                  <a:gd name="csY150" fmla="*/ 84808 h 190595"/>
                  <a:gd name="csX151" fmla="*/ 472255 w 591978"/>
                  <a:gd name="csY151" fmla="*/ 64137 h 190595"/>
                  <a:gd name="csX152" fmla="*/ 455206 w 591978"/>
                  <a:gd name="csY152" fmla="*/ 57184 h 190595"/>
                  <a:gd name="csX153" fmla="*/ 438537 w 591978"/>
                  <a:gd name="csY153" fmla="*/ 64233 h 190595"/>
                  <a:gd name="csX154" fmla="*/ 430726 w 591978"/>
                  <a:gd name="csY154" fmla="*/ 84808 h 190595"/>
                  <a:gd name="csX155" fmla="*/ 530358 w 591978"/>
                  <a:gd name="csY155" fmla="*/ 40897 h 190595"/>
                  <a:gd name="csX156" fmla="*/ 533310 w 591978"/>
                  <a:gd name="csY156" fmla="*/ 40897 h 190595"/>
                  <a:gd name="csX157" fmla="*/ 533310 w 591978"/>
                  <a:gd name="csY157" fmla="*/ 24609 h 190595"/>
                  <a:gd name="csX158" fmla="*/ 533597 w 591978"/>
                  <a:gd name="csY158" fmla="*/ 14417 h 190595"/>
                  <a:gd name="csX159" fmla="*/ 535596 w 591978"/>
                  <a:gd name="csY159" fmla="*/ 7941 h 190595"/>
                  <a:gd name="csX160" fmla="*/ 540168 w 591978"/>
                  <a:gd name="csY160" fmla="*/ 3464 h 190595"/>
                  <a:gd name="csX161" fmla="*/ 546741 w 591978"/>
                  <a:gd name="csY161" fmla="*/ 1655 h 190595"/>
                  <a:gd name="csX162" fmla="*/ 556075 w 591978"/>
                  <a:gd name="csY162" fmla="*/ 5559 h 190595"/>
                  <a:gd name="csX163" fmla="*/ 559600 w 591978"/>
                  <a:gd name="csY163" fmla="*/ 11940 h 190595"/>
                  <a:gd name="csX164" fmla="*/ 560361 w 591978"/>
                  <a:gd name="csY164" fmla="*/ 22419 h 190595"/>
                  <a:gd name="csX165" fmla="*/ 560361 w 591978"/>
                  <a:gd name="csY165" fmla="*/ 40897 h 190595"/>
                  <a:gd name="csX166" fmla="*/ 570268 w 591978"/>
                  <a:gd name="csY166" fmla="*/ 40897 h 190595"/>
                  <a:gd name="csX167" fmla="*/ 579031 w 591978"/>
                  <a:gd name="csY167" fmla="*/ 43659 h 190595"/>
                  <a:gd name="csX168" fmla="*/ 582078 w 591978"/>
                  <a:gd name="csY168" fmla="*/ 50613 h 190595"/>
                  <a:gd name="csX169" fmla="*/ 577697 w 591978"/>
                  <a:gd name="csY169" fmla="*/ 58233 h 190595"/>
                  <a:gd name="csX170" fmla="*/ 565410 w 591978"/>
                  <a:gd name="csY170" fmla="*/ 60424 h 190595"/>
                  <a:gd name="csX171" fmla="*/ 560361 w 591978"/>
                  <a:gd name="csY171" fmla="*/ 60424 h 190595"/>
                  <a:gd name="csX172" fmla="*/ 560361 w 591978"/>
                  <a:gd name="csY172" fmla="*/ 110239 h 190595"/>
                  <a:gd name="csX173" fmla="*/ 560743 w 591978"/>
                  <a:gd name="csY173" fmla="*/ 120050 h 190595"/>
                  <a:gd name="csX174" fmla="*/ 563124 w 591978"/>
                  <a:gd name="csY174" fmla="*/ 125575 h 190595"/>
                  <a:gd name="csX175" fmla="*/ 569506 w 591978"/>
                  <a:gd name="csY175" fmla="*/ 127671 h 190595"/>
                  <a:gd name="csX176" fmla="*/ 575982 w 591978"/>
                  <a:gd name="csY176" fmla="*/ 126908 h 190595"/>
                  <a:gd name="csX177" fmla="*/ 582269 w 591978"/>
                  <a:gd name="csY177" fmla="*/ 126050 h 190595"/>
                  <a:gd name="csX178" fmla="*/ 588175 w 591978"/>
                  <a:gd name="csY178" fmla="*/ 128717 h 190595"/>
                  <a:gd name="csX179" fmla="*/ 590842 w 591978"/>
                  <a:gd name="csY179" fmla="*/ 135196 h 190595"/>
                  <a:gd name="csX180" fmla="*/ 583698 w 591978"/>
                  <a:gd name="csY180" fmla="*/ 145195 h 190595"/>
                  <a:gd name="csX181" fmla="*/ 563124 w 591978"/>
                  <a:gd name="csY181" fmla="*/ 148625 h 190595"/>
                  <a:gd name="csX182" fmla="*/ 543883 w 591978"/>
                  <a:gd name="csY182" fmla="*/ 144339 h 190595"/>
                  <a:gd name="csX183" fmla="*/ 535310 w 591978"/>
                  <a:gd name="csY183" fmla="*/ 132528 h 190595"/>
                  <a:gd name="csX184" fmla="*/ 533310 w 591978"/>
                  <a:gd name="csY184" fmla="*/ 112430 h 190595"/>
                  <a:gd name="csX185" fmla="*/ 533310 w 591978"/>
                  <a:gd name="csY185" fmla="*/ 60424 h 190595"/>
                  <a:gd name="csX186" fmla="*/ 529691 w 591978"/>
                  <a:gd name="csY186" fmla="*/ 60424 h 190595"/>
                  <a:gd name="csX187" fmla="*/ 520738 w 591978"/>
                  <a:gd name="csY187" fmla="*/ 57661 h 190595"/>
                  <a:gd name="csX188" fmla="*/ 517689 w 591978"/>
                  <a:gd name="csY188" fmla="*/ 50613 h 190595"/>
                  <a:gd name="csX189" fmla="*/ 520929 w 591978"/>
                  <a:gd name="csY189" fmla="*/ 43659 h 190595"/>
                  <a:gd name="csX190" fmla="*/ 530263 w 591978"/>
                  <a:gd name="csY190" fmla="*/ 40897 h 1905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591978" h="190595">
                    <a:moveTo>
                      <a:pt x="11531" y="40897"/>
                    </a:moveTo>
                    <a:lnTo>
                      <a:pt x="14484" y="40897"/>
                    </a:lnTo>
                    <a:lnTo>
                      <a:pt x="14484" y="24609"/>
                    </a:lnTo>
                    <a:cubicBezTo>
                      <a:pt x="14484" y="20228"/>
                      <a:pt x="14579" y="16798"/>
                      <a:pt x="14770" y="14417"/>
                    </a:cubicBezTo>
                    <a:cubicBezTo>
                      <a:pt x="15055" y="11845"/>
                      <a:pt x="15722" y="9750"/>
                      <a:pt x="16770" y="7941"/>
                    </a:cubicBezTo>
                    <a:cubicBezTo>
                      <a:pt x="17817" y="6132"/>
                      <a:pt x="19342" y="4606"/>
                      <a:pt x="21342" y="3464"/>
                    </a:cubicBezTo>
                    <a:cubicBezTo>
                      <a:pt x="23342" y="2320"/>
                      <a:pt x="25533" y="1655"/>
                      <a:pt x="28010" y="1655"/>
                    </a:cubicBezTo>
                    <a:cubicBezTo>
                      <a:pt x="31439" y="1655"/>
                      <a:pt x="34486" y="2988"/>
                      <a:pt x="37249" y="5559"/>
                    </a:cubicBezTo>
                    <a:cubicBezTo>
                      <a:pt x="39153" y="7273"/>
                      <a:pt x="40296" y="9369"/>
                      <a:pt x="40773" y="11940"/>
                    </a:cubicBezTo>
                    <a:cubicBezTo>
                      <a:pt x="41249" y="14322"/>
                      <a:pt x="41535" y="17847"/>
                      <a:pt x="41535" y="22419"/>
                    </a:cubicBezTo>
                    <a:lnTo>
                      <a:pt x="41535" y="40897"/>
                    </a:lnTo>
                    <a:lnTo>
                      <a:pt x="51441" y="40897"/>
                    </a:lnTo>
                    <a:cubicBezTo>
                      <a:pt x="55347" y="40897"/>
                      <a:pt x="58203" y="41850"/>
                      <a:pt x="60203" y="43659"/>
                    </a:cubicBezTo>
                    <a:cubicBezTo>
                      <a:pt x="62300" y="45469"/>
                      <a:pt x="63252" y="47755"/>
                      <a:pt x="63252" y="50613"/>
                    </a:cubicBezTo>
                    <a:cubicBezTo>
                      <a:pt x="63252" y="54233"/>
                      <a:pt x="61823" y="56805"/>
                      <a:pt x="58871" y="58233"/>
                    </a:cubicBezTo>
                    <a:cubicBezTo>
                      <a:pt x="56108" y="59661"/>
                      <a:pt x="52012" y="60424"/>
                      <a:pt x="46583" y="60424"/>
                    </a:cubicBezTo>
                    <a:lnTo>
                      <a:pt x="41535" y="60424"/>
                    </a:lnTo>
                    <a:lnTo>
                      <a:pt x="41535" y="110239"/>
                    </a:lnTo>
                    <a:cubicBezTo>
                      <a:pt x="41535" y="114430"/>
                      <a:pt x="41725" y="117764"/>
                      <a:pt x="41916" y="120050"/>
                    </a:cubicBezTo>
                    <a:cubicBezTo>
                      <a:pt x="42297" y="122336"/>
                      <a:pt x="43059" y="124145"/>
                      <a:pt x="44297" y="125575"/>
                    </a:cubicBezTo>
                    <a:cubicBezTo>
                      <a:pt x="45631" y="127003"/>
                      <a:pt x="47821" y="127671"/>
                      <a:pt x="50678" y="127671"/>
                    </a:cubicBezTo>
                    <a:cubicBezTo>
                      <a:pt x="52298" y="127671"/>
                      <a:pt x="54393" y="127480"/>
                      <a:pt x="57156" y="126908"/>
                    </a:cubicBezTo>
                    <a:cubicBezTo>
                      <a:pt x="59823" y="126336"/>
                      <a:pt x="61918" y="126050"/>
                      <a:pt x="63443" y="126050"/>
                    </a:cubicBezTo>
                    <a:cubicBezTo>
                      <a:pt x="65633" y="126050"/>
                      <a:pt x="67633" y="126908"/>
                      <a:pt x="69348" y="128717"/>
                    </a:cubicBezTo>
                    <a:cubicBezTo>
                      <a:pt x="71157" y="130433"/>
                      <a:pt x="72015" y="132528"/>
                      <a:pt x="72015" y="135196"/>
                    </a:cubicBezTo>
                    <a:cubicBezTo>
                      <a:pt x="72015" y="139482"/>
                      <a:pt x="69634" y="142814"/>
                      <a:pt x="64872" y="145195"/>
                    </a:cubicBezTo>
                    <a:cubicBezTo>
                      <a:pt x="60109" y="147481"/>
                      <a:pt x="53250" y="148625"/>
                      <a:pt x="44297" y="148625"/>
                    </a:cubicBezTo>
                    <a:cubicBezTo>
                      <a:pt x="35915" y="148625"/>
                      <a:pt x="29438" y="147197"/>
                      <a:pt x="25057" y="144339"/>
                    </a:cubicBezTo>
                    <a:cubicBezTo>
                      <a:pt x="20675" y="141577"/>
                      <a:pt x="17817" y="137577"/>
                      <a:pt x="16484" y="132528"/>
                    </a:cubicBezTo>
                    <a:cubicBezTo>
                      <a:pt x="15150" y="127575"/>
                      <a:pt x="14484" y="120813"/>
                      <a:pt x="14484" y="112430"/>
                    </a:cubicBezTo>
                    <a:lnTo>
                      <a:pt x="14484" y="60424"/>
                    </a:lnTo>
                    <a:lnTo>
                      <a:pt x="10864" y="60424"/>
                    </a:lnTo>
                    <a:cubicBezTo>
                      <a:pt x="6959" y="60424"/>
                      <a:pt x="4007" y="59470"/>
                      <a:pt x="2006" y="57661"/>
                    </a:cubicBezTo>
                    <a:cubicBezTo>
                      <a:pt x="-90" y="55852"/>
                      <a:pt x="-1137" y="53470"/>
                      <a:pt x="-1137" y="50613"/>
                    </a:cubicBezTo>
                    <a:cubicBezTo>
                      <a:pt x="-1137" y="47755"/>
                      <a:pt x="-90" y="45469"/>
                      <a:pt x="2101" y="43659"/>
                    </a:cubicBezTo>
                    <a:cubicBezTo>
                      <a:pt x="4292" y="41850"/>
                      <a:pt x="7436" y="40897"/>
                      <a:pt x="11531" y="40897"/>
                    </a:cubicBezTo>
                    <a:close/>
                    <a:moveTo>
                      <a:pt x="108877" y="109572"/>
                    </a:moveTo>
                    <a:lnTo>
                      <a:pt x="108877" y="132147"/>
                    </a:lnTo>
                    <a:cubicBezTo>
                      <a:pt x="108877" y="137672"/>
                      <a:pt x="107543" y="141767"/>
                      <a:pt x="104971" y="144530"/>
                    </a:cubicBezTo>
                    <a:cubicBezTo>
                      <a:pt x="102400" y="147293"/>
                      <a:pt x="99066" y="148625"/>
                      <a:pt x="95160" y="148625"/>
                    </a:cubicBezTo>
                    <a:cubicBezTo>
                      <a:pt x="91255" y="148625"/>
                      <a:pt x="88017" y="147293"/>
                      <a:pt x="85540" y="144435"/>
                    </a:cubicBezTo>
                    <a:cubicBezTo>
                      <a:pt x="82968" y="141672"/>
                      <a:pt x="81730" y="137577"/>
                      <a:pt x="81730" y="132147"/>
                    </a:cubicBezTo>
                    <a:lnTo>
                      <a:pt x="81730" y="56805"/>
                    </a:lnTo>
                    <a:cubicBezTo>
                      <a:pt x="81730" y="44613"/>
                      <a:pt x="86112" y="38516"/>
                      <a:pt x="94970" y="38516"/>
                    </a:cubicBezTo>
                    <a:cubicBezTo>
                      <a:pt x="99447" y="38516"/>
                      <a:pt x="102686" y="39946"/>
                      <a:pt x="104685" y="42801"/>
                    </a:cubicBezTo>
                    <a:cubicBezTo>
                      <a:pt x="106685" y="45659"/>
                      <a:pt x="107734" y="49850"/>
                      <a:pt x="107924" y="55375"/>
                    </a:cubicBezTo>
                    <a:cubicBezTo>
                      <a:pt x="111163" y="49850"/>
                      <a:pt x="114496" y="45659"/>
                      <a:pt x="117830" y="42801"/>
                    </a:cubicBezTo>
                    <a:cubicBezTo>
                      <a:pt x="121259" y="39946"/>
                      <a:pt x="125831" y="38516"/>
                      <a:pt x="131547" y="38516"/>
                    </a:cubicBezTo>
                    <a:cubicBezTo>
                      <a:pt x="137261" y="38516"/>
                      <a:pt x="142785" y="39946"/>
                      <a:pt x="148120" y="42801"/>
                    </a:cubicBezTo>
                    <a:cubicBezTo>
                      <a:pt x="153453" y="45659"/>
                      <a:pt x="156121" y="49375"/>
                      <a:pt x="156121" y="54043"/>
                    </a:cubicBezTo>
                    <a:cubicBezTo>
                      <a:pt x="156121" y="57375"/>
                      <a:pt x="154978" y="60138"/>
                      <a:pt x="152692" y="62328"/>
                    </a:cubicBezTo>
                    <a:cubicBezTo>
                      <a:pt x="150406" y="64423"/>
                      <a:pt x="148025" y="65472"/>
                      <a:pt x="145357" y="65472"/>
                    </a:cubicBezTo>
                    <a:cubicBezTo>
                      <a:pt x="144310" y="65472"/>
                      <a:pt x="141929" y="64900"/>
                      <a:pt x="138118" y="63663"/>
                    </a:cubicBezTo>
                    <a:cubicBezTo>
                      <a:pt x="134308" y="62423"/>
                      <a:pt x="130975" y="61851"/>
                      <a:pt x="128117" y="61851"/>
                    </a:cubicBezTo>
                    <a:cubicBezTo>
                      <a:pt x="124117" y="61851"/>
                      <a:pt x="120879" y="62900"/>
                      <a:pt x="118402" y="64995"/>
                    </a:cubicBezTo>
                    <a:cubicBezTo>
                      <a:pt x="115830" y="67091"/>
                      <a:pt x="113924" y="70139"/>
                      <a:pt x="112497" y="74234"/>
                    </a:cubicBezTo>
                    <a:cubicBezTo>
                      <a:pt x="111068" y="78329"/>
                      <a:pt x="110115" y="83187"/>
                      <a:pt x="109639" y="88903"/>
                    </a:cubicBezTo>
                    <a:cubicBezTo>
                      <a:pt x="109067" y="94524"/>
                      <a:pt x="108877" y="101382"/>
                      <a:pt x="108877" y="109572"/>
                    </a:cubicBezTo>
                    <a:close/>
                    <a:moveTo>
                      <a:pt x="198031" y="53852"/>
                    </a:moveTo>
                    <a:lnTo>
                      <a:pt x="198031" y="132147"/>
                    </a:lnTo>
                    <a:cubicBezTo>
                      <a:pt x="198031" y="137577"/>
                      <a:pt x="196697" y="141672"/>
                      <a:pt x="194125" y="144435"/>
                    </a:cubicBezTo>
                    <a:cubicBezTo>
                      <a:pt x="191553" y="147293"/>
                      <a:pt x="188315" y="148625"/>
                      <a:pt x="184314" y="148625"/>
                    </a:cubicBezTo>
                    <a:cubicBezTo>
                      <a:pt x="180410" y="148625"/>
                      <a:pt x="177171" y="147197"/>
                      <a:pt x="174599" y="144339"/>
                    </a:cubicBezTo>
                    <a:cubicBezTo>
                      <a:pt x="172122" y="141577"/>
                      <a:pt x="170979" y="137482"/>
                      <a:pt x="170979" y="132147"/>
                    </a:cubicBezTo>
                    <a:lnTo>
                      <a:pt x="170979" y="54708"/>
                    </a:lnTo>
                    <a:cubicBezTo>
                      <a:pt x="170979" y="49280"/>
                      <a:pt x="172122" y="45278"/>
                      <a:pt x="174599" y="42611"/>
                    </a:cubicBezTo>
                    <a:cubicBezTo>
                      <a:pt x="177171" y="39850"/>
                      <a:pt x="180410" y="38516"/>
                      <a:pt x="184314" y="38516"/>
                    </a:cubicBezTo>
                    <a:cubicBezTo>
                      <a:pt x="188315" y="38516"/>
                      <a:pt x="191553" y="39850"/>
                      <a:pt x="194125" y="42611"/>
                    </a:cubicBezTo>
                    <a:cubicBezTo>
                      <a:pt x="196697" y="45278"/>
                      <a:pt x="198031" y="49089"/>
                      <a:pt x="198031" y="53852"/>
                    </a:cubicBezTo>
                    <a:close/>
                    <a:moveTo>
                      <a:pt x="184600" y="25942"/>
                    </a:moveTo>
                    <a:cubicBezTo>
                      <a:pt x="180885" y="25942"/>
                      <a:pt x="177647" y="24705"/>
                      <a:pt x="174885" y="22419"/>
                    </a:cubicBezTo>
                    <a:cubicBezTo>
                      <a:pt x="172217" y="20133"/>
                      <a:pt x="170979" y="16798"/>
                      <a:pt x="170979" y="12608"/>
                    </a:cubicBezTo>
                    <a:cubicBezTo>
                      <a:pt x="170979" y="8799"/>
                      <a:pt x="172313" y="5655"/>
                      <a:pt x="174980" y="3178"/>
                    </a:cubicBezTo>
                    <a:cubicBezTo>
                      <a:pt x="177743" y="702"/>
                      <a:pt x="180981" y="-631"/>
                      <a:pt x="184600" y="-631"/>
                    </a:cubicBezTo>
                    <a:cubicBezTo>
                      <a:pt x="188125" y="-631"/>
                      <a:pt x="191267" y="511"/>
                      <a:pt x="193935" y="2797"/>
                    </a:cubicBezTo>
                    <a:cubicBezTo>
                      <a:pt x="196697" y="5083"/>
                      <a:pt x="198031" y="8322"/>
                      <a:pt x="198031" y="12608"/>
                    </a:cubicBezTo>
                    <a:cubicBezTo>
                      <a:pt x="198031" y="16798"/>
                      <a:pt x="196697" y="20038"/>
                      <a:pt x="194030" y="22419"/>
                    </a:cubicBezTo>
                    <a:cubicBezTo>
                      <a:pt x="191458" y="24705"/>
                      <a:pt x="188315" y="25942"/>
                      <a:pt x="184600" y="25942"/>
                    </a:cubicBezTo>
                    <a:close/>
                    <a:moveTo>
                      <a:pt x="250989" y="53661"/>
                    </a:moveTo>
                    <a:lnTo>
                      <a:pt x="250989" y="56994"/>
                    </a:lnTo>
                    <a:cubicBezTo>
                      <a:pt x="256133" y="50708"/>
                      <a:pt x="261372" y="46041"/>
                      <a:pt x="266896" y="43183"/>
                    </a:cubicBezTo>
                    <a:cubicBezTo>
                      <a:pt x="272421" y="40229"/>
                      <a:pt x="278612" y="38706"/>
                      <a:pt x="285565" y="38706"/>
                    </a:cubicBezTo>
                    <a:cubicBezTo>
                      <a:pt x="293852" y="38706"/>
                      <a:pt x="301568" y="40897"/>
                      <a:pt x="308521" y="45183"/>
                    </a:cubicBezTo>
                    <a:cubicBezTo>
                      <a:pt x="315569" y="49471"/>
                      <a:pt x="321093" y="55756"/>
                      <a:pt x="325094" y="64042"/>
                    </a:cubicBezTo>
                    <a:cubicBezTo>
                      <a:pt x="329190" y="72234"/>
                      <a:pt x="331286" y="82045"/>
                      <a:pt x="331286" y="93380"/>
                    </a:cubicBezTo>
                    <a:cubicBezTo>
                      <a:pt x="331286" y="101668"/>
                      <a:pt x="330047" y="109381"/>
                      <a:pt x="327666" y="116429"/>
                    </a:cubicBezTo>
                    <a:cubicBezTo>
                      <a:pt x="325380" y="123385"/>
                      <a:pt x="322141" y="129194"/>
                      <a:pt x="318046" y="133956"/>
                    </a:cubicBezTo>
                    <a:cubicBezTo>
                      <a:pt x="313949" y="138623"/>
                      <a:pt x="309092" y="142244"/>
                      <a:pt x="303472" y="144911"/>
                    </a:cubicBezTo>
                    <a:cubicBezTo>
                      <a:pt x="297948" y="147386"/>
                      <a:pt x="291947" y="148625"/>
                      <a:pt x="285565" y="148625"/>
                    </a:cubicBezTo>
                    <a:cubicBezTo>
                      <a:pt x="277755" y="148625"/>
                      <a:pt x="271278" y="147102"/>
                      <a:pt x="266040" y="143958"/>
                    </a:cubicBezTo>
                    <a:cubicBezTo>
                      <a:pt x="260800" y="140909"/>
                      <a:pt x="255752" y="136338"/>
                      <a:pt x="250989" y="130243"/>
                    </a:cubicBezTo>
                    <a:lnTo>
                      <a:pt x="250989" y="171010"/>
                    </a:lnTo>
                    <a:cubicBezTo>
                      <a:pt x="250989" y="182916"/>
                      <a:pt x="246704" y="188820"/>
                      <a:pt x="238035" y="188820"/>
                    </a:cubicBezTo>
                    <a:cubicBezTo>
                      <a:pt x="232892" y="188820"/>
                      <a:pt x="229558" y="187297"/>
                      <a:pt x="227940" y="184153"/>
                    </a:cubicBezTo>
                    <a:cubicBezTo>
                      <a:pt x="226225" y="181105"/>
                      <a:pt x="225368" y="176628"/>
                      <a:pt x="225368" y="170724"/>
                    </a:cubicBezTo>
                    <a:lnTo>
                      <a:pt x="225368" y="53852"/>
                    </a:lnTo>
                    <a:cubicBezTo>
                      <a:pt x="225368" y="48708"/>
                      <a:pt x="226511" y="44899"/>
                      <a:pt x="228796" y="42422"/>
                    </a:cubicBezTo>
                    <a:cubicBezTo>
                      <a:pt x="230987" y="39755"/>
                      <a:pt x="234130" y="38516"/>
                      <a:pt x="238035" y="38516"/>
                    </a:cubicBezTo>
                    <a:cubicBezTo>
                      <a:pt x="241846" y="38516"/>
                      <a:pt x="244989" y="39850"/>
                      <a:pt x="247370" y="42518"/>
                    </a:cubicBezTo>
                    <a:cubicBezTo>
                      <a:pt x="249751" y="45087"/>
                      <a:pt x="250989" y="48803"/>
                      <a:pt x="250989" y="53661"/>
                    </a:cubicBezTo>
                    <a:close/>
                    <a:moveTo>
                      <a:pt x="304140" y="93094"/>
                    </a:moveTo>
                    <a:cubicBezTo>
                      <a:pt x="304140" y="85950"/>
                      <a:pt x="302997" y="79855"/>
                      <a:pt x="300805" y="74711"/>
                    </a:cubicBezTo>
                    <a:cubicBezTo>
                      <a:pt x="298614" y="69567"/>
                      <a:pt x="295567" y="65663"/>
                      <a:pt x="291661" y="62900"/>
                    </a:cubicBezTo>
                    <a:cubicBezTo>
                      <a:pt x="287851" y="60138"/>
                      <a:pt x="283565" y="58710"/>
                      <a:pt x="278898" y="58710"/>
                    </a:cubicBezTo>
                    <a:cubicBezTo>
                      <a:pt x="271373" y="58710"/>
                      <a:pt x="265086" y="61661"/>
                      <a:pt x="259943" y="67567"/>
                    </a:cubicBezTo>
                    <a:cubicBezTo>
                      <a:pt x="254800" y="73474"/>
                      <a:pt x="252323" y="82141"/>
                      <a:pt x="252323" y="93570"/>
                    </a:cubicBezTo>
                    <a:cubicBezTo>
                      <a:pt x="252323" y="104335"/>
                      <a:pt x="254800" y="112716"/>
                      <a:pt x="259943" y="118811"/>
                    </a:cubicBezTo>
                    <a:cubicBezTo>
                      <a:pt x="264991" y="124717"/>
                      <a:pt x="271373" y="127671"/>
                      <a:pt x="278898" y="127671"/>
                    </a:cubicBezTo>
                    <a:cubicBezTo>
                      <a:pt x="283375" y="127671"/>
                      <a:pt x="287566" y="126431"/>
                      <a:pt x="291375" y="123859"/>
                    </a:cubicBezTo>
                    <a:cubicBezTo>
                      <a:pt x="295185" y="121192"/>
                      <a:pt x="298328" y="117288"/>
                      <a:pt x="300615" y="112048"/>
                    </a:cubicBezTo>
                    <a:cubicBezTo>
                      <a:pt x="302901" y="106811"/>
                      <a:pt x="304140" y="100523"/>
                      <a:pt x="304140" y="93094"/>
                    </a:cubicBezTo>
                    <a:close/>
                    <a:moveTo>
                      <a:pt x="353003" y="132147"/>
                    </a:moveTo>
                    <a:lnTo>
                      <a:pt x="353003" y="14703"/>
                    </a:lnTo>
                    <a:cubicBezTo>
                      <a:pt x="353003" y="9273"/>
                      <a:pt x="354241" y="5178"/>
                      <a:pt x="356622" y="2415"/>
                    </a:cubicBezTo>
                    <a:cubicBezTo>
                      <a:pt x="359004" y="-345"/>
                      <a:pt x="362337" y="-1775"/>
                      <a:pt x="366432" y="-1775"/>
                    </a:cubicBezTo>
                    <a:cubicBezTo>
                      <a:pt x="370529" y="-1775"/>
                      <a:pt x="373767" y="-345"/>
                      <a:pt x="376339" y="2415"/>
                    </a:cubicBezTo>
                    <a:cubicBezTo>
                      <a:pt x="378815" y="5083"/>
                      <a:pt x="380054" y="9180"/>
                      <a:pt x="380054" y="14703"/>
                    </a:cubicBezTo>
                    <a:lnTo>
                      <a:pt x="380054" y="132147"/>
                    </a:lnTo>
                    <a:cubicBezTo>
                      <a:pt x="380054" y="137672"/>
                      <a:pt x="378815" y="141767"/>
                      <a:pt x="376243" y="144530"/>
                    </a:cubicBezTo>
                    <a:cubicBezTo>
                      <a:pt x="373671" y="147293"/>
                      <a:pt x="370433" y="148625"/>
                      <a:pt x="366432" y="148625"/>
                    </a:cubicBezTo>
                    <a:cubicBezTo>
                      <a:pt x="362433" y="148625"/>
                      <a:pt x="359193" y="147197"/>
                      <a:pt x="356717" y="144339"/>
                    </a:cubicBezTo>
                    <a:cubicBezTo>
                      <a:pt x="354241" y="141577"/>
                      <a:pt x="353003" y="137482"/>
                      <a:pt x="353003" y="132147"/>
                    </a:cubicBezTo>
                    <a:close/>
                    <a:moveTo>
                      <a:pt x="483686" y="100237"/>
                    </a:moveTo>
                    <a:lnTo>
                      <a:pt x="430726" y="100237"/>
                    </a:lnTo>
                    <a:cubicBezTo>
                      <a:pt x="430726" y="106335"/>
                      <a:pt x="431964" y="111762"/>
                      <a:pt x="434346" y="116525"/>
                    </a:cubicBezTo>
                    <a:cubicBezTo>
                      <a:pt x="436822" y="121192"/>
                      <a:pt x="440060" y="124717"/>
                      <a:pt x="443966" y="127099"/>
                    </a:cubicBezTo>
                    <a:cubicBezTo>
                      <a:pt x="448062" y="129480"/>
                      <a:pt x="452443" y="130717"/>
                      <a:pt x="457301" y="130717"/>
                    </a:cubicBezTo>
                    <a:cubicBezTo>
                      <a:pt x="460539" y="130717"/>
                      <a:pt x="463493" y="130338"/>
                      <a:pt x="466160" y="129575"/>
                    </a:cubicBezTo>
                    <a:cubicBezTo>
                      <a:pt x="468826" y="128812"/>
                      <a:pt x="471398" y="127575"/>
                      <a:pt x="473970" y="126050"/>
                    </a:cubicBezTo>
                    <a:cubicBezTo>
                      <a:pt x="476446" y="124336"/>
                      <a:pt x="478828" y="122622"/>
                      <a:pt x="480923" y="120718"/>
                    </a:cubicBezTo>
                    <a:cubicBezTo>
                      <a:pt x="483018" y="118906"/>
                      <a:pt x="485781" y="116429"/>
                      <a:pt x="489114" y="113192"/>
                    </a:cubicBezTo>
                    <a:cubicBezTo>
                      <a:pt x="490543" y="112048"/>
                      <a:pt x="492543" y="111479"/>
                      <a:pt x="495115" y="111479"/>
                    </a:cubicBezTo>
                    <a:cubicBezTo>
                      <a:pt x="497878" y="111479"/>
                      <a:pt x="500164" y="112239"/>
                      <a:pt x="501879" y="113669"/>
                    </a:cubicBezTo>
                    <a:cubicBezTo>
                      <a:pt x="503593" y="115192"/>
                      <a:pt x="504449" y="117383"/>
                      <a:pt x="504449" y="120145"/>
                    </a:cubicBezTo>
                    <a:cubicBezTo>
                      <a:pt x="504449" y="122622"/>
                      <a:pt x="503497" y="125480"/>
                      <a:pt x="501497" y="128812"/>
                    </a:cubicBezTo>
                    <a:cubicBezTo>
                      <a:pt x="499592" y="132052"/>
                      <a:pt x="496735" y="135196"/>
                      <a:pt x="492829" y="138242"/>
                    </a:cubicBezTo>
                    <a:cubicBezTo>
                      <a:pt x="488924" y="141195"/>
                      <a:pt x="484066" y="143672"/>
                      <a:pt x="478256" y="145672"/>
                    </a:cubicBezTo>
                    <a:cubicBezTo>
                      <a:pt x="472446" y="147672"/>
                      <a:pt x="465683" y="148625"/>
                      <a:pt x="458063" y="148625"/>
                    </a:cubicBezTo>
                    <a:cubicBezTo>
                      <a:pt x="440728" y="148625"/>
                      <a:pt x="427202" y="143672"/>
                      <a:pt x="417486" y="133766"/>
                    </a:cubicBezTo>
                    <a:cubicBezTo>
                      <a:pt x="407866" y="123859"/>
                      <a:pt x="403009" y="110334"/>
                      <a:pt x="403009" y="93380"/>
                    </a:cubicBezTo>
                    <a:cubicBezTo>
                      <a:pt x="403009" y="85380"/>
                      <a:pt x="404247" y="77950"/>
                      <a:pt x="406629" y="71186"/>
                    </a:cubicBezTo>
                    <a:cubicBezTo>
                      <a:pt x="409010" y="64233"/>
                      <a:pt x="412439" y="58424"/>
                      <a:pt x="417011" y="53470"/>
                    </a:cubicBezTo>
                    <a:cubicBezTo>
                      <a:pt x="421582" y="48613"/>
                      <a:pt x="427202" y="44899"/>
                      <a:pt x="433870" y="42232"/>
                    </a:cubicBezTo>
                    <a:cubicBezTo>
                      <a:pt x="440537" y="39660"/>
                      <a:pt x="447967" y="38325"/>
                      <a:pt x="456063" y="38325"/>
                    </a:cubicBezTo>
                    <a:cubicBezTo>
                      <a:pt x="466635" y="38325"/>
                      <a:pt x="475779" y="40515"/>
                      <a:pt x="483304" y="45087"/>
                    </a:cubicBezTo>
                    <a:cubicBezTo>
                      <a:pt x="490925" y="49471"/>
                      <a:pt x="496544" y="55280"/>
                      <a:pt x="500354" y="62328"/>
                    </a:cubicBezTo>
                    <a:cubicBezTo>
                      <a:pt x="504165" y="69377"/>
                      <a:pt x="505974" y="76616"/>
                      <a:pt x="505974" y="83950"/>
                    </a:cubicBezTo>
                    <a:cubicBezTo>
                      <a:pt x="505974" y="90808"/>
                      <a:pt x="504069" y="95189"/>
                      <a:pt x="500164" y="97286"/>
                    </a:cubicBezTo>
                    <a:cubicBezTo>
                      <a:pt x="496258" y="99191"/>
                      <a:pt x="490734" y="100237"/>
                      <a:pt x="483686" y="100237"/>
                    </a:cubicBezTo>
                    <a:close/>
                    <a:moveTo>
                      <a:pt x="430726" y="84808"/>
                    </a:moveTo>
                    <a:lnTo>
                      <a:pt x="479780" y="84808"/>
                    </a:lnTo>
                    <a:cubicBezTo>
                      <a:pt x="479114" y="75569"/>
                      <a:pt x="476637" y="68711"/>
                      <a:pt x="472255" y="64137"/>
                    </a:cubicBezTo>
                    <a:cubicBezTo>
                      <a:pt x="467969" y="59470"/>
                      <a:pt x="462254" y="57184"/>
                      <a:pt x="455206" y="57184"/>
                    </a:cubicBezTo>
                    <a:cubicBezTo>
                      <a:pt x="448442" y="57184"/>
                      <a:pt x="442918" y="59470"/>
                      <a:pt x="438537" y="64233"/>
                    </a:cubicBezTo>
                    <a:cubicBezTo>
                      <a:pt x="434250" y="68804"/>
                      <a:pt x="431584" y="75760"/>
                      <a:pt x="430726" y="84808"/>
                    </a:cubicBezTo>
                    <a:close/>
                    <a:moveTo>
                      <a:pt x="530358" y="40897"/>
                    </a:moveTo>
                    <a:lnTo>
                      <a:pt x="533310" y="40897"/>
                    </a:lnTo>
                    <a:lnTo>
                      <a:pt x="533310" y="24609"/>
                    </a:lnTo>
                    <a:cubicBezTo>
                      <a:pt x="533310" y="20228"/>
                      <a:pt x="533406" y="16798"/>
                      <a:pt x="533597" y="14417"/>
                    </a:cubicBezTo>
                    <a:cubicBezTo>
                      <a:pt x="533883" y="11845"/>
                      <a:pt x="534549" y="9750"/>
                      <a:pt x="535596" y="7941"/>
                    </a:cubicBezTo>
                    <a:cubicBezTo>
                      <a:pt x="536644" y="6132"/>
                      <a:pt x="538168" y="4606"/>
                      <a:pt x="540168" y="3464"/>
                    </a:cubicBezTo>
                    <a:cubicBezTo>
                      <a:pt x="542074" y="2320"/>
                      <a:pt x="544360" y="1655"/>
                      <a:pt x="546741" y="1655"/>
                    </a:cubicBezTo>
                    <a:cubicBezTo>
                      <a:pt x="550265" y="1655"/>
                      <a:pt x="553313" y="2988"/>
                      <a:pt x="556075" y="5559"/>
                    </a:cubicBezTo>
                    <a:cubicBezTo>
                      <a:pt x="557980" y="7273"/>
                      <a:pt x="559123" y="9369"/>
                      <a:pt x="559600" y="11940"/>
                    </a:cubicBezTo>
                    <a:cubicBezTo>
                      <a:pt x="560076" y="14322"/>
                      <a:pt x="560361" y="17847"/>
                      <a:pt x="560361" y="22419"/>
                    </a:cubicBezTo>
                    <a:lnTo>
                      <a:pt x="560361" y="40897"/>
                    </a:lnTo>
                    <a:lnTo>
                      <a:pt x="570268" y="40897"/>
                    </a:lnTo>
                    <a:cubicBezTo>
                      <a:pt x="574173" y="40897"/>
                      <a:pt x="577030" y="41850"/>
                      <a:pt x="579031" y="43659"/>
                    </a:cubicBezTo>
                    <a:cubicBezTo>
                      <a:pt x="581031" y="45469"/>
                      <a:pt x="582078" y="47755"/>
                      <a:pt x="582078" y="50613"/>
                    </a:cubicBezTo>
                    <a:cubicBezTo>
                      <a:pt x="582078" y="54233"/>
                      <a:pt x="580649" y="56805"/>
                      <a:pt x="577697" y="58233"/>
                    </a:cubicBezTo>
                    <a:cubicBezTo>
                      <a:pt x="574935" y="59661"/>
                      <a:pt x="570744" y="60424"/>
                      <a:pt x="565410" y="60424"/>
                    </a:cubicBezTo>
                    <a:lnTo>
                      <a:pt x="560361" y="60424"/>
                    </a:lnTo>
                    <a:lnTo>
                      <a:pt x="560361" y="110239"/>
                    </a:lnTo>
                    <a:cubicBezTo>
                      <a:pt x="560361" y="114430"/>
                      <a:pt x="560456" y="117764"/>
                      <a:pt x="560743" y="120050"/>
                    </a:cubicBezTo>
                    <a:cubicBezTo>
                      <a:pt x="561124" y="122336"/>
                      <a:pt x="561885" y="124145"/>
                      <a:pt x="563124" y="125575"/>
                    </a:cubicBezTo>
                    <a:cubicBezTo>
                      <a:pt x="564457" y="127003"/>
                      <a:pt x="566553" y="127671"/>
                      <a:pt x="569506" y="127671"/>
                    </a:cubicBezTo>
                    <a:cubicBezTo>
                      <a:pt x="571124" y="127671"/>
                      <a:pt x="573221" y="127480"/>
                      <a:pt x="575982" y="126908"/>
                    </a:cubicBezTo>
                    <a:cubicBezTo>
                      <a:pt x="578650" y="126336"/>
                      <a:pt x="580745" y="126050"/>
                      <a:pt x="582269" y="126050"/>
                    </a:cubicBezTo>
                    <a:cubicBezTo>
                      <a:pt x="584460" y="126050"/>
                      <a:pt x="586460" y="126908"/>
                      <a:pt x="588175" y="128717"/>
                    </a:cubicBezTo>
                    <a:cubicBezTo>
                      <a:pt x="589985" y="130433"/>
                      <a:pt x="590842" y="132528"/>
                      <a:pt x="590842" y="135196"/>
                    </a:cubicBezTo>
                    <a:cubicBezTo>
                      <a:pt x="590842" y="139482"/>
                      <a:pt x="588461" y="142814"/>
                      <a:pt x="583698" y="145195"/>
                    </a:cubicBezTo>
                    <a:cubicBezTo>
                      <a:pt x="578936" y="147481"/>
                      <a:pt x="572078" y="148625"/>
                      <a:pt x="563124" y="148625"/>
                    </a:cubicBezTo>
                    <a:cubicBezTo>
                      <a:pt x="554646" y="148625"/>
                      <a:pt x="548265" y="147197"/>
                      <a:pt x="543883" y="144339"/>
                    </a:cubicBezTo>
                    <a:cubicBezTo>
                      <a:pt x="539502" y="141577"/>
                      <a:pt x="536644" y="137577"/>
                      <a:pt x="535310" y="132528"/>
                    </a:cubicBezTo>
                    <a:cubicBezTo>
                      <a:pt x="533978" y="127575"/>
                      <a:pt x="533310" y="120813"/>
                      <a:pt x="533310" y="112430"/>
                    </a:cubicBezTo>
                    <a:lnTo>
                      <a:pt x="533310" y="60424"/>
                    </a:lnTo>
                    <a:lnTo>
                      <a:pt x="529691" y="60424"/>
                    </a:lnTo>
                    <a:cubicBezTo>
                      <a:pt x="525785" y="60424"/>
                      <a:pt x="522833" y="59470"/>
                      <a:pt x="520738" y="57661"/>
                    </a:cubicBezTo>
                    <a:cubicBezTo>
                      <a:pt x="518737" y="55852"/>
                      <a:pt x="517689" y="53470"/>
                      <a:pt x="517689" y="50613"/>
                    </a:cubicBezTo>
                    <a:cubicBezTo>
                      <a:pt x="517689" y="47755"/>
                      <a:pt x="518737" y="45469"/>
                      <a:pt x="520929" y="43659"/>
                    </a:cubicBezTo>
                    <a:cubicBezTo>
                      <a:pt x="523024" y="41850"/>
                      <a:pt x="526167" y="40897"/>
                      <a:pt x="530263" y="408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235ECF2-0656-B9F5-67D6-92927D774ECD}"/>
                  </a:ext>
                </a:extLst>
              </p:cNvPr>
              <p:cNvSpPr/>
              <p:nvPr/>
            </p:nvSpPr>
            <p:spPr>
              <a:xfrm>
                <a:off x="8209541" y="4552685"/>
                <a:ext cx="817188" cy="205898"/>
              </a:xfrm>
              <a:custGeom>
                <a:avLst/>
                <a:gdLst>
                  <a:gd name="csX0" fmla="*/ 91732 w 583310"/>
                  <a:gd name="csY0" fmla="*/ 109762 h 146970"/>
                  <a:gd name="csX1" fmla="*/ 86302 w 583310"/>
                  <a:gd name="csY1" fmla="*/ 129003 h 146970"/>
                  <a:gd name="csX2" fmla="*/ 70110 w 583310"/>
                  <a:gd name="csY2" fmla="*/ 141100 h 146970"/>
                  <a:gd name="csX3" fmla="*/ 44201 w 583310"/>
                  <a:gd name="csY3" fmla="*/ 145195 h 146970"/>
                  <a:gd name="csX4" fmla="*/ 19245 w 583310"/>
                  <a:gd name="csY4" fmla="*/ 140719 h 146970"/>
                  <a:gd name="csX5" fmla="*/ 3815 w 583310"/>
                  <a:gd name="csY5" fmla="*/ 129668 h 146970"/>
                  <a:gd name="csX6" fmla="*/ -1137 w 583310"/>
                  <a:gd name="csY6" fmla="*/ 116143 h 146970"/>
                  <a:gd name="csX7" fmla="*/ 2006 w 583310"/>
                  <a:gd name="csY7" fmla="*/ 108523 h 146970"/>
                  <a:gd name="csX8" fmla="*/ 10102 w 583310"/>
                  <a:gd name="csY8" fmla="*/ 105286 h 146970"/>
                  <a:gd name="csX9" fmla="*/ 16675 w 583310"/>
                  <a:gd name="csY9" fmla="*/ 107381 h 146970"/>
                  <a:gd name="csX10" fmla="*/ 20960 w 583310"/>
                  <a:gd name="csY10" fmla="*/ 113285 h 146970"/>
                  <a:gd name="csX11" fmla="*/ 30962 w 583310"/>
                  <a:gd name="csY11" fmla="*/ 124050 h 146970"/>
                  <a:gd name="csX12" fmla="*/ 46773 w 583310"/>
                  <a:gd name="csY12" fmla="*/ 127668 h 146970"/>
                  <a:gd name="csX13" fmla="*/ 60108 w 583310"/>
                  <a:gd name="csY13" fmla="*/ 124050 h 146970"/>
                  <a:gd name="csX14" fmla="*/ 65347 w 583310"/>
                  <a:gd name="csY14" fmla="*/ 115762 h 146970"/>
                  <a:gd name="csX15" fmla="*/ 59917 w 583310"/>
                  <a:gd name="csY15" fmla="*/ 105286 h 146970"/>
                  <a:gd name="csX16" fmla="*/ 42106 w 583310"/>
                  <a:gd name="csY16" fmla="*/ 99093 h 146970"/>
                  <a:gd name="csX17" fmla="*/ 19341 w 583310"/>
                  <a:gd name="csY17" fmla="*/ 91854 h 146970"/>
                  <a:gd name="csX18" fmla="*/ 5339 w 583310"/>
                  <a:gd name="csY18" fmla="*/ 81664 h 146970"/>
                  <a:gd name="csX19" fmla="*/ 100 w 583310"/>
                  <a:gd name="csY19" fmla="*/ 66328 h 146970"/>
                  <a:gd name="csX20" fmla="*/ 4958 w 583310"/>
                  <a:gd name="csY20" fmla="*/ 50994 h 146970"/>
                  <a:gd name="csX21" fmla="*/ 19245 w 583310"/>
                  <a:gd name="csY21" fmla="*/ 39467 h 146970"/>
                  <a:gd name="csX22" fmla="*/ 42106 w 583310"/>
                  <a:gd name="csY22" fmla="*/ 35086 h 146970"/>
                  <a:gd name="csX23" fmla="*/ 60965 w 583310"/>
                  <a:gd name="csY23" fmla="*/ 37276 h 146970"/>
                  <a:gd name="csX24" fmla="*/ 74968 w 583310"/>
                  <a:gd name="csY24" fmla="*/ 43087 h 146970"/>
                  <a:gd name="csX25" fmla="*/ 83539 w 583310"/>
                  <a:gd name="csY25" fmla="*/ 51278 h 146970"/>
                  <a:gd name="csX26" fmla="*/ 86492 w 583310"/>
                  <a:gd name="csY26" fmla="*/ 59947 h 146970"/>
                  <a:gd name="csX27" fmla="*/ 83350 w 583310"/>
                  <a:gd name="csY27" fmla="*/ 67663 h 146970"/>
                  <a:gd name="csX28" fmla="*/ 74491 w 583310"/>
                  <a:gd name="csY28" fmla="*/ 70614 h 146970"/>
                  <a:gd name="csX29" fmla="*/ 67347 w 583310"/>
                  <a:gd name="csY29" fmla="*/ 68232 h 146970"/>
                  <a:gd name="csX30" fmla="*/ 60680 w 583310"/>
                  <a:gd name="csY30" fmla="*/ 61089 h 146970"/>
                  <a:gd name="csX31" fmla="*/ 53441 w 583310"/>
                  <a:gd name="csY31" fmla="*/ 54708 h 146970"/>
                  <a:gd name="csX32" fmla="*/ 42106 w 583310"/>
                  <a:gd name="csY32" fmla="*/ 52326 h 146970"/>
                  <a:gd name="csX33" fmla="*/ 29913 w 583310"/>
                  <a:gd name="csY33" fmla="*/ 55470 h 146970"/>
                  <a:gd name="csX34" fmla="*/ 25057 w 583310"/>
                  <a:gd name="csY34" fmla="*/ 63279 h 146970"/>
                  <a:gd name="csX35" fmla="*/ 28675 w 583310"/>
                  <a:gd name="csY35" fmla="*/ 70328 h 146970"/>
                  <a:gd name="csX36" fmla="*/ 38295 w 583310"/>
                  <a:gd name="csY36" fmla="*/ 74806 h 146970"/>
                  <a:gd name="csX37" fmla="*/ 54964 w 583310"/>
                  <a:gd name="csY37" fmla="*/ 79092 h 146970"/>
                  <a:gd name="csX38" fmla="*/ 75443 w 583310"/>
                  <a:gd name="csY38" fmla="*/ 86427 h 146970"/>
                  <a:gd name="csX39" fmla="*/ 87540 w 583310"/>
                  <a:gd name="csY39" fmla="*/ 96617 h 146970"/>
                  <a:gd name="csX40" fmla="*/ 91732 w 583310"/>
                  <a:gd name="csY40" fmla="*/ 109762 h 146970"/>
                  <a:gd name="csX41" fmla="*/ 116115 w 583310"/>
                  <a:gd name="csY41" fmla="*/ 37467 h 146970"/>
                  <a:gd name="csX42" fmla="*/ 119162 w 583310"/>
                  <a:gd name="csY42" fmla="*/ 37467 h 146970"/>
                  <a:gd name="csX43" fmla="*/ 119162 w 583310"/>
                  <a:gd name="csY43" fmla="*/ 21179 h 146970"/>
                  <a:gd name="csX44" fmla="*/ 119449 w 583310"/>
                  <a:gd name="csY44" fmla="*/ 10987 h 146970"/>
                  <a:gd name="csX45" fmla="*/ 121450 w 583310"/>
                  <a:gd name="csY45" fmla="*/ 4511 h 146970"/>
                  <a:gd name="csX46" fmla="*/ 125926 w 583310"/>
                  <a:gd name="csY46" fmla="*/ 34 h 146970"/>
                  <a:gd name="csX47" fmla="*/ 132593 w 583310"/>
                  <a:gd name="csY47" fmla="*/ -1775 h 146970"/>
                  <a:gd name="csX48" fmla="*/ 141927 w 583310"/>
                  <a:gd name="csY48" fmla="*/ 2129 h 146970"/>
                  <a:gd name="csX49" fmla="*/ 145452 w 583310"/>
                  <a:gd name="csY49" fmla="*/ 8510 h 146970"/>
                  <a:gd name="csX50" fmla="*/ 146214 w 583310"/>
                  <a:gd name="csY50" fmla="*/ 18989 h 146970"/>
                  <a:gd name="csX51" fmla="*/ 146214 w 583310"/>
                  <a:gd name="csY51" fmla="*/ 37467 h 146970"/>
                  <a:gd name="csX52" fmla="*/ 156120 w 583310"/>
                  <a:gd name="csY52" fmla="*/ 37467 h 146970"/>
                  <a:gd name="csX53" fmla="*/ 164883 w 583310"/>
                  <a:gd name="csY53" fmla="*/ 40229 h 146970"/>
                  <a:gd name="csX54" fmla="*/ 167932 w 583310"/>
                  <a:gd name="csY54" fmla="*/ 47183 h 146970"/>
                  <a:gd name="csX55" fmla="*/ 163549 w 583310"/>
                  <a:gd name="csY55" fmla="*/ 54803 h 146970"/>
                  <a:gd name="csX56" fmla="*/ 151263 w 583310"/>
                  <a:gd name="csY56" fmla="*/ 56994 h 146970"/>
                  <a:gd name="csX57" fmla="*/ 146214 w 583310"/>
                  <a:gd name="csY57" fmla="*/ 56994 h 146970"/>
                  <a:gd name="csX58" fmla="*/ 146214 w 583310"/>
                  <a:gd name="csY58" fmla="*/ 106809 h 146970"/>
                  <a:gd name="csX59" fmla="*/ 146595 w 583310"/>
                  <a:gd name="csY59" fmla="*/ 116620 h 146970"/>
                  <a:gd name="csX60" fmla="*/ 148976 w 583310"/>
                  <a:gd name="csY60" fmla="*/ 122145 h 146970"/>
                  <a:gd name="csX61" fmla="*/ 155358 w 583310"/>
                  <a:gd name="csY61" fmla="*/ 124241 h 146970"/>
                  <a:gd name="csX62" fmla="*/ 161740 w 583310"/>
                  <a:gd name="csY62" fmla="*/ 123478 h 146970"/>
                  <a:gd name="csX63" fmla="*/ 168121 w 583310"/>
                  <a:gd name="csY63" fmla="*/ 122620 h 146970"/>
                  <a:gd name="csX64" fmla="*/ 174027 w 583310"/>
                  <a:gd name="csY64" fmla="*/ 125287 h 146970"/>
                  <a:gd name="csX65" fmla="*/ 176694 w 583310"/>
                  <a:gd name="csY65" fmla="*/ 131766 h 146970"/>
                  <a:gd name="csX66" fmla="*/ 169550 w 583310"/>
                  <a:gd name="csY66" fmla="*/ 141765 h 146970"/>
                  <a:gd name="csX67" fmla="*/ 148976 w 583310"/>
                  <a:gd name="csY67" fmla="*/ 145195 h 146970"/>
                  <a:gd name="csX68" fmla="*/ 129736 w 583310"/>
                  <a:gd name="csY68" fmla="*/ 140909 h 146970"/>
                  <a:gd name="csX69" fmla="*/ 121068 w 583310"/>
                  <a:gd name="csY69" fmla="*/ 129098 h 146970"/>
                  <a:gd name="csX70" fmla="*/ 119162 w 583310"/>
                  <a:gd name="csY70" fmla="*/ 109000 h 146970"/>
                  <a:gd name="csX71" fmla="*/ 119162 w 583310"/>
                  <a:gd name="csY71" fmla="*/ 56994 h 146970"/>
                  <a:gd name="csX72" fmla="*/ 115544 w 583310"/>
                  <a:gd name="csY72" fmla="*/ 56994 h 146970"/>
                  <a:gd name="csX73" fmla="*/ 106590 w 583310"/>
                  <a:gd name="csY73" fmla="*/ 54231 h 146970"/>
                  <a:gd name="csX74" fmla="*/ 103543 w 583310"/>
                  <a:gd name="csY74" fmla="*/ 47183 h 146970"/>
                  <a:gd name="csX75" fmla="*/ 106685 w 583310"/>
                  <a:gd name="csY75" fmla="*/ 40229 h 146970"/>
                  <a:gd name="csX76" fmla="*/ 116115 w 583310"/>
                  <a:gd name="csY76" fmla="*/ 37467 h 146970"/>
                  <a:gd name="csX77" fmla="*/ 255084 w 583310"/>
                  <a:gd name="csY77" fmla="*/ 129954 h 146970"/>
                  <a:gd name="csX78" fmla="*/ 236034 w 583310"/>
                  <a:gd name="csY78" fmla="*/ 141481 h 146970"/>
                  <a:gd name="csX79" fmla="*/ 215461 w 583310"/>
                  <a:gd name="csY79" fmla="*/ 145195 h 146970"/>
                  <a:gd name="csX80" fmla="*/ 197077 w 583310"/>
                  <a:gd name="csY80" fmla="*/ 141100 h 146970"/>
                  <a:gd name="csX81" fmla="*/ 184981 w 583310"/>
                  <a:gd name="csY81" fmla="*/ 129954 h 146970"/>
                  <a:gd name="csX82" fmla="*/ 180695 w 583310"/>
                  <a:gd name="csY82" fmla="*/ 114620 h 146970"/>
                  <a:gd name="csX83" fmla="*/ 187743 w 583310"/>
                  <a:gd name="csY83" fmla="*/ 95666 h 146970"/>
                  <a:gd name="csX84" fmla="*/ 207175 w 583310"/>
                  <a:gd name="csY84" fmla="*/ 85187 h 146970"/>
                  <a:gd name="csX85" fmla="*/ 219938 w 583310"/>
                  <a:gd name="csY85" fmla="*/ 82520 h 146970"/>
                  <a:gd name="csX86" fmla="*/ 237368 w 583310"/>
                  <a:gd name="csY86" fmla="*/ 78711 h 146970"/>
                  <a:gd name="csX87" fmla="*/ 253275 w 583310"/>
                  <a:gd name="csY87" fmla="*/ 74425 h 146970"/>
                  <a:gd name="csX88" fmla="*/ 248894 w 583310"/>
                  <a:gd name="csY88" fmla="*/ 58803 h 146970"/>
                  <a:gd name="csX89" fmla="*/ 233082 w 583310"/>
                  <a:gd name="csY89" fmla="*/ 53754 h 146970"/>
                  <a:gd name="csX90" fmla="*/ 217556 w 583310"/>
                  <a:gd name="csY90" fmla="*/ 56612 h 146970"/>
                  <a:gd name="csX91" fmla="*/ 208602 w 583310"/>
                  <a:gd name="csY91" fmla="*/ 65281 h 146970"/>
                  <a:gd name="csX92" fmla="*/ 203364 w 583310"/>
                  <a:gd name="csY92" fmla="*/ 72900 h 146970"/>
                  <a:gd name="csX93" fmla="*/ 196791 w 583310"/>
                  <a:gd name="csY93" fmla="*/ 74711 h 146970"/>
                  <a:gd name="csX94" fmla="*/ 188886 w 583310"/>
                  <a:gd name="csY94" fmla="*/ 71758 h 146970"/>
                  <a:gd name="csX95" fmla="*/ 185553 w 583310"/>
                  <a:gd name="csY95" fmla="*/ 64233 h 146970"/>
                  <a:gd name="csX96" fmla="*/ 190695 w 583310"/>
                  <a:gd name="csY96" fmla="*/ 50327 h 146970"/>
                  <a:gd name="csX97" fmla="*/ 206412 w 583310"/>
                  <a:gd name="csY97" fmla="*/ 39276 h 146970"/>
                  <a:gd name="csX98" fmla="*/ 233082 w 583310"/>
                  <a:gd name="csY98" fmla="*/ 34895 h 146970"/>
                  <a:gd name="csX99" fmla="*/ 261181 w 583310"/>
                  <a:gd name="csY99" fmla="*/ 39181 h 146970"/>
                  <a:gd name="csX100" fmla="*/ 275563 w 583310"/>
                  <a:gd name="csY100" fmla="*/ 52422 h 146970"/>
                  <a:gd name="csX101" fmla="*/ 279850 w 583310"/>
                  <a:gd name="csY101" fmla="*/ 76616 h 146970"/>
                  <a:gd name="csX102" fmla="*/ 279755 w 583310"/>
                  <a:gd name="csY102" fmla="*/ 92808 h 146970"/>
                  <a:gd name="csX103" fmla="*/ 279660 w 583310"/>
                  <a:gd name="csY103" fmla="*/ 107572 h 146970"/>
                  <a:gd name="csX104" fmla="*/ 282136 w 583310"/>
                  <a:gd name="csY104" fmla="*/ 123573 h 146970"/>
                  <a:gd name="csX105" fmla="*/ 284707 w 583310"/>
                  <a:gd name="csY105" fmla="*/ 134242 h 146970"/>
                  <a:gd name="csX106" fmla="*/ 280803 w 583310"/>
                  <a:gd name="csY106" fmla="*/ 141860 h 146970"/>
                  <a:gd name="csX107" fmla="*/ 271944 w 583310"/>
                  <a:gd name="csY107" fmla="*/ 145195 h 146970"/>
                  <a:gd name="csX108" fmla="*/ 263657 w 583310"/>
                  <a:gd name="csY108" fmla="*/ 141386 h 146970"/>
                  <a:gd name="csX109" fmla="*/ 255084 w 583310"/>
                  <a:gd name="csY109" fmla="*/ 129954 h 146970"/>
                  <a:gd name="csX110" fmla="*/ 253275 w 583310"/>
                  <a:gd name="csY110" fmla="*/ 90712 h 146970"/>
                  <a:gd name="csX111" fmla="*/ 235939 w 583310"/>
                  <a:gd name="csY111" fmla="*/ 95380 h 146970"/>
                  <a:gd name="csX112" fmla="*/ 220224 w 583310"/>
                  <a:gd name="csY112" fmla="*/ 98998 h 146970"/>
                  <a:gd name="csX113" fmla="*/ 211937 w 583310"/>
                  <a:gd name="csY113" fmla="*/ 103474 h 146970"/>
                  <a:gd name="csX114" fmla="*/ 207936 w 583310"/>
                  <a:gd name="csY114" fmla="*/ 112620 h 146970"/>
                  <a:gd name="csX115" fmla="*/ 212603 w 583310"/>
                  <a:gd name="csY115" fmla="*/ 123192 h 146970"/>
                  <a:gd name="csX116" fmla="*/ 224796 w 583310"/>
                  <a:gd name="csY116" fmla="*/ 127478 h 146970"/>
                  <a:gd name="csX117" fmla="*/ 239559 w 583310"/>
                  <a:gd name="csY117" fmla="*/ 123955 h 146970"/>
                  <a:gd name="csX118" fmla="*/ 249560 w 583310"/>
                  <a:gd name="csY118" fmla="*/ 114811 h 146970"/>
                  <a:gd name="csX119" fmla="*/ 253275 w 583310"/>
                  <a:gd name="csY119" fmla="*/ 94617 h 146970"/>
                  <a:gd name="csX120" fmla="*/ 303757 w 583310"/>
                  <a:gd name="csY120" fmla="*/ 37467 h 146970"/>
                  <a:gd name="csX121" fmla="*/ 306710 w 583310"/>
                  <a:gd name="csY121" fmla="*/ 37467 h 146970"/>
                  <a:gd name="csX122" fmla="*/ 306710 w 583310"/>
                  <a:gd name="csY122" fmla="*/ 21179 h 146970"/>
                  <a:gd name="csX123" fmla="*/ 306996 w 583310"/>
                  <a:gd name="csY123" fmla="*/ 10987 h 146970"/>
                  <a:gd name="csX124" fmla="*/ 308996 w 583310"/>
                  <a:gd name="csY124" fmla="*/ 4511 h 146970"/>
                  <a:gd name="csX125" fmla="*/ 313568 w 583310"/>
                  <a:gd name="csY125" fmla="*/ 34 h 146970"/>
                  <a:gd name="csX126" fmla="*/ 320236 w 583310"/>
                  <a:gd name="csY126" fmla="*/ -1775 h 146970"/>
                  <a:gd name="csX127" fmla="*/ 329571 w 583310"/>
                  <a:gd name="csY127" fmla="*/ 2129 h 146970"/>
                  <a:gd name="csX128" fmla="*/ 332999 w 583310"/>
                  <a:gd name="csY128" fmla="*/ 8510 h 146970"/>
                  <a:gd name="csX129" fmla="*/ 333856 w 583310"/>
                  <a:gd name="csY129" fmla="*/ 18989 h 146970"/>
                  <a:gd name="csX130" fmla="*/ 333856 w 583310"/>
                  <a:gd name="csY130" fmla="*/ 37467 h 146970"/>
                  <a:gd name="csX131" fmla="*/ 343763 w 583310"/>
                  <a:gd name="csY131" fmla="*/ 37467 h 146970"/>
                  <a:gd name="csX132" fmla="*/ 352525 w 583310"/>
                  <a:gd name="csY132" fmla="*/ 40229 h 146970"/>
                  <a:gd name="csX133" fmla="*/ 355574 w 583310"/>
                  <a:gd name="csY133" fmla="*/ 47183 h 146970"/>
                  <a:gd name="csX134" fmla="*/ 351193 w 583310"/>
                  <a:gd name="csY134" fmla="*/ 54803 h 146970"/>
                  <a:gd name="csX135" fmla="*/ 338905 w 583310"/>
                  <a:gd name="csY135" fmla="*/ 56994 h 146970"/>
                  <a:gd name="csX136" fmla="*/ 333856 w 583310"/>
                  <a:gd name="csY136" fmla="*/ 56994 h 146970"/>
                  <a:gd name="csX137" fmla="*/ 333856 w 583310"/>
                  <a:gd name="csY137" fmla="*/ 106809 h 146970"/>
                  <a:gd name="csX138" fmla="*/ 334238 w 583310"/>
                  <a:gd name="csY138" fmla="*/ 116620 h 146970"/>
                  <a:gd name="csX139" fmla="*/ 336619 w 583310"/>
                  <a:gd name="csY139" fmla="*/ 122145 h 146970"/>
                  <a:gd name="csX140" fmla="*/ 343000 w 583310"/>
                  <a:gd name="csY140" fmla="*/ 124241 h 146970"/>
                  <a:gd name="csX141" fmla="*/ 349382 w 583310"/>
                  <a:gd name="csY141" fmla="*/ 123478 h 146970"/>
                  <a:gd name="csX142" fmla="*/ 355764 w 583310"/>
                  <a:gd name="csY142" fmla="*/ 122620 h 146970"/>
                  <a:gd name="csX143" fmla="*/ 361574 w 583310"/>
                  <a:gd name="csY143" fmla="*/ 125287 h 146970"/>
                  <a:gd name="csX144" fmla="*/ 364337 w 583310"/>
                  <a:gd name="csY144" fmla="*/ 131766 h 146970"/>
                  <a:gd name="csX145" fmla="*/ 357193 w 583310"/>
                  <a:gd name="csY145" fmla="*/ 141765 h 146970"/>
                  <a:gd name="csX146" fmla="*/ 336619 w 583310"/>
                  <a:gd name="csY146" fmla="*/ 145195 h 146970"/>
                  <a:gd name="csX147" fmla="*/ 317378 w 583310"/>
                  <a:gd name="csY147" fmla="*/ 140909 h 146970"/>
                  <a:gd name="csX148" fmla="*/ 308710 w 583310"/>
                  <a:gd name="csY148" fmla="*/ 129098 h 146970"/>
                  <a:gd name="csX149" fmla="*/ 306710 w 583310"/>
                  <a:gd name="csY149" fmla="*/ 109000 h 146970"/>
                  <a:gd name="csX150" fmla="*/ 306710 w 583310"/>
                  <a:gd name="csY150" fmla="*/ 56994 h 146970"/>
                  <a:gd name="csX151" fmla="*/ 303186 w 583310"/>
                  <a:gd name="csY151" fmla="*/ 56994 h 146970"/>
                  <a:gd name="csX152" fmla="*/ 294232 w 583310"/>
                  <a:gd name="csY152" fmla="*/ 54231 h 146970"/>
                  <a:gd name="csX153" fmla="*/ 291185 w 583310"/>
                  <a:gd name="csY153" fmla="*/ 47183 h 146970"/>
                  <a:gd name="csX154" fmla="*/ 294327 w 583310"/>
                  <a:gd name="csY154" fmla="*/ 40229 h 146970"/>
                  <a:gd name="csX155" fmla="*/ 303757 w 583310"/>
                  <a:gd name="csY155" fmla="*/ 37467 h 146970"/>
                  <a:gd name="csX156" fmla="*/ 449776 w 583310"/>
                  <a:gd name="csY156" fmla="*/ 96807 h 146970"/>
                  <a:gd name="csX157" fmla="*/ 396816 w 583310"/>
                  <a:gd name="csY157" fmla="*/ 96807 h 146970"/>
                  <a:gd name="csX158" fmla="*/ 400531 w 583310"/>
                  <a:gd name="csY158" fmla="*/ 113095 h 146970"/>
                  <a:gd name="csX159" fmla="*/ 410152 w 583310"/>
                  <a:gd name="csY159" fmla="*/ 123669 h 146970"/>
                  <a:gd name="csX160" fmla="*/ 423392 w 583310"/>
                  <a:gd name="csY160" fmla="*/ 127287 h 146970"/>
                  <a:gd name="csX161" fmla="*/ 432250 w 583310"/>
                  <a:gd name="csY161" fmla="*/ 126145 h 146970"/>
                  <a:gd name="csX162" fmla="*/ 440060 w 583310"/>
                  <a:gd name="csY162" fmla="*/ 122620 h 146970"/>
                  <a:gd name="csX163" fmla="*/ 447013 w 583310"/>
                  <a:gd name="csY163" fmla="*/ 117288 h 146970"/>
                  <a:gd name="csX164" fmla="*/ 455300 w 583310"/>
                  <a:gd name="csY164" fmla="*/ 109762 h 146970"/>
                  <a:gd name="csX165" fmla="*/ 461206 w 583310"/>
                  <a:gd name="csY165" fmla="*/ 108049 h 146970"/>
                  <a:gd name="csX166" fmla="*/ 467969 w 583310"/>
                  <a:gd name="csY166" fmla="*/ 110239 h 146970"/>
                  <a:gd name="csX167" fmla="*/ 470540 w 583310"/>
                  <a:gd name="csY167" fmla="*/ 116715 h 146970"/>
                  <a:gd name="csX168" fmla="*/ 467683 w 583310"/>
                  <a:gd name="csY168" fmla="*/ 125382 h 146970"/>
                  <a:gd name="csX169" fmla="*/ 458920 w 583310"/>
                  <a:gd name="csY169" fmla="*/ 134812 h 146970"/>
                  <a:gd name="csX170" fmla="*/ 444346 w 583310"/>
                  <a:gd name="csY170" fmla="*/ 142242 h 146970"/>
                  <a:gd name="csX171" fmla="*/ 424249 w 583310"/>
                  <a:gd name="csY171" fmla="*/ 145195 h 146970"/>
                  <a:gd name="csX172" fmla="*/ 383672 w 583310"/>
                  <a:gd name="csY172" fmla="*/ 130336 h 146970"/>
                  <a:gd name="csX173" fmla="*/ 369194 w 583310"/>
                  <a:gd name="csY173" fmla="*/ 89950 h 146970"/>
                  <a:gd name="csX174" fmla="*/ 372719 w 583310"/>
                  <a:gd name="csY174" fmla="*/ 67756 h 146970"/>
                  <a:gd name="csX175" fmla="*/ 383101 w 583310"/>
                  <a:gd name="csY175" fmla="*/ 50040 h 146970"/>
                  <a:gd name="csX176" fmla="*/ 400056 w 583310"/>
                  <a:gd name="csY176" fmla="*/ 38802 h 146970"/>
                  <a:gd name="csX177" fmla="*/ 422249 w 583310"/>
                  <a:gd name="csY177" fmla="*/ 34895 h 146970"/>
                  <a:gd name="csX178" fmla="*/ 449395 w 583310"/>
                  <a:gd name="csY178" fmla="*/ 41657 h 146970"/>
                  <a:gd name="csX179" fmla="*/ 466445 w 583310"/>
                  <a:gd name="csY179" fmla="*/ 58898 h 146970"/>
                  <a:gd name="csX180" fmla="*/ 472160 w 583310"/>
                  <a:gd name="csY180" fmla="*/ 80520 h 146970"/>
                  <a:gd name="csX181" fmla="*/ 466254 w 583310"/>
                  <a:gd name="csY181" fmla="*/ 93856 h 146970"/>
                  <a:gd name="csX182" fmla="*/ 449776 w 583310"/>
                  <a:gd name="csY182" fmla="*/ 96807 h 146970"/>
                  <a:gd name="csX183" fmla="*/ 396816 w 583310"/>
                  <a:gd name="csY183" fmla="*/ 81378 h 146970"/>
                  <a:gd name="csX184" fmla="*/ 445966 w 583310"/>
                  <a:gd name="csY184" fmla="*/ 81378 h 146970"/>
                  <a:gd name="csX185" fmla="*/ 438441 w 583310"/>
                  <a:gd name="csY185" fmla="*/ 60707 h 146970"/>
                  <a:gd name="csX186" fmla="*/ 421296 w 583310"/>
                  <a:gd name="csY186" fmla="*/ 53754 h 146970"/>
                  <a:gd name="csX187" fmla="*/ 404628 w 583310"/>
                  <a:gd name="csY187" fmla="*/ 60803 h 146970"/>
                  <a:gd name="csX188" fmla="*/ 396816 w 583310"/>
                  <a:gd name="csY188" fmla="*/ 81378 h 146970"/>
                  <a:gd name="csX189" fmla="*/ 582174 w 583310"/>
                  <a:gd name="csY189" fmla="*/ 109762 h 146970"/>
                  <a:gd name="csX190" fmla="*/ 576744 w 583310"/>
                  <a:gd name="csY190" fmla="*/ 129003 h 146970"/>
                  <a:gd name="csX191" fmla="*/ 560552 w 583310"/>
                  <a:gd name="csY191" fmla="*/ 141100 h 146970"/>
                  <a:gd name="csX192" fmla="*/ 534644 w 583310"/>
                  <a:gd name="csY192" fmla="*/ 145195 h 146970"/>
                  <a:gd name="csX193" fmla="*/ 509687 w 583310"/>
                  <a:gd name="csY193" fmla="*/ 140719 h 146970"/>
                  <a:gd name="csX194" fmla="*/ 494257 w 583310"/>
                  <a:gd name="csY194" fmla="*/ 129668 h 146970"/>
                  <a:gd name="csX195" fmla="*/ 489305 w 583310"/>
                  <a:gd name="csY195" fmla="*/ 116143 h 146970"/>
                  <a:gd name="csX196" fmla="*/ 492448 w 583310"/>
                  <a:gd name="csY196" fmla="*/ 108523 h 146970"/>
                  <a:gd name="csX197" fmla="*/ 500544 w 583310"/>
                  <a:gd name="csY197" fmla="*/ 105286 h 146970"/>
                  <a:gd name="csX198" fmla="*/ 507021 w 583310"/>
                  <a:gd name="csY198" fmla="*/ 107381 h 146970"/>
                  <a:gd name="csX199" fmla="*/ 511403 w 583310"/>
                  <a:gd name="csY199" fmla="*/ 113285 h 146970"/>
                  <a:gd name="csX200" fmla="*/ 521309 w 583310"/>
                  <a:gd name="csY200" fmla="*/ 124050 h 146970"/>
                  <a:gd name="csX201" fmla="*/ 537215 w 583310"/>
                  <a:gd name="csY201" fmla="*/ 127668 h 146970"/>
                  <a:gd name="csX202" fmla="*/ 550550 w 583310"/>
                  <a:gd name="csY202" fmla="*/ 124050 h 146970"/>
                  <a:gd name="csX203" fmla="*/ 555789 w 583310"/>
                  <a:gd name="csY203" fmla="*/ 115762 h 146970"/>
                  <a:gd name="csX204" fmla="*/ 550359 w 583310"/>
                  <a:gd name="csY204" fmla="*/ 105286 h 146970"/>
                  <a:gd name="csX205" fmla="*/ 532548 w 583310"/>
                  <a:gd name="csY205" fmla="*/ 99093 h 146970"/>
                  <a:gd name="csX206" fmla="*/ 509783 w 583310"/>
                  <a:gd name="csY206" fmla="*/ 91854 h 146970"/>
                  <a:gd name="csX207" fmla="*/ 495781 w 583310"/>
                  <a:gd name="csY207" fmla="*/ 81664 h 146970"/>
                  <a:gd name="csX208" fmla="*/ 490543 w 583310"/>
                  <a:gd name="csY208" fmla="*/ 66328 h 146970"/>
                  <a:gd name="csX209" fmla="*/ 495400 w 583310"/>
                  <a:gd name="csY209" fmla="*/ 50994 h 146970"/>
                  <a:gd name="csX210" fmla="*/ 509687 w 583310"/>
                  <a:gd name="csY210" fmla="*/ 39467 h 146970"/>
                  <a:gd name="csX211" fmla="*/ 532548 w 583310"/>
                  <a:gd name="csY211" fmla="*/ 35086 h 146970"/>
                  <a:gd name="csX212" fmla="*/ 551407 w 583310"/>
                  <a:gd name="csY212" fmla="*/ 37276 h 146970"/>
                  <a:gd name="csX213" fmla="*/ 565410 w 583310"/>
                  <a:gd name="csY213" fmla="*/ 43087 h 146970"/>
                  <a:gd name="csX214" fmla="*/ 573981 w 583310"/>
                  <a:gd name="csY214" fmla="*/ 51278 h 146970"/>
                  <a:gd name="csX215" fmla="*/ 576935 w 583310"/>
                  <a:gd name="csY215" fmla="*/ 59947 h 146970"/>
                  <a:gd name="csX216" fmla="*/ 573696 w 583310"/>
                  <a:gd name="csY216" fmla="*/ 67663 h 146970"/>
                  <a:gd name="csX217" fmla="*/ 564933 w 583310"/>
                  <a:gd name="csY217" fmla="*/ 70614 h 146970"/>
                  <a:gd name="csX218" fmla="*/ 557789 w 583310"/>
                  <a:gd name="csY218" fmla="*/ 68232 h 146970"/>
                  <a:gd name="csX219" fmla="*/ 551122 w 583310"/>
                  <a:gd name="csY219" fmla="*/ 61089 h 146970"/>
                  <a:gd name="csX220" fmla="*/ 543883 w 583310"/>
                  <a:gd name="csY220" fmla="*/ 54708 h 146970"/>
                  <a:gd name="csX221" fmla="*/ 532548 w 583310"/>
                  <a:gd name="csY221" fmla="*/ 52326 h 146970"/>
                  <a:gd name="csX222" fmla="*/ 520357 w 583310"/>
                  <a:gd name="csY222" fmla="*/ 55470 h 146970"/>
                  <a:gd name="csX223" fmla="*/ 515499 w 583310"/>
                  <a:gd name="csY223" fmla="*/ 63279 h 146970"/>
                  <a:gd name="csX224" fmla="*/ 519118 w 583310"/>
                  <a:gd name="csY224" fmla="*/ 70328 h 146970"/>
                  <a:gd name="csX225" fmla="*/ 528738 w 583310"/>
                  <a:gd name="csY225" fmla="*/ 74806 h 146970"/>
                  <a:gd name="csX226" fmla="*/ 545406 w 583310"/>
                  <a:gd name="csY226" fmla="*/ 79092 h 146970"/>
                  <a:gd name="csX227" fmla="*/ 565885 w 583310"/>
                  <a:gd name="csY227" fmla="*/ 86427 h 146970"/>
                  <a:gd name="csX228" fmla="*/ 577982 w 583310"/>
                  <a:gd name="csY228" fmla="*/ 96617 h 146970"/>
                  <a:gd name="csX229" fmla="*/ 582174 w 583310"/>
                  <a:gd name="csY229" fmla="*/ 109762 h 1469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</a:cxnLst>
                <a:rect l="l" t="t" r="r" b="b"/>
                <a:pathLst>
                  <a:path w="583310" h="146970">
                    <a:moveTo>
                      <a:pt x="91732" y="109762"/>
                    </a:moveTo>
                    <a:cubicBezTo>
                      <a:pt x="91732" y="117288"/>
                      <a:pt x="89921" y="123669"/>
                      <a:pt x="86302" y="129003"/>
                    </a:cubicBezTo>
                    <a:cubicBezTo>
                      <a:pt x="82682" y="134338"/>
                      <a:pt x="77253" y="138337"/>
                      <a:pt x="70110" y="141100"/>
                    </a:cubicBezTo>
                    <a:cubicBezTo>
                      <a:pt x="63061" y="143863"/>
                      <a:pt x="54393" y="145195"/>
                      <a:pt x="44201" y="145195"/>
                    </a:cubicBezTo>
                    <a:cubicBezTo>
                      <a:pt x="34486" y="145195"/>
                      <a:pt x="26200" y="143767"/>
                      <a:pt x="19245" y="140719"/>
                    </a:cubicBezTo>
                    <a:cubicBezTo>
                      <a:pt x="12292" y="137765"/>
                      <a:pt x="7150" y="134052"/>
                      <a:pt x="3815" y="129668"/>
                    </a:cubicBezTo>
                    <a:cubicBezTo>
                      <a:pt x="481" y="125096"/>
                      <a:pt x="-1137" y="120620"/>
                      <a:pt x="-1137" y="116143"/>
                    </a:cubicBezTo>
                    <a:cubicBezTo>
                      <a:pt x="-1137" y="113190"/>
                      <a:pt x="-90" y="110618"/>
                      <a:pt x="2006" y="108523"/>
                    </a:cubicBezTo>
                    <a:cubicBezTo>
                      <a:pt x="4196" y="106428"/>
                      <a:pt x="6864" y="105286"/>
                      <a:pt x="10102" y="105286"/>
                    </a:cubicBezTo>
                    <a:cubicBezTo>
                      <a:pt x="12960" y="105286"/>
                      <a:pt x="15150" y="106046"/>
                      <a:pt x="16675" y="107381"/>
                    </a:cubicBezTo>
                    <a:cubicBezTo>
                      <a:pt x="18198" y="108809"/>
                      <a:pt x="19627" y="110714"/>
                      <a:pt x="20960" y="113285"/>
                    </a:cubicBezTo>
                    <a:cubicBezTo>
                      <a:pt x="23818" y="118048"/>
                      <a:pt x="27056" y="121669"/>
                      <a:pt x="30962" y="124050"/>
                    </a:cubicBezTo>
                    <a:cubicBezTo>
                      <a:pt x="34866" y="126431"/>
                      <a:pt x="40106" y="127668"/>
                      <a:pt x="46773" y="127668"/>
                    </a:cubicBezTo>
                    <a:cubicBezTo>
                      <a:pt x="52203" y="127668"/>
                      <a:pt x="56679" y="126431"/>
                      <a:pt x="60108" y="124050"/>
                    </a:cubicBezTo>
                    <a:cubicBezTo>
                      <a:pt x="63632" y="121669"/>
                      <a:pt x="65347" y="118811"/>
                      <a:pt x="65347" y="115762"/>
                    </a:cubicBezTo>
                    <a:cubicBezTo>
                      <a:pt x="65347" y="111000"/>
                      <a:pt x="63537" y="107477"/>
                      <a:pt x="59917" y="105286"/>
                    </a:cubicBezTo>
                    <a:cubicBezTo>
                      <a:pt x="56298" y="103095"/>
                      <a:pt x="50392" y="101093"/>
                      <a:pt x="42106" y="99093"/>
                    </a:cubicBezTo>
                    <a:cubicBezTo>
                      <a:pt x="32771" y="96712"/>
                      <a:pt x="25151" y="94331"/>
                      <a:pt x="19341" y="91854"/>
                    </a:cubicBezTo>
                    <a:cubicBezTo>
                      <a:pt x="13531" y="89282"/>
                      <a:pt x="8863" y="85855"/>
                      <a:pt x="5339" y="81664"/>
                    </a:cubicBezTo>
                    <a:cubicBezTo>
                      <a:pt x="1815" y="77567"/>
                      <a:pt x="100" y="72425"/>
                      <a:pt x="100" y="66328"/>
                    </a:cubicBezTo>
                    <a:cubicBezTo>
                      <a:pt x="100" y="60898"/>
                      <a:pt x="1720" y="55756"/>
                      <a:pt x="4958" y="50994"/>
                    </a:cubicBezTo>
                    <a:cubicBezTo>
                      <a:pt x="8197" y="46136"/>
                      <a:pt x="12960" y="42325"/>
                      <a:pt x="19245" y="39467"/>
                    </a:cubicBezTo>
                    <a:cubicBezTo>
                      <a:pt x="25532" y="36516"/>
                      <a:pt x="33153" y="35086"/>
                      <a:pt x="42106" y="35086"/>
                    </a:cubicBezTo>
                    <a:cubicBezTo>
                      <a:pt x="49154" y="35086"/>
                      <a:pt x="55441" y="35848"/>
                      <a:pt x="60965" y="37276"/>
                    </a:cubicBezTo>
                    <a:cubicBezTo>
                      <a:pt x="66585" y="38706"/>
                      <a:pt x="71253" y="40706"/>
                      <a:pt x="74968" y="43087"/>
                    </a:cubicBezTo>
                    <a:cubicBezTo>
                      <a:pt x="78777" y="45564"/>
                      <a:pt x="81539" y="48231"/>
                      <a:pt x="83539" y="51278"/>
                    </a:cubicBezTo>
                    <a:cubicBezTo>
                      <a:pt x="85445" y="54231"/>
                      <a:pt x="86492" y="57184"/>
                      <a:pt x="86492" y="59947"/>
                    </a:cubicBezTo>
                    <a:cubicBezTo>
                      <a:pt x="86492" y="63089"/>
                      <a:pt x="85445" y="65660"/>
                      <a:pt x="83350" y="67663"/>
                    </a:cubicBezTo>
                    <a:cubicBezTo>
                      <a:pt x="81253" y="69567"/>
                      <a:pt x="78301" y="70614"/>
                      <a:pt x="74491" y="70614"/>
                    </a:cubicBezTo>
                    <a:cubicBezTo>
                      <a:pt x="71728" y="70614"/>
                      <a:pt x="69347" y="69758"/>
                      <a:pt x="67347" y="68232"/>
                    </a:cubicBezTo>
                    <a:cubicBezTo>
                      <a:pt x="65442" y="66614"/>
                      <a:pt x="63157" y="64233"/>
                      <a:pt x="60680" y="61089"/>
                    </a:cubicBezTo>
                    <a:cubicBezTo>
                      <a:pt x="58679" y="58421"/>
                      <a:pt x="56202" y="56326"/>
                      <a:pt x="53441" y="54708"/>
                    </a:cubicBezTo>
                    <a:cubicBezTo>
                      <a:pt x="50678" y="53089"/>
                      <a:pt x="46868" y="52326"/>
                      <a:pt x="42106" y="52326"/>
                    </a:cubicBezTo>
                    <a:cubicBezTo>
                      <a:pt x="37248" y="52326"/>
                      <a:pt x="33153" y="53375"/>
                      <a:pt x="29913" y="55470"/>
                    </a:cubicBezTo>
                    <a:cubicBezTo>
                      <a:pt x="26675" y="57566"/>
                      <a:pt x="25057" y="60138"/>
                      <a:pt x="25057" y="63279"/>
                    </a:cubicBezTo>
                    <a:cubicBezTo>
                      <a:pt x="25057" y="66137"/>
                      <a:pt x="26294" y="68423"/>
                      <a:pt x="28675" y="70328"/>
                    </a:cubicBezTo>
                    <a:cubicBezTo>
                      <a:pt x="31056" y="72044"/>
                      <a:pt x="34200" y="73567"/>
                      <a:pt x="38295" y="74806"/>
                    </a:cubicBezTo>
                    <a:cubicBezTo>
                      <a:pt x="42296" y="75948"/>
                      <a:pt x="47820" y="77376"/>
                      <a:pt x="54964" y="79092"/>
                    </a:cubicBezTo>
                    <a:cubicBezTo>
                      <a:pt x="63346" y="81187"/>
                      <a:pt x="70205" y="83664"/>
                      <a:pt x="75443" y="86427"/>
                    </a:cubicBezTo>
                    <a:cubicBezTo>
                      <a:pt x="80873" y="89282"/>
                      <a:pt x="84873" y="92712"/>
                      <a:pt x="87540" y="96617"/>
                    </a:cubicBezTo>
                    <a:cubicBezTo>
                      <a:pt x="90303" y="100428"/>
                      <a:pt x="91732" y="104809"/>
                      <a:pt x="91732" y="109762"/>
                    </a:cubicBezTo>
                    <a:close/>
                    <a:moveTo>
                      <a:pt x="116115" y="37467"/>
                    </a:moveTo>
                    <a:lnTo>
                      <a:pt x="119162" y="37467"/>
                    </a:lnTo>
                    <a:lnTo>
                      <a:pt x="119162" y="21179"/>
                    </a:lnTo>
                    <a:cubicBezTo>
                      <a:pt x="119162" y="16798"/>
                      <a:pt x="119258" y="13368"/>
                      <a:pt x="119449" y="10987"/>
                    </a:cubicBezTo>
                    <a:cubicBezTo>
                      <a:pt x="119639" y="8415"/>
                      <a:pt x="120307" y="6320"/>
                      <a:pt x="121450" y="4511"/>
                    </a:cubicBezTo>
                    <a:cubicBezTo>
                      <a:pt x="122497" y="2702"/>
                      <a:pt x="124020" y="1176"/>
                      <a:pt x="125926" y="34"/>
                    </a:cubicBezTo>
                    <a:cubicBezTo>
                      <a:pt x="127926" y="-1110"/>
                      <a:pt x="130212" y="-1775"/>
                      <a:pt x="132593" y="-1775"/>
                    </a:cubicBezTo>
                    <a:cubicBezTo>
                      <a:pt x="136022" y="-1775"/>
                      <a:pt x="139166" y="-442"/>
                      <a:pt x="141927" y="2129"/>
                    </a:cubicBezTo>
                    <a:cubicBezTo>
                      <a:pt x="143833" y="3843"/>
                      <a:pt x="144976" y="5939"/>
                      <a:pt x="145452" y="8510"/>
                    </a:cubicBezTo>
                    <a:cubicBezTo>
                      <a:pt x="145928" y="10892"/>
                      <a:pt x="146214" y="14417"/>
                      <a:pt x="146214" y="18989"/>
                    </a:cubicBezTo>
                    <a:lnTo>
                      <a:pt x="146214" y="37467"/>
                    </a:lnTo>
                    <a:lnTo>
                      <a:pt x="156120" y="37467"/>
                    </a:lnTo>
                    <a:cubicBezTo>
                      <a:pt x="159930" y="37467"/>
                      <a:pt x="162883" y="38420"/>
                      <a:pt x="164883" y="40229"/>
                    </a:cubicBezTo>
                    <a:cubicBezTo>
                      <a:pt x="166883" y="42039"/>
                      <a:pt x="167932" y="44325"/>
                      <a:pt x="167932" y="47183"/>
                    </a:cubicBezTo>
                    <a:cubicBezTo>
                      <a:pt x="167932" y="50803"/>
                      <a:pt x="166503" y="53375"/>
                      <a:pt x="163549" y="54803"/>
                    </a:cubicBezTo>
                    <a:cubicBezTo>
                      <a:pt x="160693" y="56231"/>
                      <a:pt x="156596" y="56994"/>
                      <a:pt x="151263" y="56994"/>
                    </a:cubicBezTo>
                    <a:lnTo>
                      <a:pt x="146214" y="56994"/>
                    </a:lnTo>
                    <a:lnTo>
                      <a:pt x="146214" y="106809"/>
                    </a:lnTo>
                    <a:cubicBezTo>
                      <a:pt x="146214" y="111000"/>
                      <a:pt x="146310" y="114334"/>
                      <a:pt x="146595" y="116620"/>
                    </a:cubicBezTo>
                    <a:cubicBezTo>
                      <a:pt x="146976" y="118906"/>
                      <a:pt x="147737" y="120715"/>
                      <a:pt x="148976" y="122145"/>
                    </a:cubicBezTo>
                    <a:cubicBezTo>
                      <a:pt x="150309" y="123573"/>
                      <a:pt x="152406" y="124241"/>
                      <a:pt x="155358" y="124241"/>
                    </a:cubicBezTo>
                    <a:cubicBezTo>
                      <a:pt x="156882" y="124241"/>
                      <a:pt x="159073" y="124050"/>
                      <a:pt x="161740" y="123478"/>
                    </a:cubicBezTo>
                    <a:cubicBezTo>
                      <a:pt x="164502" y="122906"/>
                      <a:pt x="166598" y="122620"/>
                      <a:pt x="168121" y="122620"/>
                    </a:cubicBezTo>
                    <a:cubicBezTo>
                      <a:pt x="170313" y="122620"/>
                      <a:pt x="172313" y="123478"/>
                      <a:pt x="174027" y="125287"/>
                    </a:cubicBezTo>
                    <a:cubicBezTo>
                      <a:pt x="175742" y="127003"/>
                      <a:pt x="176694" y="129098"/>
                      <a:pt x="176694" y="131766"/>
                    </a:cubicBezTo>
                    <a:cubicBezTo>
                      <a:pt x="176694" y="136052"/>
                      <a:pt x="174313" y="139384"/>
                      <a:pt x="169550" y="141765"/>
                    </a:cubicBezTo>
                    <a:cubicBezTo>
                      <a:pt x="164788" y="144051"/>
                      <a:pt x="157930" y="145195"/>
                      <a:pt x="148976" y="145195"/>
                    </a:cubicBezTo>
                    <a:cubicBezTo>
                      <a:pt x="140500" y="145195"/>
                      <a:pt x="134117" y="143767"/>
                      <a:pt x="129736" y="140909"/>
                    </a:cubicBezTo>
                    <a:cubicBezTo>
                      <a:pt x="125354" y="138147"/>
                      <a:pt x="122497" y="134147"/>
                      <a:pt x="121068" y="129098"/>
                    </a:cubicBezTo>
                    <a:cubicBezTo>
                      <a:pt x="119830" y="124145"/>
                      <a:pt x="119162" y="117383"/>
                      <a:pt x="119162" y="109000"/>
                    </a:cubicBezTo>
                    <a:lnTo>
                      <a:pt x="119162" y="56994"/>
                    </a:lnTo>
                    <a:lnTo>
                      <a:pt x="115544" y="56994"/>
                    </a:lnTo>
                    <a:cubicBezTo>
                      <a:pt x="111639" y="56994"/>
                      <a:pt x="108685" y="56040"/>
                      <a:pt x="106590" y="54231"/>
                    </a:cubicBezTo>
                    <a:cubicBezTo>
                      <a:pt x="104590" y="52422"/>
                      <a:pt x="103543" y="50040"/>
                      <a:pt x="103543" y="47183"/>
                    </a:cubicBezTo>
                    <a:cubicBezTo>
                      <a:pt x="103543" y="44325"/>
                      <a:pt x="104590" y="42039"/>
                      <a:pt x="106685" y="40229"/>
                    </a:cubicBezTo>
                    <a:cubicBezTo>
                      <a:pt x="108876" y="38420"/>
                      <a:pt x="112019" y="37467"/>
                      <a:pt x="116115" y="37467"/>
                    </a:cubicBezTo>
                    <a:close/>
                    <a:moveTo>
                      <a:pt x="255084" y="129954"/>
                    </a:moveTo>
                    <a:cubicBezTo>
                      <a:pt x="248513" y="135003"/>
                      <a:pt x="242131" y="138814"/>
                      <a:pt x="236034" y="141481"/>
                    </a:cubicBezTo>
                    <a:cubicBezTo>
                      <a:pt x="229938" y="143956"/>
                      <a:pt x="223081" y="145195"/>
                      <a:pt x="215461" y="145195"/>
                    </a:cubicBezTo>
                    <a:cubicBezTo>
                      <a:pt x="208507" y="145195"/>
                      <a:pt x="202412" y="143863"/>
                      <a:pt x="197077" y="141100"/>
                    </a:cubicBezTo>
                    <a:cubicBezTo>
                      <a:pt x="191838" y="138337"/>
                      <a:pt x="187839" y="134621"/>
                      <a:pt x="184981" y="129954"/>
                    </a:cubicBezTo>
                    <a:cubicBezTo>
                      <a:pt x="182124" y="125192"/>
                      <a:pt x="180695" y="120143"/>
                      <a:pt x="180695" y="114620"/>
                    </a:cubicBezTo>
                    <a:cubicBezTo>
                      <a:pt x="180695" y="107286"/>
                      <a:pt x="183076" y="100905"/>
                      <a:pt x="187743" y="95666"/>
                    </a:cubicBezTo>
                    <a:cubicBezTo>
                      <a:pt x="192506" y="90522"/>
                      <a:pt x="198888" y="86996"/>
                      <a:pt x="207175" y="85187"/>
                    </a:cubicBezTo>
                    <a:cubicBezTo>
                      <a:pt x="208888" y="84806"/>
                      <a:pt x="213080" y="83855"/>
                      <a:pt x="219938" y="82520"/>
                    </a:cubicBezTo>
                    <a:cubicBezTo>
                      <a:pt x="226700" y="81092"/>
                      <a:pt x="232606" y="79853"/>
                      <a:pt x="237368" y="78711"/>
                    </a:cubicBezTo>
                    <a:cubicBezTo>
                      <a:pt x="242321" y="77567"/>
                      <a:pt x="247560" y="76139"/>
                      <a:pt x="253275" y="74425"/>
                    </a:cubicBezTo>
                    <a:cubicBezTo>
                      <a:pt x="252894" y="67281"/>
                      <a:pt x="251465" y="62137"/>
                      <a:pt x="248894" y="58803"/>
                    </a:cubicBezTo>
                    <a:cubicBezTo>
                      <a:pt x="246418" y="55375"/>
                      <a:pt x="241083" y="53754"/>
                      <a:pt x="233082" y="53754"/>
                    </a:cubicBezTo>
                    <a:cubicBezTo>
                      <a:pt x="226225" y="53754"/>
                      <a:pt x="221081" y="54708"/>
                      <a:pt x="217556" y="56612"/>
                    </a:cubicBezTo>
                    <a:cubicBezTo>
                      <a:pt x="214128" y="58517"/>
                      <a:pt x="211174" y="61375"/>
                      <a:pt x="208602" y="65281"/>
                    </a:cubicBezTo>
                    <a:cubicBezTo>
                      <a:pt x="206126" y="69090"/>
                      <a:pt x="204412" y="71662"/>
                      <a:pt x="203364" y="72900"/>
                    </a:cubicBezTo>
                    <a:cubicBezTo>
                      <a:pt x="202412" y="74044"/>
                      <a:pt x="200220" y="74711"/>
                      <a:pt x="196791" y="74711"/>
                    </a:cubicBezTo>
                    <a:cubicBezTo>
                      <a:pt x="193744" y="74711"/>
                      <a:pt x="191077" y="73662"/>
                      <a:pt x="188886" y="71758"/>
                    </a:cubicBezTo>
                    <a:cubicBezTo>
                      <a:pt x="186696" y="69758"/>
                      <a:pt x="185553" y="67281"/>
                      <a:pt x="185553" y="64233"/>
                    </a:cubicBezTo>
                    <a:cubicBezTo>
                      <a:pt x="185553" y="59470"/>
                      <a:pt x="187266" y="54898"/>
                      <a:pt x="190695" y="50327"/>
                    </a:cubicBezTo>
                    <a:cubicBezTo>
                      <a:pt x="194030" y="45850"/>
                      <a:pt x="199268" y="42134"/>
                      <a:pt x="206412" y="39276"/>
                    </a:cubicBezTo>
                    <a:cubicBezTo>
                      <a:pt x="213556" y="36325"/>
                      <a:pt x="222510" y="34895"/>
                      <a:pt x="233082" y="34895"/>
                    </a:cubicBezTo>
                    <a:cubicBezTo>
                      <a:pt x="244989" y="34895"/>
                      <a:pt x="254418" y="36325"/>
                      <a:pt x="261181" y="39181"/>
                    </a:cubicBezTo>
                    <a:cubicBezTo>
                      <a:pt x="268038" y="41943"/>
                      <a:pt x="272801" y="46324"/>
                      <a:pt x="275563" y="52422"/>
                    </a:cubicBezTo>
                    <a:cubicBezTo>
                      <a:pt x="278421" y="58517"/>
                      <a:pt x="279850" y="66614"/>
                      <a:pt x="279850" y="76616"/>
                    </a:cubicBezTo>
                    <a:cubicBezTo>
                      <a:pt x="279850" y="82997"/>
                      <a:pt x="279850" y="88427"/>
                      <a:pt x="279755" y="92808"/>
                    </a:cubicBezTo>
                    <a:cubicBezTo>
                      <a:pt x="279755" y="97284"/>
                      <a:pt x="279755" y="102142"/>
                      <a:pt x="279660" y="107572"/>
                    </a:cubicBezTo>
                    <a:cubicBezTo>
                      <a:pt x="279660" y="112716"/>
                      <a:pt x="280517" y="118048"/>
                      <a:pt x="282136" y="123573"/>
                    </a:cubicBezTo>
                    <a:cubicBezTo>
                      <a:pt x="283850" y="129098"/>
                      <a:pt x="284707" y="132621"/>
                      <a:pt x="284707" y="134242"/>
                    </a:cubicBezTo>
                    <a:cubicBezTo>
                      <a:pt x="284707" y="137003"/>
                      <a:pt x="283375" y="139479"/>
                      <a:pt x="280803" y="141860"/>
                    </a:cubicBezTo>
                    <a:cubicBezTo>
                      <a:pt x="278135" y="144051"/>
                      <a:pt x="275277" y="145195"/>
                      <a:pt x="271944" y="145195"/>
                    </a:cubicBezTo>
                    <a:cubicBezTo>
                      <a:pt x="269181" y="145195"/>
                      <a:pt x="266420" y="143956"/>
                      <a:pt x="263657" y="141386"/>
                    </a:cubicBezTo>
                    <a:cubicBezTo>
                      <a:pt x="260990" y="138719"/>
                      <a:pt x="258133" y="134907"/>
                      <a:pt x="255084" y="129954"/>
                    </a:cubicBezTo>
                    <a:close/>
                    <a:moveTo>
                      <a:pt x="253275" y="90712"/>
                    </a:moveTo>
                    <a:cubicBezTo>
                      <a:pt x="249274" y="92236"/>
                      <a:pt x="243464" y="93761"/>
                      <a:pt x="235939" y="95380"/>
                    </a:cubicBezTo>
                    <a:cubicBezTo>
                      <a:pt x="228320" y="96998"/>
                      <a:pt x="223176" y="98142"/>
                      <a:pt x="220224" y="98998"/>
                    </a:cubicBezTo>
                    <a:cubicBezTo>
                      <a:pt x="217270" y="99665"/>
                      <a:pt x="214508" y="101189"/>
                      <a:pt x="211937" y="103474"/>
                    </a:cubicBezTo>
                    <a:cubicBezTo>
                      <a:pt x="209270" y="105667"/>
                      <a:pt x="207936" y="108714"/>
                      <a:pt x="207936" y="112620"/>
                    </a:cubicBezTo>
                    <a:cubicBezTo>
                      <a:pt x="207936" y="116811"/>
                      <a:pt x="209460" y="120239"/>
                      <a:pt x="212603" y="123192"/>
                    </a:cubicBezTo>
                    <a:cubicBezTo>
                      <a:pt x="215651" y="126050"/>
                      <a:pt x="219747" y="127478"/>
                      <a:pt x="224796" y="127478"/>
                    </a:cubicBezTo>
                    <a:cubicBezTo>
                      <a:pt x="230129" y="127478"/>
                      <a:pt x="235082" y="126336"/>
                      <a:pt x="239559" y="123955"/>
                    </a:cubicBezTo>
                    <a:cubicBezTo>
                      <a:pt x="244132" y="121573"/>
                      <a:pt x="247465" y="118525"/>
                      <a:pt x="249560" y="114811"/>
                    </a:cubicBezTo>
                    <a:cubicBezTo>
                      <a:pt x="252037" y="110714"/>
                      <a:pt x="253275" y="104046"/>
                      <a:pt x="253275" y="94617"/>
                    </a:cubicBezTo>
                    <a:close/>
                    <a:moveTo>
                      <a:pt x="303757" y="37467"/>
                    </a:moveTo>
                    <a:lnTo>
                      <a:pt x="306710" y="37467"/>
                    </a:lnTo>
                    <a:lnTo>
                      <a:pt x="306710" y="21179"/>
                    </a:lnTo>
                    <a:cubicBezTo>
                      <a:pt x="306710" y="16798"/>
                      <a:pt x="306806" y="13368"/>
                      <a:pt x="306996" y="10987"/>
                    </a:cubicBezTo>
                    <a:cubicBezTo>
                      <a:pt x="307281" y="8415"/>
                      <a:pt x="307949" y="6320"/>
                      <a:pt x="308996" y="4511"/>
                    </a:cubicBezTo>
                    <a:cubicBezTo>
                      <a:pt x="310044" y="2702"/>
                      <a:pt x="311568" y="1176"/>
                      <a:pt x="313568" y="34"/>
                    </a:cubicBezTo>
                    <a:cubicBezTo>
                      <a:pt x="315569" y="-1110"/>
                      <a:pt x="317760" y="-1775"/>
                      <a:pt x="320236" y="-1775"/>
                    </a:cubicBezTo>
                    <a:cubicBezTo>
                      <a:pt x="323665" y="-1775"/>
                      <a:pt x="326808" y="-442"/>
                      <a:pt x="329571" y="2129"/>
                    </a:cubicBezTo>
                    <a:cubicBezTo>
                      <a:pt x="331380" y="3843"/>
                      <a:pt x="332618" y="5939"/>
                      <a:pt x="332999" y="8510"/>
                    </a:cubicBezTo>
                    <a:cubicBezTo>
                      <a:pt x="333570" y="10892"/>
                      <a:pt x="333856" y="14417"/>
                      <a:pt x="333856" y="18989"/>
                    </a:cubicBezTo>
                    <a:lnTo>
                      <a:pt x="333856" y="37467"/>
                    </a:lnTo>
                    <a:lnTo>
                      <a:pt x="343763" y="37467"/>
                    </a:lnTo>
                    <a:cubicBezTo>
                      <a:pt x="347573" y="37467"/>
                      <a:pt x="350525" y="38420"/>
                      <a:pt x="352525" y="40229"/>
                    </a:cubicBezTo>
                    <a:cubicBezTo>
                      <a:pt x="354526" y="42039"/>
                      <a:pt x="355574" y="44325"/>
                      <a:pt x="355574" y="47183"/>
                    </a:cubicBezTo>
                    <a:cubicBezTo>
                      <a:pt x="355574" y="50803"/>
                      <a:pt x="354145" y="53375"/>
                      <a:pt x="351193" y="54803"/>
                    </a:cubicBezTo>
                    <a:cubicBezTo>
                      <a:pt x="348335" y="56231"/>
                      <a:pt x="344238" y="56994"/>
                      <a:pt x="338905" y="56994"/>
                    </a:cubicBezTo>
                    <a:lnTo>
                      <a:pt x="333856" y="56994"/>
                    </a:lnTo>
                    <a:lnTo>
                      <a:pt x="333856" y="106809"/>
                    </a:lnTo>
                    <a:cubicBezTo>
                      <a:pt x="333856" y="111000"/>
                      <a:pt x="333952" y="114334"/>
                      <a:pt x="334238" y="116620"/>
                    </a:cubicBezTo>
                    <a:cubicBezTo>
                      <a:pt x="334524" y="118906"/>
                      <a:pt x="335381" y="120715"/>
                      <a:pt x="336619" y="122145"/>
                    </a:cubicBezTo>
                    <a:cubicBezTo>
                      <a:pt x="337953" y="123573"/>
                      <a:pt x="340048" y="124241"/>
                      <a:pt x="343000" y="124241"/>
                    </a:cubicBezTo>
                    <a:cubicBezTo>
                      <a:pt x="344524" y="124241"/>
                      <a:pt x="346715" y="124050"/>
                      <a:pt x="349382" y="123478"/>
                    </a:cubicBezTo>
                    <a:cubicBezTo>
                      <a:pt x="352145" y="122906"/>
                      <a:pt x="354240" y="122620"/>
                      <a:pt x="355764" y="122620"/>
                    </a:cubicBezTo>
                    <a:cubicBezTo>
                      <a:pt x="357955" y="122620"/>
                      <a:pt x="359859" y="123478"/>
                      <a:pt x="361574" y="125287"/>
                    </a:cubicBezTo>
                    <a:cubicBezTo>
                      <a:pt x="363384" y="127003"/>
                      <a:pt x="364337" y="129098"/>
                      <a:pt x="364337" y="131766"/>
                    </a:cubicBezTo>
                    <a:cubicBezTo>
                      <a:pt x="364337" y="136052"/>
                      <a:pt x="361956" y="139384"/>
                      <a:pt x="357193" y="141765"/>
                    </a:cubicBezTo>
                    <a:cubicBezTo>
                      <a:pt x="352431" y="144051"/>
                      <a:pt x="345572" y="145195"/>
                      <a:pt x="336619" y="145195"/>
                    </a:cubicBezTo>
                    <a:cubicBezTo>
                      <a:pt x="328142" y="145195"/>
                      <a:pt x="321759" y="143767"/>
                      <a:pt x="317378" y="140909"/>
                    </a:cubicBezTo>
                    <a:cubicBezTo>
                      <a:pt x="312997" y="138147"/>
                      <a:pt x="310139" y="134147"/>
                      <a:pt x="308710" y="129098"/>
                    </a:cubicBezTo>
                    <a:cubicBezTo>
                      <a:pt x="307377" y="124145"/>
                      <a:pt x="306710" y="117383"/>
                      <a:pt x="306710" y="109000"/>
                    </a:cubicBezTo>
                    <a:lnTo>
                      <a:pt x="306710" y="56994"/>
                    </a:lnTo>
                    <a:lnTo>
                      <a:pt x="303186" y="56994"/>
                    </a:lnTo>
                    <a:cubicBezTo>
                      <a:pt x="299281" y="56994"/>
                      <a:pt x="296328" y="56040"/>
                      <a:pt x="294232" y="54231"/>
                    </a:cubicBezTo>
                    <a:cubicBezTo>
                      <a:pt x="292232" y="52422"/>
                      <a:pt x="291185" y="50040"/>
                      <a:pt x="291185" y="47183"/>
                    </a:cubicBezTo>
                    <a:cubicBezTo>
                      <a:pt x="291185" y="44325"/>
                      <a:pt x="292232" y="42039"/>
                      <a:pt x="294327" y="40229"/>
                    </a:cubicBezTo>
                    <a:cubicBezTo>
                      <a:pt x="296519" y="38420"/>
                      <a:pt x="299662" y="37467"/>
                      <a:pt x="303757" y="37467"/>
                    </a:cubicBezTo>
                    <a:close/>
                    <a:moveTo>
                      <a:pt x="449776" y="96807"/>
                    </a:moveTo>
                    <a:lnTo>
                      <a:pt x="396816" y="96807"/>
                    </a:lnTo>
                    <a:cubicBezTo>
                      <a:pt x="396912" y="102905"/>
                      <a:pt x="398150" y="108332"/>
                      <a:pt x="400531" y="113095"/>
                    </a:cubicBezTo>
                    <a:cubicBezTo>
                      <a:pt x="402913" y="117762"/>
                      <a:pt x="406151" y="121287"/>
                      <a:pt x="410152" y="123669"/>
                    </a:cubicBezTo>
                    <a:cubicBezTo>
                      <a:pt x="414153" y="126050"/>
                      <a:pt x="418629" y="127287"/>
                      <a:pt x="423392" y="127287"/>
                    </a:cubicBezTo>
                    <a:cubicBezTo>
                      <a:pt x="426630" y="127287"/>
                      <a:pt x="429583" y="126908"/>
                      <a:pt x="432250" y="126145"/>
                    </a:cubicBezTo>
                    <a:cubicBezTo>
                      <a:pt x="435012" y="125382"/>
                      <a:pt x="437584" y="124145"/>
                      <a:pt x="440060" y="122620"/>
                    </a:cubicBezTo>
                    <a:cubicBezTo>
                      <a:pt x="442632" y="120906"/>
                      <a:pt x="444918" y="119192"/>
                      <a:pt x="447013" y="117288"/>
                    </a:cubicBezTo>
                    <a:cubicBezTo>
                      <a:pt x="449109" y="115476"/>
                      <a:pt x="451871" y="112999"/>
                      <a:pt x="455300" y="109762"/>
                    </a:cubicBezTo>
                    <a:cubicBezTo>
                      <a:pt x="456634" y="108618"/>
                      <a:pt x="458634" y="108049"/>
                      <a:pt x="461206" y="108049"/>
                    </a:cubicBezTo>
                    <a:cubicBezTo>
                      <a:pt x="463968" y="108049"/>
                      <a:pt x="466254" y="108809"/>
                      <a:pt x="467969" y="110239"/>
                    </a:cubicBezTo>
                    <a:cubicBezTo>
                      <a:pt x="469683" y="111762"/>
                      <a:pt x="470540" y="113953"/>
                      <a:pt x="470540" y="116715"/>
                    </a:cubicBezTo>
                    <a:cubicBezTo>
                      <a:pt x="470540" y="119192"/>
                      <a:pt x="469588" y="122050"/>
                      <a:pt x="467683" y="125382"/>
                    </a:cubicBezTo>
                    <a:cubicBezTo>
                      <a:pt x="465777" y="128622"/>
                      <a:pt x="462825" y="131766"/>
                      <a:pt x="458920" y="134812"/>
                    </a:cubicBezTo>
                    <a:cubicBezTo>
                      <a:pt x="455109" y="137765"/>
                      <a:pt x="450252" y="140242"/>
                      <a:pt x="444346" y="142242"/>
                    </a:cubicBezTo>
                    <a:cubicBezTo>
                      <a:pt x="438536" y="144242"/>
                      <a:pt x="431869" y="145195"/>
                      <a:pt x="424249" y="145195"/>
                    </a:cubicBezTo>
                    <a:cubicBezTo>
                      <a:pt x="406818" y="145195"/>
                      <a:pt x="393292" y="140242"/>
                      <a:pt x="383672" y="130336"/>
                    </a:cubicBezTo>
                    <a:cubicBezTo>
                      <a:pt x="373956" y="120429"/>
                      <a:pt x="369194" y="106904"/>
                      <a:pt x="369194" y="89950"/>
                    </a:cubicBezTo>
                    <a:cubicBezTo>
                      <a:pt x="369194" y="81950"/>
                      <a:pt x="370338" y="74520"/>
                      <a:pt x="372719" y="67756"/>
                    </a:cubicBezTo>
                    <a:cubicBezTo>
                      <a:pt x="375100" y="60803"/>
                      <a:pt x="378625" y="54994"/>
                      <a:pt x="383101" y="50040"/>
                    </a:cubicBezTo>
                    <a:cubicBezTo>
                      <a:pt x="387673" y="45183"/>
                      <a:pt x="393292" y="41469"/>
                      <a:pt x="400056" y="38802"/>
                    </a:cubicBezTo>
                    <a:cubicBezTo>
                      <a:pt x="406723" y="36230"/>
                      <a:pt x="414057" y="34895"/>
                      <a:pt x="422249" y="34895"/>
                    </a:cubicBezTo>
                    <a:cubicBezTo>
                      <a:pt x="432821" y="34895"/>
                      <a:pt x="441870" y="37085"/>
                      <a:pt x="449395" y="41657"/>
                    </a:cubicBezTo>
                    <a:cubicBezTo>
                      <a:pt x="457015" y="46041"/>
                      <a:pt x="462730" y="51850"/>
                      <a:pt x="466445" y="58898"/>
                    </a:cubicBezTo>
                    <a:cubicBezTo>
                      <a:pt x="470255" y="65946"/>
                      <a:pt x="472160" y="73186"/>
                      <a:pt x="472160" y="80520"/>
                    </a:cubicBezTo>
                    <a:cubicBezTo>
                      <a:pt x="472160" y="87378"/>
                      <a:pt x="470160" y="91759"/>
                      <a:pt x="466254" y="93856"/>
                    </a:cubicBezTo>
                    <a:cubicBezTo>
                      <a:pt x="462349" y="95761"/>
                      <a:pt x="456920" y="96807"/>
                      <a:pt x="449776" y="96807"/>
                    </a:cubicBezTo>
                    <a:close/>
                    <a:moveTo>
                      <a:pt x="396816" y="81378"/>
                    </a:moveTo>
                    <a:lnTo>
                      <a:pt x="445966" y="81378"/>
                    </a:lnTo>
                    <a:cubicBezTo>
                      <a:pt x="445300" y="72139"/>
                      <a:pt x="442728" y="65281"/>
                      <a:pt x="438441" y="60707"/>
                    </a:cubicBezTo>
                    <a:cubicBezTo>
                      <a:pt x="434155" y="56040"/>
                      <a:pt x="428440" y="53754"/>
                      <a:pt x="421296" y="53754"/>
                    </a:cubicBezTo>
                    <a:cubicBezTo>
                      <a:pt x="414628" y="53754"/>
                      <a:pt x="409009" y="56040"/>
                      <a:pt x="404628" y="60803"/>
                    </a:cubicBezTo>
                    <a:cubicBezTo>
                      <a:pt x="400341" y="65374"/>
                      <a:pt x="397769" y="72330"/>
                      <a:pt x="396816" y="81378"/>
                    </a:cubicBezTo>
                    <a:close/>
                    <a:moveTo>
                      <a:pt x="582174" y="109762"/>
                    </a:moveTo>
                    <a:cubicBezTo>
                      <a:pt x="582174" y="117288"/>
                      <a:pt x="580363" y="123669"/>
                      <a:pt x="576744" y="129003"/>
                    </a:cubicBezTo>
                    <a:cubicBezTo>
                      <a:pt x="573124" y="134338"/>
                      <a:pt x="567696" y="138337"/>
                      <a:pt x="560552" y="141100"/>
                    </a:cubicBezTo>
                    <a:cubicBezTo>
                      <a:pt x="553503" y="143863"/>
                      <a:pt x="544835" y="145195"/>
                      <a:pt x="534644" y="145195"/>
                    </a:cubicBezTo>
                    <a:cubicBezTo>
                      <a:pt x="524928" y="145195"/>
                      <a:pt x="516546" y="143767"/>
                      <a:pt x="509687" y="140719"/>
                    </a:cubicBezTo>
                    <a:cubicBezTo>
                      <a:pt x="502734" y="137765"/>
                      <a:pt x="497592" y="134052"/>
                      <a:pt x="494257" y="129668"/>
                    </a:cubicBezTo>
                    <a:cubicBezTo>
                      <a:pt x="490924" y="125096"/>
                      <a:pt x="489305" y="120620"/>
                      <a:pt x="489305" y="116143"/>
                    </a:cubicBezTo>
                    <a:cubicBezTo>
                      <a:pt x="489305" y="113190"/>
                      <a:pt x="490353" y="110618"/>
                      <a:pt x="492448" y="108523"/>
                    </a:cubicBezTo>
                    <a:cubicBezTo>
                      <a:pt x="494638" y="106428"/>
                      <a:pt x="497306" y="105286"/>
                      <a:pt x="500544" y="105286"/>
                    </a:cubicBezTo>
                    <a:cubicBezTo>
                      <a:pt x="503402" y="105286"/>
                      <a:pt x="505592" y="106046"/>
                      <a:pt x="507021" y="107381"/>
                    </a:cubicBezTo>
                    <a:cubicBezTo>
                      <a:pt x="508545" y="108809"/>
                      <a:pt x="510069" y="110714"/>
                      <a:pt x="511403" y="113285"/>
                    </a:cubicBezTo>
                    <a:cubicBezTo>
                      <a:pt x="514165" y="118048"/>
                      <a:pt x="517499" y="121669"/>
                      <a:pt x="521309" y="124050"/>
                    </a:cubicBezTo>
                    <a:cubicBezTo>
                      <a:pt x="525213" y="126431"/>
                      <a:pt x="530548" y="127668"/>
                      <a:pt x="537215" y="127668"/>
                    </a:cubicBezTo>
                    <a:cubicBezTo>
                      <a:pt x="542645" y="127668"/>
                      <a:pt x="547121" y="126431"/>
                      <a:pt x="550550" y="124050"/>
                    </a:cubicBezTo>
                    <a:cubicBezTo>
                      <a:pt x="554074" y="121669"/>
                      <a:pt x="555789" y="118811"/>
                      <a:pt x="555789" y="115762"/>
                    </a:cubicBezTo>
                    <a:cubicBezTo>
                      <a:pt x="555789" y="111000"/>
                      <a:pt x="553979" y="107477"/>
                      <a:pt x="550359" y="105286"/>
                    </a:cubicBezTo>
                    <a:cubicBezTo>
                      <a:pt x="546740" y="103095"/>
                      <a:pt x="540834" y="101093"/>
                      <a:pt x="532548" y="99093"/>
                    </a:cubicBezTo>
                    <a:cubicBezTo>
                      <a:pt x="523213" y="96712"/>
                      <a:pt x="515594" y="94331"/>
                      <a:pt x="509783" y="91854"/>
                    </a:cubicBezTo>
                    <a:cubicBezTo>
                      <a:pt x="503877" y="89282"/>
                      <a:pt x="499306" y="85855"/>
                      <a:pt x="495781" y="81664"/>
                    </a:cubicBezTo>
                    <a:cubicBezTo>
                      <a:pt x="492257" y="77567"/>
                      <a:pt x="490543" y="72425"/>
                      <a:pt x="490543" y="66328"/>
                    </a:cubicBezTo>
                    <a:cubicBezTo>
                      <a:pt x="490543" y="60898"/>
                      <a:pt x="492162" y="55756"/>
                      <a:pt x="495400" y="50994"/>
                    </a:cubicBezTo>
                    <a:cubicBezTo>
                      <a:pt x="498639" y="46136"/>
                      <a:pt x="503402" y="42325"/>
                      <a:pt x="509687" y="39467"/>
                    </a:cubicBezTo>
                    <a:cubicBezTo>
                      <a:pt x="515974" y="36516"/>
                      <a:pt x="523595" y="35086"/>
                      <a:pt x="532548" y="35086"/>
                    </a:cubicBezTo>
                    <a:cubicBezTo>
                      <a:pt x="539596" y="35086"/>
                      <a:pt x="545883" y="35848"/>
                      <a:pt x="551407" y="37276"/>
                    </a:cubicBezTo>
                    <a:cubicBezTo>
                      <a:pt x="557028" y="38706"/>
                      <a:pt x="561695" y="40706"/>
                      <a:pt x="565410" y="43087"/>
                    </a:cubicBezTo>
                    <a:cubicBezTo>
                      <a:pt x="569219" y="45564"/>
                      <a:pt x="571981" y="48231"/>
                      <a:pt x="573981" y="51278"/>
                    </a:cubicBezTo>
                    <a:cubicBezTo>
                      <a:pt x="575887" y="54231"/>
                      <a:pt x="576935" y="57184"/>
                      <a:pt x="576935" y="59947"/>
                    </a:cubicBezTo>
                    <a:cubicBezTo>
                      <a:pt x="576935" y="63089"/>
                      <a:pt x="575887" y="65660"/>
                      <a:pt x="573696" y="67663"/>
                    </a:cubicBezTo>
                    <a:cubicBezTo>
                      <a:pt x="571695" y="69567"/>
                      <a:pt x="568743" y="70614"/>
                      <a:pt x="564933" y="70614"/>
                    </a:cubicBezTo>
                    <a:cubicBezTo>
                      <a:pt x="562170" y="70614"/>
                      <a:pt x="559789" y="69758"/>
                      <a:pt x="557789" y="68232"/>
                    </a:cubicBezTo>
                    <a:cubicBezTo>
                      <a:pt x="555885" y="66614"/>
                      <a:pt x="553599" y="64233"/>
                      <a:pt x="551122" y="61089"/>
                    </a:cubicBezTo>
                    <a:cubicBezTo>
                      <a:pt x="549026" y="58421"/>
                      <a:pt x="546645" y="56326"/>
                      <a:pt x="543883" y="54708"/>
                    </a:cubicBezTo>
                    <a:cubicBezTo>
                      <a:pt x="541120" y="53089"/>
                      <a:pt x="537310" y="52326"/>
                      <a:pt x="532548" y="52326"/>
                    </a:cubicBezTo>
                    <a:cubicBezTo>
                      <a:pt x="527690" y="52326"/>
                      <a:pt x="523595" y="53375"/>
                      <a:pt x="520357" y="55470"/>
                    </a:cubicBezTo>
                    <a:cubicBezTo>
                      <a:pt x="517117" y="57566"/>
                      <a:pt x="515499" y="60138"/>
                      <a:pt x="515499" y="63279"/>
                    </a:cubicBezTo>
                    <a:cubicBezTo>
                      <a:pt x="515499" y="66137"/>
                      <a:pt x="516737" y="68423"/>
                      <a:pt x="519118" y="70328"/>
                    </a:cubicBezTo>
                    <a:cubicBezTo>
                      <a:pt x="521500" y="72044"/>
                      <a:pt x="524642" y="73567"/>
                      <a:pt x="528738" y="74806"/>
                    </a:cubicBezTo>
                    <a:cubicBezTo>
                      <a:pt x="532738" y="75948"/>
                      <a:pt x="538263" y="77376"/>
                      <a:pt x="545406" y="79092"/>
                    </a:cubicBezTo>
                    <a:cubicBezTo>
                      <a:pt x="553788" y="81187"/>
                      <a:pt x="560647" y="83664"/>
                      <a:pt x="565885" y="86427"/>
                    </a:cubicBezTo>
                    <a:cubicBezTo>
                      <a:pt x="571220" y="89282"/>
                      <a:pt x="575315" y="92712"/>
                      <a:pt x="577982" y="96617"/>
                    </a:cubicBezTo>
                    <a:cubicBezTo>
                      <a:pt x="580745" y="100428"/>
                      <a:pt x="582174" y="104809"/>
                      <a:pt x="582174" y="1097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27" name="Graphic 78">
                <a:extLst>
                  <a:ext uri="{FF2B5EF4-FFF2-40B4-BE49-F238E27FC236}">
                    <a16:creationId xmlns:a16="http://schemas.microsoft.com/office/drawing/2014/main" id="{2C720AA6-8386-407D-AD3D-877209C4FA21}"/>
                  </a:ext>
                </a:extLst>
              </p:cNvPr>
              <p:cNvGrpSpPr/>
              <p:nvPr/>
            </p:nvGrpSpPr>
            <p:grpSpPr>
              <a:xfrm>
                <a:off x="9178985" y="2783797"/>
                <a:ext cx="80064" cy="513612"/>
                <a:chOff x="8876981" y="3937476"/>
                <a:chExt cx="57150" cy="366617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14A160A9-D305-7AFF-E524-4C945CCC3F7F}"/>
                    </a:ext>
                  </a:extLst>
                </p:cNvPr>
                <p:cNvSpPr/>
                <p:nvPr/>
              </p:nvSpPr>
              <p:spPr>
                <a:xfrm>
                  <a:off x="8905556" y="3994626"/>
                  <a:ext cx="9525" cy="299942"/>
                </a:xfrm>
                <a:custGeom>
                  <a:avLst/>
                  <a:gdLst>
                    <a:gd name="csX0" fmla="*/ -1137 w 9525"/>
                    <a:gd name="csY0" fmla="*/ -1775 h 299942"/>
                    <a:gd name="csX1" fmla="*/ -1137 w 9525"/>
                    <a:gd name="csY1" fmla="*/ 298167 h 2999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" h="299942">
                      <a:moveTo>
                        <a:pt x="-1137" y="-1775"/>
                      </a:moveTo>
                      <a:lnTo>
                        <a:pt x="-1137" y="298167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67761F28-06DF-30FB-5F9F-989BF3436CAD}"/>
                    </a:ext>
                  </a:extLst>
                </p:cNvPr>
                <p:cNvSpPr/>
                <p:nvPr/>
              </p:nvSpPr>
              <p:spPr>
                <a:xfrm>
                  <a:off x="8896508" y="3994626"/>
                  <a:ext cx="18097" cy="299942"/>
                </a:xfrm>
                <a:custGeom>
                  <a:avLst/>
                  <a:gdLst>
                    <a:gd name="csX0" fmla="*/ -1137 w 18097"/>
                    <a:gd name="csY0" fmla="*/ -1775 h 299942"/>
                    <a:gd name="csX1" fmla="*/ -1137 w 18097"/>
                    <a:gd name="csY1" fmla="*/ 298167 h 299942"/>
                    <a:gd name="csX2" fmla="*/ 16961 w 18097"/>
                    <a:gd name="csY2" fmla="*/ 298167 h 299942"/>
                    <a:gd name="csX3" fmla="*/ 16961 w 18097"/>
                    <a:gd name="csY3" fmla="*/ -1775 h 2999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8097" h="299942">
                      <a:moveTo>
                        <a:pt x="-1137" y="-1775"/>
                      </a:moveTo>
                      <a:lnTo>
                        <a:pt x="-1137" y="298167"/>
                      </a:lnTo>
                      <a:lnTo>
                        <a:pt x="16961" y="298167"/>
                      </a:lnTo>
                      <a:lnTo>
                        <a:pt x="16961" y="-1775"/>
                      </a:lnTo>
                      <a:close/>
                    </a:path>
                  </a:pathLst>
                </a:custGeom>
                <a:solidFill>
                  <a:srgbClr val="2F4FB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43" name="Graphic 78">
                  <a:extLst>
                    <a:ext uri="{FF2B5EF4-FFF2-40B4-BE49-F238E27FC236}">
                      <a16:creationId xmlns:a16="http://schemas.microsoft.com/office/drawing/2014/main" id="{013C40A0-6E53-6276-6972-6A4A7C2E7CC5}"/>
                    </a:ext>
                  </a:extLst>
                </p:cNvPr>
                <p:cNvGrpSpPr/>
                <p:nvPr/>
              </p:nvGrpSpPr>
              <p:grpSpPr>
                <a:xfrm>
                  <a:off x="8876981" y="3937476"/>
                  <a:ext cx="57150" cy="366617"/>
                  <a:chOff x="8876981" y="3937476"/>
                  <a:chExt cx="57150" cy="366617"/>
                </a:xfrm>
                <a:solidFill>
                  <a:srgbClr val="2F4FB5"/>
                </a:solidFill>
              </p:grpSpPr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301E1FB8-E3D3-5ACA-E766-318E00A0113D}"/>
                      </a:ext>
                    </a:extLst>
                  </p:cNvPr>
                  <p:cNvSpPr/>
                  <p:nvPr/>
                </p:nvSpPr>
                <p:spPr>
                  <a:xfrm>
                    <a:off x="8876981" y="4246943"/>
                    <a:ext cx="57150" cy="57150"/>
                  </a:xfrm>
                  <a:custGeom>
                    <a:avLst/>
                    <a:gdLst>
                      <a:gd name="csX0" fmla="*/ 56013 w 57150"/>
                      <a:gd name="csY0" fmla="*/ -1775 h 57150"/>
                      <a:gd name="csX1" fmla="*/ 27438 w 57150"/>
                      <a:gd name="csY1" fmla="*/ 55375 h 57150"/>
                      <a:gd name="csX2" fmla="*/ -1137 w 57150"/>
                      <a:gd name="csY2" fmla="*/ -1775 h 571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57150" h="57150">
                        <a:moveTo>
                          <a:pt x="56013" y="-1775"/>
                        </a:moveTo>
                        <a:lnTo>
                          <a:pt x="27438" y="55375"/>
                        </a:lnTo>
                        <a:lnTo>
                          <a:pt x="-1137" y="-1775"/>
                        </a:lnTo>
                        <a:close/>
                      </a:path>
                    </a:pathLst>
                  </a:custGeom>
                  <a:solidFill>
                    <a:srgbClr val="2F4FB5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id="{FEFBB28F-EF0E-25C6-2058-321ECC256C2B}"/>
                      </a:ext>
                    </a:extLst>
                  </p:cNvPr>
                  <p:cNvSpPr/>
                  <p:nvPr/>
                </p:nvSpPr>
                <p:spPr>
                  <a:xfrm>
                    <a:off x="8876981" y="3937476"/>
                    <a:ext cx="57150" cy="57150"/>
                  </a:xfrm>
                  <a:custGeom>
                    <a:avLst/>
                    <a:gdLst>
                      <a:gd name="csX0" fmla="*/ -1137 w 57150"/>
                      <a:gd name="csY0" fmla="*/ 55375 h 57150"/>
                      <a:gd name="csX1" fmla="*/ 27438 w 57150"/>
                      <a:gd name="csY1" fmla="*/ -1775 h 57150"/>
                      <a:gd name="csX2" fmla="*/ 56013 w 57150"/>
                      <a:gd name="csY2" fmla="*/ 55375 h 571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57150" h="57150">
                        <a:moveTo>
                          <a:pt x="-1137" y="55375"/>
                        </a:moveTo>
                        <a:lnTo>
                          <a:pt x="27438" y="-1775"/>
                        </a:lnTo>
                        <a:lnTo>
                          <a:pt x="56013" y="55375"/>
                        </a:lnTo>
                        <a:close/>
                      </a:path>
                    </a:pathLst>
                  </a:custGeom>
                  <a:solidFill>
                    <a:srgbClr val="2F4FB5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8" name="Graphic 78">
                <a:extLst>
                  <a:ext uri="{FF2B5EF4-FFF2-40B4-BE49-F238E27FC236}">
                    <a16:creationId xmlns:a16="http://schemas.microsoft.com/office/drawing/2014/main" id="{FEA4FF5A-BCD5-591D-9A42-34D134F4A1C4}"/>
                  </a:ext>
                </a:extLst>
              </p:cNvPr>
              <p:cNvGrpSpPr/>
              <p:nvPr/>
            </p:nvGrpSpPr>
            <p:grpSpPr>
              <a:xfrm>
                <a:off x="8324966" y="3099249"/>
                <a:ext cx="80064" cy="793970"/>
                <a:chOff x="8267381" y="4162646"/>
                <a:chExt cx="57150" cy="566737"/>
              </a:xfrm>
            </p:grpSpPr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1D44A281-C055-5C6E-BB3E-FFD2C3DE5CBC}"/>
                    </a:ext>
                  </a:extLst>
                </p:cNvPr>
                <p:cNvSpPr/>
                <p:nvPr/>
              </p:nvSpPr>
              <p:spPr>
                <a:xfrm>
                  <a:off x="8295956" y="4219796"/>
                  <a:ext cx="9525" cy="500062"/>
                </a:xfrm>
                <a:custGeom>
                  <a:avLst/>
                  <a:gdLst>
                    <a:gd name="csX0" fmla="*/ -1137 w 9525"/>
                    <a:gd name="csY0" fmla="*/ -1775 h 500062"/>
                    <a:gd name="csX1" fmla="*/ -1137 w 9525"/>
                    <a:gd name="csY1" fmla="*/ 498288 h 5000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" h="500062">
                      <a:moveTo>
                        <a:pt x="-1137" y="-1775"/>
                      </a:moveTo>
                      <a:lnTo>
                        <a:pt x="-1137" y="498288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AF370CF8-04E8-7CC9-0C14-0ABD18BF47E2}"/>
                    </a:ext>
                  </a:extLst>
                </p:cNvPr>
                <p:cNvSpPr/>
                <p:nvPr/>
              </p:nvSpPr>
              <p:spPr>
                <a:xfrm>
                  <a:off x="8286908" y="4219796"/>
                  <a:ext cx="18097" cy="499967"/>
                </a:xfrm>
                <a:custGeom>
                  <a:avLst/>
                  <a:gdLst>
                    <a:gd name="csX0" fmla="*/ -1137 w 18097"/>
                    <a:gd name="csY0" fmla="*/ -1775 h 499967"/>
                    <a:gd name="csX1" fmla="*/ -1137 w 18097"/>
                    <a:gd name="csY1" fmla="*/ 498192 h 499967"/>
                    <a:gd name="csX2" fmla="*/ 16961 w 18097"/>
                    <a:gd name="csY2" fmla="*/ 498192 h 499967"/>
                    <a:gd name="csX3" fmla="*/ 16961 w 18097"/>
                    <a:gd name="csY3" fmla="*/ -1775 h 4999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8097" h="499967">
                      <a:moveTo>
                        <a:pt x="-1137" y="-1775"/>
                      </a:moveTo>
                      <a:lnTo>
                        <a:pt x="-1137" y="498192"/>
                      </a:lnTo>
                      <a:lnTo>
                        <a:pt x="16961" y="498192"/>
                      </a:lnTo>
                      <a:lnTo>
                        <a:pt x="16961" y="-1775"/>
                      </a:lnTo>
                      <a:close/>
                    </a:path>
                  </a:pathLst>
                </a:custGeom>
                <a:solidFill>
                  <a:srgbClr val="2F4FB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38" name="Graphic 78">
                  <a:extLst>
                    <a:ext uri="{FF2B5EF4-FFF2-40B4-BE49-F238E27FC236}">
                      <a16:creationId xmlns:a16="http://schemas.microsoft.com/office/drawing/2014/main" id="{C3DCA681-7950-0411-3C53-B39EEC69BBFB}"/>
                    </a:ext>
                  </a:extLst>
                </p:cNvPr>
                <p:cNvGrpSpPr/>
                <p:nvPr/>
              </p:nvGrpSpPr>
              <p:grpSpPr>
                <a:xfrm>
                  <a:off x="8267381" y="4162646"/>
                  <a:ext cx="57150" cy="566737"/>
                  <a:chOff x="8267381" y="4162646"/>
                  <a:chExt cx="57150" cy="566737"/>
                </a:xfrm>
                <a:solidFill>
                  <a:srgbClr val="2F4FB5"/>
                </a:solidFill>
              </p:grpSpPr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286F9FB1-62E4-6F0F-1B5B-271106139B2D}"/>
                      </a:ext>
                    </a:extLst>
                  </p:cNvPr>
                  <p:cNvSpPr/>
                  <p:nvPr/>
                </p:nvSpPr>
                <p:spPr>
                  <a:xfrm>
                    <a:off x="8267381" y="4672233"/>
                    <a:ext cx="57150" cy="57150"/>
                  </a:xfrm>
                  <a:custGeom>
                    <a:avLst/>
                    <a:gdLst>
                      <a:gd name="csX0" fmla="*/ 56013 w 57150"/>
                      <a:gd name="csY0" fmla="*/ -1775 h 57150"/>
                      <a:gd name="csX1" fmla="*/ 27438 w 57150"/>
                      <a:gd name="csY1" fmla="*/ 55375 h 57150"/>
                      <a:gd name="csX2" fmla="*/ -1137 w 57150"/>
                      <a:gd name="csY2" fmla="*/ -1775 h 571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57150" h="57150">
                        <a:moveTo>
                          <a:pt x="56013" y="-1775"/>
                        </a:moveTo>
                        <a:lnTo>
                          <a:pt x="27438" y="55375"/>
                        </a:lnTo>
                        <a:lnTo>
                          <a:pt x="-1137" y="-1775"/>
                        </a:lnTo>
                        <a:close/>
                      </a:path>
                    </a:pathLst>
                  </a:custGeom>
                  <a:solidFill>
                    <a:srgbClr val="2F4FB5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50C265F5-E5C3-BB57-631F-6264A42DF16A}"/>
                      </a:ext>
                    </a:extLst>
                  </p:cNvPr>
                  <p:cNvSpPr/>
                  <p:nvPr/>
                </p:nvSpPr>
                <p:spPr>
                  <a:xfrm>
                    <a:off x="8267381" y="4162646"/>
                    <a:ext cx="57150" cy="57150"/>
                  </a:xfrm>
                  <a:custGeom>
                    <a:avLst/>
                    <a:gdLst>
                      <a:gd name="csX0" fmla="*/ -1137 w 57150"/>
                      <a:gd name="csY0" fmla="*/ 55375 h 57150"/>
                      <a:gd name="csX1" fmla="*/ 27438 w 57150"/>
                      <a:gd name="csY1" fmla="*/ -1775 h 57150"/>
                      <a:gd name="csX2" fmla="*/ 56013 w 57150"/>
                      <a:gd name="csY2" fmla="*/ 55375 h 571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57150" h="57150">
                        <a:moveTo>
                          <a:pt x="-1137" y="55375"/>
                        </a:moveTo>
                        <a:lnTo>
                          <a:pt x="27438" y="-1775"/>
                        </a:lnTo>
                        <a:lnTo>
                          <a:pt x="56013" y="55375"/>
                        </a:lnTo>
                        <a:close/>
                      </a:path>
                    </a:pathLst>
                  </a:custGeom>
                  <a:solidFill>
                    <a:srgbClr val="2F4FB5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6E4D601-CE51-39A3-A86E-0FC4CB5BA8B9}"/>
                  </a:ext>
                </a:extLst>
              </p:cNvPr>
              <p:cNvSpPr/>
              <p:nvPr/>
            </p:nvSpPr>
            <p:spPr>
              <a:xfrm>
                <a:off x="8485122" y="3583908"/>
                <a:ext cx="849613" cy="144354"/>
              </a:xfrm>
              <a:custGeom>
                <a:avLst/>
                <a:gdLst>
                  <a:gd name="csX0" fmla="*/ 28676 w 774192"/>
                  <a:gd name="csY0" fmla="*/ 107190 h 131540"/>
                  <a:gd name="csX1" fmla="*/ 74015 w 774192"/>
                  <a:gd name="csY1" fmla="*/ 107190 h 131540"/>
                  <a:gd name="csX2" fmla="*/ 84302 w 774192"/>
                  <a:gd name="csY2" fmla="*/ 109953 h 131540"/>
                  <a:gd name="csX3" fmla="*/ 87921 w 774192"/>
                  <a:gd name="csY3" fmla="*/ 117478 h 131540"/>
                  <a:gd name="csX4" fmla="*/ 85065 w 774192"/>
                  <a:gd name="csY4" fmla="*/ 124717 h 131540"/>
                  <a:gd name="csX5" fmla="*/ 76492 w 774192"/>
                  <a:gd name="csY5" fmla="*/ 127671 h 131540"/>
                  <a:gd name="csX6" fmla="*/ 12675 w 774192"/>
                  <a:gd name="csY6" fmla="*/ 127671 h 131540"/>
                  <a:gd name="csX7" fmla="*/ 2482 w 774192"/>
                  <a:gd name="csY7" fmla="*/ 124050 h 131540"/>
                  <a:gd name="csX8" fmla="*/ -1137 w 774192"/>
                  <a:gd name="csY8" fmla="*/ 115574 h 131540"/>
                  <a:gd name="csX9" fmla="*/ 1149 w 774192"/>
                  <a:gd name="csY9" fmla="*/ 107286 h 131540"/>
                  <a:gd name="csX10" fmla="*/ 6293 w 774192"/>
                  <a:gd name="csY10" fmla="*/ 99191 h 131540"/>
                  <a:gd name="csX11" fmla="*/ 27152 w 774192"/>
                  <a:gd name="csY11" fmla="*/ 78711 h 131540"/>
                  <a:gd name="csX12" fmla="*/ 40392 w 774192"/>
                  <a:gd name="csY12" fmla="*/ 67377 h 131540"/>
                  <a:gd name="csX13" fmla="*/ 52203 w 774192"/>
                  <a:gd name="csY13" fmla="*/ 57280 h 131540"/>
                  <a:gd name="csX14" fmla="*/ 59442 w 774192"/>
                  <a:gd name="csY14" fmla="*/ 46899 h 131540"/>
                  <a:gd name="csX15" fmla="*/ 61918 w 774192"/>
                  <a:gd name="csY15" fmla="*/ 36420 h 131540"/>
                  <a:gd name="csX16" fmla="*/ 59251 w 774192"/>
                  <a:gd name="csY16" fmla="*/ 26514 h 131540"/>
                  <a:gd name="csX17" fmla="*/ 52013 w 774192"/>
                  <a:gd name="csY17" fmla="*/ 19656 h 131540"/>
                  <a:gd name="csX18" fmla="*/ 42107 w 774192"/>
                  <a:gd name="csY18" fmla="*/ 17180 h 131540"/>
                  <a:gd name="csX19" fmla="*/ 24295 w 774192"/>
                  <a:gd name="csY19" fmla="*/ 27181 h 131540"/>
                  <a:gd name="csX20" fmla="*/ 21342 w 774192"/>
                  <a:gd name="csY20" fmla="*/ 34325 h 131540"/>
                  <a:gd name="csX21" fmla="*/ 16675 w 774192"/>
                  <a:gd name="csY21" fmla="*/ 43278 h 131540"/>
                  <a:gd name="csX22" fmla="*/ 9245 w 774192"/>
                  <a:gd name="csY22" fmla="*/ 46422 h 131540"/>
                  <a:gd name="csX23" fmla="*/ 2007 w 774192"/>
                  <a:gd name="csY23" fmla="*/ 43564 h 131540"/>
                  <a:gd name="csX24" fmla="*/ -851 w 774192"/>
                  <a:gd name="csY24" fmla="*/ 35658 h 131540"/>
                  <a:gd name="csX25" fmla="*/ 1911 w 774192"/>
                  <a:gd name="csY25" fmla="*/ 23182 h 131540"/>
                  <a:gd name="csX26" fmla="*/ 9817 w 774192"/>
                  <a:gd name="csY26" fmla="*/ 11371 h 131540"/>
                  <a:gd name="csX27" fmla="*/ 23438 w 774192"/>
                  <a:gd name="csY27" fmla="*/ 2892 h 131540"/>
                  <a:gd name="csX28" fmla="*/ 42678 w 774192"/>
                  <a:gd name="csY28" fmla="*/ -440 h 131540"/>
                  <a:gd name="csX29" fmla="*/ 65347 w 774192"/>
                  <a:gd name="csY29" fmla="*/ 3750 h 131540"/>
                  <a:gd name="csX30" fmla="*/ 76015 w 774192"/>
                  <a:gd name="csY30" fmla="*/ 11371 h 131540"/>
                  <a:gd name="csX31" fmla="*/ 83159 w 774192"/>
                  <a:gd name="csY31" fmla="*/ 22705 h 131540"/>
                  <a:gd name="csX32" fmla="*/ 85731 w 774192"/>
                  <a:gd name="csY32" fmla="*/ 35848 h 131540"/>
                  <a:gd name="csX33" fmla="*/ 80397 w 774192"/>
                  <a:gd name="csY33" fmla="*/ 55470 h 131540"/>
                  <a:gd name="csX34" fmla="*/ 69539 w 774192"/>
                  <a:gd name="csY34" fmla="*/ 69281 h 131540"/>
                  <a:gd name="csX35" fmla="*/ 50870 w 774192"/>
                  <a:gd name="csY35" fmla="*/ 84903 h 131540"/>
                  <a:gd name="csX36" fmla="*/ 32963 w 774192"/>
                  <a:gd name="csY36" fmla="*/ 101477 h 131540"/>
                  <a:gd name="csX37" fmla="*/ 28676 w 774192"/>
                  <a:gd name="csY37" fmla="*/ 107190 h 131540"/>
                  <a:gd name="csX38" fmla="*/ 122593 w 774192"/>
                  <a:gd name="csY38" fmla="*/ 129766 h 131540"/>
                  <a:gd name="csX39" fmla="*/ 113354 w 774192"/>
                  <a:gd name="csY39" fmla="*/ 126336 h 131540"/>
                  <a:gd name="csX40" fmla="*/ 109448 w 774192"/>
                  <a:gd name="csY40" fmla="*/ 116620 h 131540"/>
                  <a:gd name="csX41" fmla="*/ 113163 w 774192"/>
                  <a:gd name="csY41" fmla="*/ 107477 h 131540"/>
                  <a:gd name="csX42" fmla="*/ 122402 w 774192"/>
                  <a:gd name="csY42" fmla="*/ 103667 h 131540"/>
                  <a:gd name="csX43" fmla="*/ 131642 w 774192"/>
                  <a:gd name="csY43" fmla="*/ 107477 h 131540"/>
                  <a:gd name="csX44" fmla="*/ 135546 w 774192"/>
                  <a:gd name="csY44" fmla="*/ 116620 h 131540"/>
                  <a:gd name="csX45" fmla="*/ 131642 w 774192"/>
                  <a:gd name="csY45" fmla="*/ 126336 h 131540"/>
                  <a:gd name="csX46" fmla="*/ 122593 w 774192"/>
                  <a:gd name="csY46" fmla="*/ 129766 h 131540"/>
                  <a:gd name="csX47" fmla="*/ 162217 w 774192"/>
                  <a:gd name="csY47" fmla="*/ 32707 h 131540"/>
                  <a:gd name="csX48" fmla="*/ 166884 w 774192"/>
                  <a:gd name="csY48" fmla="*/ 16322 h 131540"/>
                  <a:gd name="csX49" fmla="*/ 180790 w 774192"/>
                  <a:gd name="csY49" fmla="*/ 4036 h 131540"/>
                  <a:gd name="csX50" fmla="*/ 202221 w 774192"/>
                  <a:gd name="csY50" fmla="*/ -631 h 131540"/>
                  <a:gd name="csX51" fmla="*/ 220414 w 774192"/>
                  <a:gd name="csY51" fmla="*/ 2129 h 131540"/>
                  <a:gd name="csX52" fmla="*/ 233368 w 774192"/>
                  <a:gd name="csY52" fmla="*/ 9559 h 131540"/>
                  <a:gd name="csX53" fmla="*/ 241179 w 774192"/>
                  <a:gd name="csY53" fmla="*/ 20228 h 131540"/>
                  <a:gd name="csX54" fmla="*/ 243656 w 774192"/>
                  <a:gd name="csY54" fmla="*/ 32802 h 131540"/>
                  <a:gd name="csX55" fmla="*/ 239178 w 774192"/>
                  <a:gd name="csY55" fmla="*/ 48041 h 131540"/>
                  <a:gd name="csX56" fmla="*/ 226225 w 774192"/>
                  <a:gd name="csY56" fmla="*/ 58996 h 131540"/>
                  <a:gd name="csX57" fmla="*/ 238417 w 774192"/>
                  <a:gd name="csY57" fmla="*/ 66519 h 131540"/>
                  <a:gd name="csX58" fmla="*/ 245751 w 774192"/>
                  <a:gd name="csY58" fmla="*/ 77283 h 131540"/>
                  <a:gd name="csX59" fmla="*/ 248228 w 774192"/>
                  <a:gd name="csY59" fmla="*/ 90808 h 131540"/>
                  <a:gd name="csX60" fmla="*/ 242989 w 774192"/>
                  <a:gd name="csY60" fmla="*/ 110716 h 131540"/>
                  <a:gd name="csX61" fmla="*/ 227463 w 774192"/>
                  <a:gd name="csY61" fmla="*/ 124622 h 131540"/>
                  <a:gd name="csX62" fmla="*/ 203270 w 774192"/>
                  <a:gd name="csY62" fmla="*/ 129670 h 131540"/>
                  <a:gd name="csX63" fmla="*/ 178600 w 774192"/>
                  <a:gd name="csY63" fmla="*/ 124622 h 131540"/>
                  <a:gd name="csX64" fmla="*/ 163169 w 774192"/>
                  <a:gd name="csY64" fmla="*/ 110811 h 131540"/>
                  <a:gd name="csX65" fmla="*/ 157931 w 774192"/>
                  <a:gd name="csY65" fmla="*/ 90998 h 131540"/>
                  <a:gd name="csX66" fmla="*/ 180029 w 774192"/>
                  <a:gd name="csY66" fmla="*/ 58996 h 131540"/>
                  <a:gd name="csX67" fmla="*/ 162217 w 774192"/>
                  <a:gd name="csY67" fmla="*/ 32707 h 131540"/>
                  <a:gd name="csX68" fmla="*/ 224511 w 774192"/>
                  <a:gd name="csY68" fmla="*/ 90140 h 131540"/>
                  <a:gd name="csX69" fmla="*/ 221653 w 774192"/>
                  <a:gd name="csY69" fmla="*/ 78329 h 131540"/>
                  <a:gd name="csX70" fmla="*/ 213843 w 774192"/>
                  <a:gd name="csY70" fmla="*/ 70616 h 131540"/>
                  <a:gd name="csX71" fmla="*/ 202603 w 774192"/>
                  <a:gd name="csY71" fmla="*/ 67949 h 131540"/>
                  <a:gd name="csX72" fmla="*/ 187744 w 774192"/>
                  <a:gd name="csY72" fmla="*/ 73853 h 131540"/>
                  <a:gd name="csX73" fmla="*/ 181744 w 774192"/>
                  <a:gd name="csY73" fmla="*/ 90331 h 131540"/>
                  <a:gd name="csX74" fmla="*/ 184505 w 774192"/>
                  <a:gd name="csY74" fmla="*/ 102333 h 131540"/>
                  <a:gd name="csX75" fmla="*/ 192221 w 774192"/>
                  <a:gd name="csY75" fmla="*/ 110239 h 131540"/>
                  <a:gd name="csX76" fmla="*/ 203079 w 774192"/>
                  <a:gd name="csY76" fmla="*/ 113097 h 131540"/>
                  <a:gd name="csX77" fmla="*/ 214032 w 774192"/>
                  <a:gd name="csY77" fmla="*/ 110239 h 131540"/>
                  <a:gd name="csX78" fmla="*/ 221653 w 774192"/>
                  <a:gd name="csY78" fmla="*/ 102142 h 131540"/>
                  <a:gd name="csX79" fmla="*/ 224511 w 774192"/>
                  <a:gd name="csY79" fmla="*/ 90140 h 131540"/>
                  <a:gd name="csX80" fmla="*/ 202793 w 774192"/>
                  <a:gd name="csY80" fmla="*/ 16038 h 131540"/>
                  <a:gd name="csX81" fmla="*/ 189554 w 774192"/>
                  <a:gd name="csY81" fmla="*/ 21084 h 131540"/>
                  <a:gd name="csX82" fmla="*/ 184600 w 774192"/>
                  <a:gd name="csY82" fmla="*/ 34134 h 131540"/>
                  <a:gd name="csX83" fmla="*/ 189744 w 774192"/>
                  <a:gd name="csY83" fmla="*/ 46422 h 131540"/>
                  <a:gd name="csX84" fmla="*/ 202984 w 774192"/>
                  <a:gd name="csY84" fmla="*/ 51375 h 131540"/>
                  <a:gd name="csX85" fmla="*/ 210319 w 774192"/>
                  <a:gd name="csY85" fmla="*/ 50040 h 131540"/>
                  <a:gd name="csX86" fmla="*/ 216033 w 774192"/>
                  <a:gd name="csY86" fmla="*/ 46422 h 131540"/>
                  <a:gd name="csX87" fmla="*/ 219748 w 774192"/>
                  <a:gd name="csY87" fmla="*/ 40992 h 131540"/>
                  <a:gd name="csX88" fmla="*/ 221082 w 774192"/>
                  <a:gd name="csY88" fmla="*/ 33944 h 131540"/>
                  <a:gd name="csX89" fmla="*/ 218701 w 774192"/>
                  <a:gd name="csY89" fmla="*/ 24800 h 131540"/>
                  <a:gd name="csX90" fmla="*/ 212318 w 774192"/>
                  <a:gd name="csY90" fmla="*/ 18324 h 131540"/>
                  <a:gd name="csX91" fmla="*/ 202793 w 774192"/>
                  <a:gd name="csY91" fmla="*/ 16038 h 131540"/>
                  <a:gd name="csX92" fmla="*/ 283661 w 774192"/>
                  <a:gd name="csY92" fmla="*/ 1560 h 131540"/>
                  <a:gd name="csX93" fmla="*/ 341477 w 774192"/>
                  <a:gd name="csY93" fmla="*/ 1560 h 131540"/>
                  <a:gd name="csX94" fmla="*/ 353574 w 774192"/>
                  <a:gd name="csY94" fmla="*/ 4227 h 131540"/>
                  <a:gd name="csX95" fmla="*/ 357289 w 774192"/>
                  <a:gd name="csY95" fmla="*/ 12799 h 131540"/>
                  <a:gd name="csX96" fmla="*/ 352908 w 774192"/>
                  <a:gd name="csY96" fmla="*/ 22419 h 131540"/>
                  <a:gd name="csX97" fmla="*/ 342906 w 774192"/>
                  <a:gd name="csY97" fmla="*/ 35658 h 131540"/>
                  <a:gd name="csX98" fmla="*/ 331381 w 774192"/>
                  <a:gd name="csY98" fmla="*/ 53661 h 131540"/>
                  <a:gd name="csX99" fmla="*/ 320522 w 774192"/>
                  <a:gd name="csY99" fmla="*/ 79950 h 131540"/>
                  <a:gd name="csX100" fmla="*/ 317570 w 774192"/>
                  <a:gd name="csY100" fmla="*/ 91380 h 131540"/>
                  <a:gd name="csX101" fmla="*/ 315664 w 774192"/>
                  <a:gd name="csY101" fmla="*/ 103095 h 131540"/>
                  <a:gd name="csX102" fmla="*/ 313760 w 774192"/>
                  <a:gd name="csY102" fmla="*/ 114144 h 131540"/>
                  <a:gd name="csX103" fmla="*/ 308616 w 774192"/>
                  <a:gd name="csY103" fmla="*/ 126431 h 131540"/>
                  <a:gd name="csX104" fmla="*/ 299757 w 774192"/>
                  <a:gd name="csY104" fmla="*/ 129766 h 131540"/>
                  <a:gd name="csX105" fmla="*/ 291186 w 774192"/>
                  <a:gd name="csY105" fmla="*/ 126145 h 131540"/>
                  <a:gd name="csX106" fmla="*/ 288042 w 774192"/>
                  <a:gd name="csY106" fmla="*/ 115192 h 131540"/>
                  <a:gd name="csX107" fmla="*/ 290328 w 774192"/>
                  <a:gd name="csY107" fmla="*/ 100142 h 131540"/>
                  <a:gd name="csX108" fmla="*/ 298043 w 774192"/>
                  <a:gd name="csY108" fmla="*/ 77283 h 131540"/>
                  <a:gd name="csX109" fmla="*/ 311188 w 774192"/>
                  <a:gd name="csY109" fmla="*/ 49945 h 131540"/>
                  <a:gd name="csX110" fmla="*/ 330143 w 774192"/>
                  <a:gd name="csY110" fmla="*/ 21942 h 131540"/>
                  <a:gd name="csX111" fmla="*/ 283661 w 774192"/>
                  <a:gd name="csY111" fmla="*/ 21942 h 131540"/>
                  <a:gd name="csX112" fmla="*/ 272707 w 774192"/>
                  <a:gd name="csY112" fmla="*/ 19370 h 131540"/>
                  <a:gd name="csX113" fmla="*/ 269182 w 774192"/>
                  <a:gd name="csY113" fmla="*/ 11085 h 131540"/>
                  <a:gd name="csX114" fmla="*/ 272993 w 774192"/>
                  <a:gd name="csY114" fmla="*/ 3274 h 131540"/>
                  <a:gd name="csX115" fmla="*/ 283661 w 774192"/>
                  <a:gd name="csY115" fmla="*/ 1560 h 131540"/>
                  <a:gd name="csX116" fmla="*/ 536264 w 774192"/>
                  <a:gd name="csY116" fmla="*/ 75853 h 131540"/>
                  <a:gd name="csX117" fmla="*/ 536264 w 774192"/>
                  <a:gd name="csY117" fmla="*/ 100333 h 131540"/>
                  <a:gd name="csX118" fmla="*/ 535312 w 774192"/>
                  <a:gd name="csY118" fmla="*/ 108144 h 131540"/>
                  <a:gd name="csX119" fmla="*/ 531692 w 774192"/>
                  <a:gd name="csY119" fmla="*/ 113288 h 131540"/>
                  <a:gd name="csX120" fmla="*/ 525214 w 774192"/>
                  <a:gd name="csY120" fmla="*/ 117860 h 131540"/>
                  <a:gd name="csX121" fmla="*/ 503022 w 774192"/>
                  <a:gd name="csY121" fmla="*/ 126908 h 131540"/>
                  <a:gd name="csX122" fmla="*/ 479685 w 774192"/>
                  <a:gd name="csY122" fmla="*/ 129766 h 131540"/>
                  <a:gd name="csX123" fmla="*/ 453015 w 774192"/>
                  <a:gd name="csY123" fmla="*/ 125289 h 131540"/>
                  <a:gd name="csX124" fmla="*/ 432346 w 774192"/>
                  <a:gd name="csY124" fmla="*/ 112144 h 131540"/>
                  <a:gd name="csX125" fmla="*/ 419296 w 774192"/>
                  <a:gd name="csY125" fmla="*/ 91380 h 131540"/>
                  <a:gd name="csX126" fmla="*/ 414725 w 774192"/>
                  <a:gd name="csY126" fmla="*/ 64042 h 131540"/>
                  <a:gd name="csX127" fmla="*/ 419201 w 774192"/>
                  <a:gd name="csY127" fmla="*/ 36802 h 131540"/>
                  <a:gd name="csX128" fmla="*/ 432250 w 774192"/>
                  <a:gd name="csY128" fmla="*/ 15943 h 131540"/>
                  <a:gd name="csX129" fmla="*/ 453111 w 774192"/>
                  <a:gd name="csY129" fmla="*/ 2797 h 131540"/>
                  <a:gd name="csX130" fmla="*/ 481114 w 774192"/>
                  <a:gd name="csY130" fmla="*/ -1775 h 131540"/>
                  <a:gd name="csX131" fmla="*/ 503879 w 774192"/>
                  <a:gd name="csY131" fmla="*/ 1655 h 131540"/>
                  <a:gd name="csX132" fmla="*/ 519881 w 774192"/>
                  <a:gd name="csY132" fmla="*/ 10227 h 131540"/>
                  <a:gd name="csX133" fmla="*/ 529215 w 774192"/>
                  <a:gd name="csY133" fmla="*/ 21275 h 131540"/>
                  <a:gd name="csX134" fmla="*/ 532358 w 774192"/>
                  <a:gd name="csY134" fmla="*/ 31658 h 131540"/>
                  <a:gd name="csX135" fmla="*/ 528643 w 774192"/>
                  <a:gd name="csY135" fmla="*/ 39946 h 131540"/>
                  <a:gd name="csX136" fmla="*/ 520071 w 774192"/>
                  <a:gd name="csY136" fmla="*/ 43373 h 131540"/>
                  <a:gd name="csX137" fmla="*/ 514737 w 774192"/>
                  <a:gd name="csY137" fmla="*/ 42041 h 131540"/>
                  <a:gd name="csX138" fmla="*/ 510451 w 774192"/>
                  <a:gd name="csY138" fmla="*/ 38420 h 131540"/>
                  <a:gd name="csX139" fmla="*/ 502354 w 774192"/>
                  <a:gd name="csY139" fmla="*/ 27086 h 131540"/>
                  <a:gd name="csX140" fmla="*/ 493401 w 774192"/>
                  <a:gd name="csY140" fmla="*/ 20705 h 131540"/>
                  <a:gd name="csX141" fmla="*/ 479209 w 774192"/>
                  <a:gd name="csY141" fmla="*/ 18038 h 131540"/>
                  <a:gd name="csX142" fmla="*/ 463207 w 774192"/>
                  <a:gd name="csY142" fmla="*/ 21179 h 131540"/>
                  <a:gd name="csX143" fmla="*/ 451110 w 774192"/>
                  <a:gd name="csY143" fmla="*/ 30135 h 131540"/>
                  <a:gd name="csX144" fmla="*/ 443490 w 774192"/>
                  <a:gd name="csY144" fmla="*/ 44518 h 131540"/>
                  <a:gd name="csX145" fmla="*/ 440918 w 774192"/>
                  <a:gd name="csY145" fmla="*/ 63282 h 131540"/>
                  <a:gd name="csX146" fmla="*/ 451110 w 774192"/>
                  <a:gd name="csY146" fmla="*/ 97761 h 131540"/>
                  <a:gd name="csX147" fmla="*/ 479875 w 774192"/>
                  <a:gd name="csY147" fmla="*/ 109858 h 131540"/>
                  <a:gd name="csX148" fmla="*/ 496639 w 774192"/>
                  <a:gd name="csY148" fmla="*/ 107477 h 131540"/>
                  <a:gd name="csX149" fmla="*/ 512642 w 774192"/>
                  <a:gd name="csY149" fmla="*/ 100809 h 131540"/>
                  <a:gd name="csX150" fmla="*/ 512642 w 774192"/>
                  <a:gd name="csY150" fmla="*/ 80141 h 131540"/>
                  <a:gd name="csX151" fmla="*/ 492639 w 774192"/>
                  <a:gd name="csY151" fmla="*/ 80141 h 131540"/>
                  <a:gd name="csX152" fmla="*/ 481686 w 774192"/>
                  <a:gd name="csY152" fmla="*/ 77950 h 131540"/>
                  <a:gd name="csX153" fmla="*/ 478066 w 774192"/>
                  <a:gd name="csY153" fmla="*/ 70616 h 131540"/>
                  <a:gd name="csX154" fmla="*/ 481114 w 774192"/>
                  <a:gd name="csY154" fmla="*/ 63568 h 131540"/>
                  <a:gd name="csX155" fmla="*/ 489496 w 774192"/>
                  <a:gd name="csY155" fmla="*/ 60805 h 131540"/>
                  <a:gd name="csX156" fmla="*/ 518738 w 774192"/>
                  <a:gd name="csY156" fmla="*/ 60805 h 131540"/>
                  <a:gd name="csX157" fmla="*/ 527882 w 774192"/>
                  <a:gd name="csY157" fmla="*/ 61756 h 131540"/>
                  <a:gd name="csX158" fmla="*/ 533883 w 774192"/>
                  <a:gd name="csY158" fmla="*/ 66044 h 131540"/>
                  <a:gd name="csX159" fmla="*/ 536264 w 774192"/>
                  <a:gd name="csY159" fmla="*/ 75853 h 131540"/>
                  <a:gd name="csX160" fmla="*/ 586746 w 774192"/>
                  <a:gd name="csY160" fmla="*/ 13847 h 131540"/>
                  <a:gd name="csX161" fmla="*/ 586746 w 774192"/>
                  <a:gd name="csY161" fmla="*/ 50327 h 131540"/>
                  <a:gd name="csX162" fmla="*/ 642372 w 774192"/>
                  <a:gd name="csY162" fmla="*/ 50327 h 131540"/>
                  <a:gd name="csX163" fmla="*/ 642372 w 774192"/>
                  <a:gd name="csY163" fmla="*/ 13847 h 131540"/>
                  <a:gd name="csX164" fmla="*/ 645897 w 774192"/>
                  <a:gd name="csY164" fmla="*/ 2129 h 131540"/>
                  <a:gd name="csX165" fmla="*/ 655136 w 774192"/>
                  <a:gd name="csY165" fmla="*/ -1775 h 131540"/>
                  <a:gd name="csX166" fmla="*/ 664565 w 774192"/>
                  <a:gd name="csY166" fmla="*/ 2129 h 131540"/>
                  <a:gd name="csX167" fmla="*/ 668185 w 774192"/>
                  <a:gd name="csY167" fmla="*/ 13847 h 131540"/>
                  <a:gd name="csX168" fmla="*/ 668185 w 774192"/>
                  <a:gd name="csY168" fmla="*/ 114144 h 131540"/>
                  <a:gd name="csX169" fmla="*/ 664565 w 774192"/>
                  <a:gd name="csY169" fmla="*/ 125859 h 131540"/>
                  <a:gd name="csX170" fmla="*/ 655136 w 774192"/>
                  <a:gd name="csY170" fmla="*/ 129766 h 131540"/>
                  <a:gd name="csX171" fmla="*/ 645897 w 774192"/>
                  <a:gd name="csY171" fmla="*/ 125859 h 131540"/>
                  <a:gd name="csX172" fmla="*/ 642372 w 774192"/>
                  <a:gd name="csY172" fmla="*/ 114144 h 131540"/>
                  <a:gd name="csX173" fmla="*/ 642372 w 774192"/>
                  <a:gd name="csY173" fmla="*/ 71281 h 131540"/>
                  <a:gd name="csX174" fmla="*/ 586746 w 774192"/>
                  <a:gd name="csY174" fmla="*/ 71281 h 131540"/>
                  <a:gd name="csX175" fmla="*/ 586746 w 774192"/>
                  <a:gd name="csY175" fmla="*/ 114144 h 131540"/>
                  <a:gd name="csX176" fmla="*/ 583126 w 774192"/>
                  <a:gd name="csY176" fmla="*/ 125859 h 131540"/>
                  <a:gd name="csX177" fmla="*/ 573696 w 774192"/>
                  <a:gd name="csY177" fmla="*/ 129766 h 131540"/>
                  <a:gd name="csX178" fmla="*/ 564457 w 774192"/>
                  <a:gd name="csY178" fmla="*/ 125859 h 131540"/>
                  <a:gd name="csX179" fmla="*/ 560933 w 774192"/>
                  <a:gd name="csY179" fmla="*/ 114144 h 131540"/>
                  <a:gd name="csX180" fmla="*/ 560933 w 774192"/>
                  <a:gd name="csY180" fmla="*/ 13847 h 131540"/>
                  <a:gd name="csX181" fmla="*/ 564362 w 774192"/>
                  <a:gd name="csY181" fmla="*/ 2129 h 131540"/>
                  <a:gd name="csX182" fmla="*/ 573696 w 774192"/>
                  <a:gd name="csY182" fmla="*/ -1775 h 131540"/>
                  <a:gd name="csX183" fmla="*/ 583126 w 774192"/>
                  <a:gd name="csY183" fmla="*/ 2129 h 131540"/>
                  <a:gd name="csX184" fmla="*/ 586746 w 774192"/>
                  <a:gd name="csY184" fmla="*/ 13847 h 131540"/>
                  <a:gd name="csX185" fmla="*/ 758672 w 774192"/>
                  <a:gd name="csY185" fmla="*/ 60614 h 131540"/>
                  <a:gd name="csX186" fmla="*/ 715239 w 774192"/>
                  <a:gd name="csY186" fmla="*/ 109190 h 131540"/>
                  <a:gd name="csX187" fmla="*/ 761720 w 774192"/>
                  <a:gd name="csY187" fmla="*/ 109190 h 131540"/>
                  <a:gd name="csX188" fmla="*/ 770197 w 774192"/>
                  <a:gd name="csY188" fmla="*/ 111858 h 131540"/>
                  <a:gd name="csX189" fmla="*/ 773055 w 774192"/>
                  <a:gd name="csY189" fmla="*/ 118622 h 131540"/>
                  <a:gd name="csX190" fmla="*/ 770197 w 774192"/>
                  <a:gd name="csY190" fmla="*/ 125099 h 131540"/>
                  <a:gd name="csX191" fmla="*/ 761720 w 774192"/>
                  <a:gd name="csY191" fmla="*/ 127671 h 131540"/>
                  <a:gd name="csX192" fmla="*/ 697426 w 774192"/>
                  <a:gd name="csY192" fmla="*/ 127671 h 131540"/>
                  <a:gd name="csX193" fmla="*/ 687330 w 774192"/>
                  <a:gd name="csY193" fmla="*/ 124717 h 131540"/>
                  <a:gd name="csX194" fmla="*/ 683997 w 774192"/>
                  <a:gd name="csY194" fmla="*/ 116620 h 131540"/>
                  <a:gd name="csX195" fmla="*/ 686378 w 774192"/>
                  <a:gd name="csY195" fmla="*/ 110525 h 131540"/>
                  <a:gd name="csX196" fmla="*/ 696094 w 774192"/>
                  <a:gd name="csY196" fmla="*/ 99191 h 131540"/>
                  <a:gd name="csX197" fmla="*/ 710190 w 774192"/>
                  <a:gd name="csY197" fmla="*/ 83473 h 131540"/>
                  <a:gd name="csX198" fmla="*/ 722097 w 774192"/>
                  <a:gd name="csY198" fmla="*/ 70330 h 131540"/>
                  <a:gd name="csX199" fmla="*/ 731145 w 774192"/>
                  <a:gd name="csY199" fmla="*/ 59947 h 131540"/>
                  <a:gd name="csX200" fmla="*/ 736955 w 774192"/>
                  <a:gd name="csY200" fmla="*/ 52612 h 131540"/>
                  <a:gd name="csX201" fmla="*/ 701713 w 774192"/>
                  <a:gd name="csY201" fmla="*/ 52612 h 131540"/>
                  <a:gd name="csX202" fmla="*/ 690664 w 774192"/>
                  <a:gd name="csY202" fmla="*/ 51375 h 131540"/>
                  <a:gd name="csX203" fmla="*/ 686949 w 774192"/>
                  <a:gd name="csY203" fmla="*/ 44518 h 131540"/>
                  <a:gd name="csX204" fmla="*/ 689711 w 774192"/>
                  <a:gd name="csY204" fmla="*/ 37944 h 131540"/>
                  <a:gd name="csX205" fmla="*/ 697807 w 774192"/>
                  <a:gd name="csY205" fmla="*/ 35562 h 131540"/>
                  <a:gd name="csX206" fmla="*/ 752195 w 774192"/>
                  <a:gd name="csY206" fmla="*/ 35562 h 131540"/>
                  <a:gd name="csX207" fmla="*/ 763816 w 774192"/>
                  <a:gd name="csY207" fmla="*/ 37753 h 131540"/>
                  <a:gd name="csX208" fmla="*/ 767816 w 774192"/>
                  <a:gd name="csY208" fmla="*/ 45659 h 131540"/>
                  <a:gd name="csX209" fmla="*/ 767054 w 774192"/>
                  <a:gd name="csY209" fmla="*/ 49659 h 131540"/>
                  <a:gd name="csX210" fmla="*/ 765339 w 774192"/>
                  <a:gd name="csY210" fmla="*/ 52994 h 131540"/>
                  <a:gd name="csX211" fmla="*/ 762769 w 774192"/>
                  <a:gd name="csY211" fmla="*/ 56233 h 131540"/>
                  <a:gd name="csX212" fmla="*/ 758672 w 774192"/>
                  <a:gd name="csY212" fmla="*/ 60614 h 1315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</a:cxnLst>
                <a:rect l="l" t="t" r="r" b="b"/>
                <a:pathLst>
                  <a:path w="774192" h="131540">
                    <a:moveTo>
                      <a:pt x="28676" y="107190"/>
                    </a:moveTo>
                    <a:lnTo>
                      <a:pt x="74015" y="107190"/>
                    </a:lnTo>
                    <a:cubicBezTo>
                      <a:pt x="78492" y="107190"/>
                      <a:pt x="82016" y="108049"/>
                      <a:pt x="84302" y="109953"/>
                    </a:cubicBezTo>
                    <a:cubicBezTo>
                      <a:pt x="86683" y="111762"/>
                      <a:pt x="87921" y="114334"/>
                      <a:pt x="87921" y="117478"/>
                    </a:cubicBezTo>
                    <a:cubicBezTo>
                      <a:pt x="87921" y="120336"/>
                      <a:pt x="86969" y="122717"/>
                      <a:pt x="85065" y="124717"/>
                    </a:cubicBezTo>
                    <a:cubicBezTo>
                      <a:pt x="83159" y="126622"/>
                      <a:pt x="80397" y="127671"/>
                      <a:pt x="76492" y="127671"/>
                    </a:cubicBezTo>
                    <a:lnTo>
                      <a:pt x="12675" y="127671"/>
                    </a:lnTo>
                    <a:cubicBezTo>
                      <a:pt x="8292" y="127671"/>
                      <a:pt x="4864" y="126431"/>
                      <a:pt x="2482" y="124050"/>
                    </a:cubicBezTo>
                    <a:cubicBezTo>
                      <a:pt x="6" y="121669"/>
                      <a:pt x="-1137" y="118811"/>
                      <a:pt x="-1137" y="115574"/>
                    </a:cubicBezTo>
                    <a:cubicBezTo>
                      <a:pt x="-1137" y="113478"/>
                      <a:pt x="-374" y="110716"/>
                      <a:pt x="1149" y="107286"/>
                    </a:cubicBezTo>
                    <a:cubicBezTo>
                      <a:pt x="2768" y="103858"/>
                      <a:pt x="4482" y="101095"/>
                      <a:pt x="6293" y="99191"/>
                    </a:cubicBezTo>
                    <a:cubicBezTo>
                      <a:pt x="14007" y="91189"/>
                      <a:pt x="20961" y="84331"/>
                      <a:pt x="27152" y="78711"/>
                    </a:cubicBezTo>
                    <a:cubicBezTo>
                      <a:pt x="33343" y="72902"/>
                      <a:pt x="37726" y="69186"/>
                      <a:pt x="40392" y="67377"/>
                    </a:cubicBezTo>
                    <a:cubicBezTo>
                      <a:pt x="45154" y="64042"/>
                      <a:pt x="49060" y="60710"/>
                      <a:pt x="52203" y="57280"/>
                    </a:cubicBezTo>
                    <a:cubicBezTo>
                      <a:pt x="55442" y="53947"/>
                      <a:pt x="57823" y="50422"/>
                      <a:pt x="59442" y="46899"/>
                    </a:cubicBezTo>
                    <a:cubicBezTo>
                      <a:pt x="61061" y="43278"/>
                      <a:pt x="61918" y="39850"/>
                      <a:pt x="61918" y="36420"/>
                    </a:cubicBezTo>
                    <a:cubicBezTo>
                      <a:pt x="61918" y="32707"/>
                      <a:pt x="61061" y="29372"/>
                      <a:pt x="59251" y="26514"/>
                    </a:cubicBezTo>
                    <a:cubicBezTo>
                      <a:pt x="57537" y="23561"/>
                      <a:pt x="55156" y="21275"/>
                      <a:pt x="52013" y="19656"/>
                    </a:cubicBezTo>
                    <a:cubicBezTo>
                      <a:pt x="49060" y="18038"/>
                      <a:pt x="45726" y="17180"/>
                      <a:pt x="42107" y="17180"/>
                    </a:cubicBezTo>
                    <a:cubicBezTo>
                      <a:pt x="34582" y="17180"/>
                      <a:pt x="28581" y="20514"/>
                      <a:pt x="24295" y="27181"/>
                    </a:cubicBezTo>
                    <a:cubicBezTo>
                      <a:pt x="23723" y="28039"/>
                      <a:pt x="22675" y="30421"/>
                      <a:pt x="21342" y="34325"/>
                    </a:cubicBezTo>
                    <a:cubicBezTo>
                      <a:pt x="20008" y="38230"/>
                      <a:pt x="18485" y="41183"/>
                      <a:pt x="16675" y="43278"/>
                    </a:cubicBezTo>
                    <a:cubicBezTo>
                      <a:pt x="15056" y="45373"/>
                      <a:pt x="12579" y="46422"/>
                      <a:pt x="9245" y="46422"/>
                    </a:cubicBezTo>
                    <a:cubicBezTo>
                      <a:pt x="6388" y="46422"/>
                      <a:pt x="3911" y="45469"/>
                      <a:pt x="2007" y="43564"/>
                    </a:cubicBezTo>
                    <a:cubicBezTo>
                      <a:pt x="101" y="41564"/>
                      <a:pt x="-851" y="38992"/>
                      <a:pt x="-851" y="35658"/>
                    </a:cubicBezTo>
                    <a:cubicBezTo>
                      <a:pt x="-851" y="31753"/>
                      <a:pt x="101" y="27563"/>
                      <a:pt x="1911" y="23182"/>
                    </a:cubicBezTo>
                    <a:cubicBezTo>
                      <a:pt x="3625" y="18894"/>
                      <a:pt x="6293" y="14894"/>
                      <a:pt x="9817" y="11371"/>
                    </a:cubicBezTo>
                    <a:cubicBezTo>
                      <a:pt x="13436" y="7845"/>
                      <a:pt x="17913" y="4987"/>
                      <a:pt x="23438" y="2892"/>
                    </a:cubicBezTo>
                    <a:cubicBezTo>
                      <a:pt x="28867" y="702"/>
                      <a:pt x="35344" y="-440"/>
                      <a:pt x="42678" y="-440"/>
                    </a:cubicBezTo>
                    <a:cubicBezTo>
                      <a:pt x="51536" y="-440"/>
                      <a:pt x="59061" y="988"/>
                      <a:pt x="65347" y="3750"/>
                    </a:cubicBezTo>
                    <a:cubicBezTo>
                      <a:pt x="69348" y="5655"/>
                      <a:pt x="72968" y="8131"/>
                      <a:pt x="76015" y="11371"/>
                    </a:cubicBezTo>
                    <a:cubicBezTo>
                      <a:pt x="79064" y="14608"/>
                      <a:pt x="81445" y="18419"/>
                      <a:pt x="83159" y="22705"/>
                    </a:cubicBezTo>
                    <a:cubicBezTo>
                      <a:pt x="84874" y="26895"/>
                      <a:pt x="85731" y="31277"/>
                      <a:pt x="85731" y="35848"/>
                    </a:cubicBezTo>
                    <a:cubicBezTo>
                      <a:pt x="85731" y="43087"/>
                      <a:pt x="83922" y="49566"/>
                      <a:pt x="80397" y="55470"/>
                    </a:cubicBezTo>
                    <a:cubicBezTo>
                      <a:pt x="76778" y="61377"/>
                      <a:pt x="73158" y="65949"/>
                      <a:pt x="69539" y="69281"/>
                    </a:cubicBezTo>
                    <a:cubicBezTo>
                      <a:pt x="65824" y="72616"/>
                      <a:pt x="59537" y="77855"/>
                      <a:pt x="50870" y="84903"/>
                    </a:cubicBezTo>
                    <a:cubicBezTo>
                      <a:pt x="42107" y="92047"/>
                      <a:pt x="36201" y="97570"/>
                      <a:pt x="32963" y="101477"/>
                    </a:cubicBezTo>
                    <a:cubicBezTo>
                      <a:pt x="31534" y="103095"/>
                      <a:pt x="30105" y="105000"/>
                      <a:pt x="28676" y="107190"/>
                    </a:cubicBezTo>
                    <a:close/>
                    <a:moveTo>
                      <a:pt x="122593" y="129766"/>
                    </a:moveTo>
                    <a:cubicBezTo>
                      <a:pt x="119068" y="129766"/>
                      <a:pt x="115925" y="128622"/>
                      <a:pt x="113354" y="126336"/>
                    </a:cubicBezTo>
                    <a:cubicBezTo>
                      <a:pt x="110782" y="124050"/>
                      <a:pt x="109448" y="120813"/>
                      <a:pt x="109448" y="116620"/>
                    </a:cubicBezTo>
                    <a:cubicBezTo>
                      <a:pt x="109448" y="113097"/>
                      <a:pt x="110686" y="110048"/>
                      <a:pt x="113163" y="107477"/>
                    </a:cubicBezTo>
                    <a:cubicBezTo>
                      <a:pt x="115639" y="105000"/>
                      <a:pt x="118688" y="103667"/>
                      <a:pt x="122402" y="103667"/>
                    </a:cubicBezTo>
                    <a:cubicBezTo>
                      <a:pt x="126021" y="103667"/>
                      <a:pt x="129070" y="105000"/>
                      <a:pt x="131642" y="107477"/>
                    </a:cubicBezTo>
                    <a:cubicBezTo>
                      <a:pt x="134308" y="109953"/>
                      <a:pt x="135546" y="113002"/>
                      <a:pt x="135546" y="116620"/>
                    </a:cubicBezTo>
                    <a:cubicBezTo>
                      <a:pt x="135546" y="120718"/>
                      <a:pt x="134308" y="123955"/>
                      <a:pt x="131642" y="126336"/>
                    </a:cubicBezTo>
                    <a:cubicBezTo>
                      <a:pt x="129070" y="128622"/>
                      <a:pt x="126117" y="129766"/>
                      <a:pt x="122593" y="129766"/>
                    </a:cubicBezTo>
                    <a:close/>
                    <a:moveTo>
                      <a:pt x="162217" y="32707"/>
                    </a:moveTo>
                    <a:cubicBezTo>
                      <a:pt x="162217" y="26895"/>
                      <a:pt x="163741" y="21465"/>
                      <a:pt x="166884" y="16322"/>
                    </a:cubicBezTo>
                    <a:cubicBezTo>
                      <a:pt x="170122" y="11180"/>
                      <a:pt x="174695" y="7083"/>
                      <a:pt x="180790" y="4036"/>
                    </a:cubicBezTo>
                    <a:cubicBezTo>
                      <a:pt x="186886" y="988"/>
                      <a:pt x="194125" y="-631"/>
                      <a:pt x="202221" y="-631"/>
                    </a:cubicBezTo>
                    <a:cubicBezTo>
                      <a:pt x="209176" y="-631"/>
                      <a:pt x="215176" y="320"/>
                      <a:pt x="220414" y="2129"/>
                    </a:cubicBezTo>
                    <a:cubicBezTo>
                      <a:pt x="225558" y="3941"/>
                      <a:pt x="229939" y="6418"/>
                      <a:pt x="233368" y="9559"/>
                    </a:cubicBezTo>
                    <a:cubicBezTo>
                      <a:pt x="236893" y="12703"/>
                      <a:pt x="239464" y="16229"/>
                      <a:pt x="241179" y="20228"/>
                    </a:cubicBezTo>
                    <a:cubicBezTo>
                      <a:pt x="242798" y="24228"/>
                      <a:pt x="243656" y="28419"/>
                      <a:pt x="243656" y="32802"/>
                    </a:cubicBezTo>
                    <a:cubicBezTo>
                      <a:pt x="243656" y="38516"/>
                      <a:pt x="242132" y="43564"/>
                      <a:pt x="239178" y="48041"/>
                    </a:cubicBezTo>
                    <a:cubicBezTo>
                      <a:pt x="236322" y="52517"/>
                      <a:pt x="232035" y="56138"/>
                      <a:pt x="226225" y="58996"/>
                    </a:cubicBezTo>
                    <a:cubicBezTo>
                      <a:pt x="231082" y="60900"/>
                      <a:pt x="235179" y="63377"/>
                      <a:pt x="238417" y="66519"/>
                    </a:cubicBezTo>
                    <a:cubicBezTo>
                      <a:pt x="241655" y="69567"/>
                      <a:pt x="244132" y="73188"/>
                      <a:pt x="245751" y="77283"/>
                    </a:cubicBezTo>
                    <a:cubicBezTo>
                      <a:pt x="247370" y="81378"/>
                      <a:pt x="248228" y="85855"/>
                      <a:pt x="248228" y="90808"/>
                    </a:cubicBezTo>
                    <a:cubicBezTo>
                      <a:pt x="248228" y="98142"/>
                      <a:pt x="246513" y="104714"/>
                      <a:pt x="242989" y="110716"/>
                    </a:cubicBezTo>
                    <a:cubicBezTo>
                      <a:pt x="239464" y="116620"/>
                      <a:pt x="234226" y="121287"/>
                      <a:pt x="227463" y="124622"/>
                    </a:cubicBezTo>
                    <a:cubicBezTo>
                      <a:pt x="220605" y="127957"/>
                      <a:pt x="212509" y="129670"/>
                      <a:pt x="203270" y="129670"/>
                    </a:cubicBezTo>
                    <a:cubicBezTo>
                      <a:pt x="193650" y="129670"/>
                      <a:pt x="185457" y="127957"/>
                      <a:pt x="178600" y="124622"/>
                    </a:cubicBezTo>
                    <a:cubicBezTo>
                      <a:pt x="171837" y="121287"/>
                      <a:pt x="166693" y="116620"/>
                      <a:pt x="163169" y="110811"/>
                    </a:cubicBezTo>
                    <a:cubicBezTo>
                      <a:pt x="159740" y="104905"/>
                      <a:pt x="157931" y="98333"/>
                      <a:pt x="157931" y="90998"/>
                    </a:cubicBezTo>
                    <a:cubicBezTo>
                      <a:pt x="157931" y="75474"/>
                      <a:pt x="165360" y="64805"/>
                      <a:pt x="180029" y="58996"/>
                    </a:cubicBezTo>
                    <a:cubicBezTo>
                      <a:pt x="168122" y="53375"/>
                      <a:pt x="162217" y="44613"/>
                      <a:pt x="162217" y="32707"/>
                    </a:cubicBezTo>
                    <a:close/>
                    <a:moveTo>
                      <a:pt x="224511" y="90140"/>
                    </a:moveTo>
                    <a:cubicBezTo>
                      <a:pt x="224511" y="85664"/>
                      <a:pt x="223557" y="81664"/>
                      <a:pt x="221653" y="78329"/>
                    </a:cubicBezTo>
                    <a:cubicBezTo>
                      <a:pt x="219844" y="74997"/>
                      <a:pt x="217272" y="72425"/>
                      <a:pt x="213843" y="70616"/>
                    </a:cubicBezTo>
                    <a:cubicBezTo>
                      <a:pt x="210508" y="68804"/>
                      <a:pt x="206794" y="67949"/>
                      <a:pt x="202603" y="67949"/>
                    </a:cubicBezTo>
                    <a:cubicBezTo>
                      <a:pt x="196697" y="67949"/>
                      <a:pt x="191744" y="69853"/>
                      <a:pt x="187744" y="73853"/>
                    </a:cubicBezTo>
                    <a:cubicBezTo>
                      <a:pt x="183743" y="77760"/>
                      <a:pt x="181744" y="83283"/>
                      <a:pt x="181744" y="90331"/>
                    </a:cubicBezTo>
                    <a:cubicBezTo>
                      <a:pt x="181744" y="94810"/>
                      <a:pt x="182696" y="98810"/>
                      <a:pt x="184505" y="102333"/>
                    </a:cubicBezTo>
                    <a:cubicBezTo>
                      <a:pt x="186411" y="105667"/>
                      <a:pt x="188983" y="108335"/>
                      <a:pt x="192221" y="110239"/>
                    </a:cubicBezTo>
                    <a:cubicBezTo>
                      <a:pt x="195459" y="112144"/>
                      <a:pt x="199079" y="113097"/>
                      <a:pt x="203079" y="113097"/>
                    </a:cubicBezTo>
                    <a:cubicBezTo>
                      <a:pt x="207175" y="113097"/>
                      <a:pt x="210794" y="112144"/>
                      <a:pt x="214032" y="110239"/>
                    </a:cubicBezTo>
                    <a:cubicBezTo>
                      <a:pt x="217272" y="108239"/>
                      <a:pt x="219844" y="105572"/>
                      <a:pt x="221653" y="102142"/>
                    </a:cubicBezTo>
                    <a:cubicBezTo>
                      <a:pt x="223557" y="98619"/>
                      <a:pt x="224511" y="94619"/>
                      <a:pt x="224511" y="90140"/>
                    </a:cubicBezTo>
                    <a:close/>
                    <a:moveTo>
                      <a:pt x="202793" y="16038"/>
                    </a:moveTo>
                    <a:cubicBezTo>
                      <a:pt x="197364" y="16038"/>
                      <a:pt x="192887" y="17752"/>
                      <a:pt x="189554" y="21084"/>
                    </a:cubicBezTo>
                    <a:cubicBezTo>
                      <a:pt x="186315" y="24514"/>
                      <a:pt x="184600" y="28800"/>
                      <a:pt x="184600" y="34134"/>
                    </a:cubicBezTo>
                    <a:cubicBezTo>
                      <a:pt x="184600" y="39088"/>
                      <a:pt x="186315" y="43183"/>
                      <a:pt x="189744" y="46422"/>
                    </a:cubicBezTo>
                    <a:cubicBezTo>
                      <a:pt x="193173" y="49754"/>
                      <a:pt x="197554" y="51375"/>
                      <a:pt x="202984" y="51375"/>
                    </a:cubicBezTo>
                    <a:cubicBezTo>
                      <a:pt x="205651" y="51375"/>
                      <a:pt x="208127" y="50899"/>
                      <a:pt x="210319" y="50040"/>
                    </a:cubicBezTo>
                    <a:cubicBezTo>
                      <a:pt x="212604" y="49185"/>
                      <a:pt x="214509" y="47945"/>
                      <a:pt x="216033" y="46422"/>
                    </a:cubicBezTo>
                    <a:cubicBezTo>
                      <a:pt x="217652" y="44897"/>
                      <a:pt x="218890" y="43087"/>
                      <a:pt x="219748" y="40992"/>
                    </a:cubicBezTo>
                    <a:cubicBezTo>
                      <a:pt x="220605" y="38897"/>
                      <a:pt x="221082" y="36516"/>
                      <a:pt x="221082" y="33944"/>
                    </a:cubicBezTo>
                    <a:cubicBezTo>
                      <a:pt x="221082" y="30516"/>
                      <a:pt x="220319" y="27467"/>
                      <a:pt x="218701" y="24800"/>
                    </a:cubicBezTo>
                    <a:cubicBezTo>
                      <a:pt x="217272" y="22038"/>
                      <a:pt x="215081" y="19942"/>
                      <a:pt x="212318" y="18324"/>
                    </a:cubicBezTo>
                    <a:cubicBezTo>
                      <a:pt x="209556" y="16798"/>
                      <a:pt x="206318" y="16038"/>
                      <a:pt x="202793" y="16038"/>
                    </a:cubicBezTo>
                    <a:close/>
                    <a:moveTo>
                      <a:pt x="283661" y="1560"/>
                    </a:moveTo>
                    <a:lnTo>
                      <a:pt x="341477" y="1560"/>
                    </a:lnTo>
                    <a:cubicBezTo>
                      <a:pt x="347097" y="1560"/>
                      <a:pt x="351097" y="2415"/>
                      <a:pt x="353574" y="4227"/>
                    </a:cubicBezTo>
                    <a:cubicBezTo>
                      <a:pt x="356050" y="5941"/>
                      <a:pt x="357289" y="8799"/>
                      <a:pt x="357289" y="12799"/>
                    </a:cubicBezTo>
                    <a:cubicBezTo>
                      <a:pt x="357289" y="15180"/>
                      <a:pt x="355860" y="18419"/>
                      <a:pt x="352908" y="22419"/>
                    </a:cubicBezTo>
                    <a:cubicBezTo>
                      <a:pt x="349954" y="26419"/>
                      <a:pt x="346621" y="30800"/>
                      <a:pt x="342906" y="35658"/>
                    </a:cubicBezTo>
                    <a:cubicBezTo>
                      <a:pt x="339191" y="40515"/>
                      <a:pt x="335287" y="46517"/>
                      <a:pt x="331381" y="53661"/>
                    </a:cubicBezTo>
                    <a:cubicBezTo>
                      <a:pt x="327380" y="60805"/>
                      <a:pt x="323760" y="69663"/>
                      <a:pt x="320522" y="79950"/>
                    </a:cubicBezTo>
                    <a:cubicBezTo>
                      <a:pt x="319093" y="84522"/>
                      <a:pt x="318141" y="88331"/>
                      <a:pt x="317570" y="91380"/>
                    </a:cubicBezTo>
                    <a:cubicBezTo>
                      <a:pt x="316998" y="94333"/>
                      <a:pt x="316332" y="98238"/>
                      <a:pt x="315664" y="103095"/>
                    </a:cubicBezTo>
                    <a:cubicBezTo>
                      <a:pt x="314903" y="107858"/>
                      <a:pt x="314331" y="111572"/>
                      <a:pt x="313760" y="114144"/>
                    </a:cubicBezTo>
                    <a:cubicBezTo>
                      <a:pt x="312617" y="120050"/>
                      <a:pt x="310807" y="124145"/>
                      <a:pt x="308616" y="126431"/>
                    </a:cubicBezTo>
                    <a:cubicBezTo>
                      <a:pt x="306425" y="128717"/>
                      <a:pt x="303472" y="129766"/>
                      <a:pt x="299757" y="129766"/>
                    </a:cubicBezTo>
                    <a:cubicBezTo>
                      <a:pt x="296233" y="129766"/>
                      <a:pt x="293376" y="128622"/>
                      <a:pt x="291186" y="126145"/>
                    </a:cubicBezTo>
                    <a:cubicBezTo>
                      <a:pt x="289089" y="123669"/>
                      <a:pt x="288042" y="120050"/>
                      <a:pt x="288042" y="115192"/>
                    </a:cubicBezTo>
                    <a:cubicBezTo>
                      <a:pt x="288042" y="111572"/>
                      <a:pt x="288804" y="106525"/>
                      <a:pt x="290328" y="100142"/>
                    </a:cubicBezTo>
                    <a:cubicBezTo>
                      <a:pt x="291947" y="93761"/>
                      <a:pt x="294424" y="86141"/>
                      <a:pt x="298043" y="77283"/>
                    </a:cubicBezTo>
                    <a:cubicBezTo>
                      <a:pt x="301568" y="68330"/>
                      <a:pt x="305949" y="59279"/>
                      <a:pt x="311188" y="49945"/>
                    </a:cubicBezTo>
                    <a:cubicBezTo>
                      <a:pt x="316521" y="40611"/>
                      <a:pt x="322808" y="31277"/>
                      <a:pt x="330143" y="21942"/>
                    </a:cubicBezTo>
                    <a:lnTo>
                      <a:pt x="283661" y="21942"/>
                    </a:lnTo>
                    <a:cubicBezTo>
                      <a:pt x="278803" y="21942"/>
                      <a:pt x="275183" y="21084"/>
                      <a:pt x="272707" y="19370"/>
                    </a:cubicBezTo>
                    <a:cubicBezTo>
                      <a:pt x="270325" y="17561"/>
                      <a:pt x="269182" y="14798"/>
                      <a:pt x="269182" y="11085"/>
                    </a:cubicBezTo>
                    <a:cubicBezTo>
                      <a:pt x="269182" y="7083"/>
                      <a:pt x="270421" y="4511"/>
                      <a:pt x="272993" y="3274"/>
                    </a:cubicBezTo>
                    <a:cubicBezTo>
                      <a:pt x="275565" y="2129"/>
                      <a:pt x="279089" y="1560"/>
                      <a:pt x="283661" y="1560"/>
                    </a:cubicBezTo>
                    <a:close/>
                    <a:moveTo>
                      <a:pt x="536264" y="75853"/>
                    </a:moveTo>
                    <a:lnTo>
                      <a:pt x="536264" y="100333"/>
                    </a:lnTo>
                    <a:cubicBezTo>
                      <a:pt x="536264" y="103572"/>
                      <a:pt x="535882" y="106144"/>
                      <a:pt x="535312" y="108144"/>
                    </a:cubicBezTo>
                    <a:cubicBezTo>
                      <a:pt x="534644" y="110048"/>
                      <a:pt x="533406" y="111762"/>
                      <a:pt x="531692" y="113288"/>
                    </a:cubicBezTo>
                    <a:cubicBezTo>
                      <a:pt x="530072" y="114906"/>
                      <a:pt x="527882" y="116429"/>
                      <a:pt x="525214" y="117860"/>
                    </a:cubicBezTo>
                    <a:cubicBezTo>
                      <a:pt x="517500" y="121955"/>
                      <a:pt x="510070" y="125003"/>
                      <a:pt x="503022" y="126908"/>
                    </a:cubicBezTo>
                    <a:cubicBezTo>
                      <a:pt x="495878" y="128812"/>
                      <a:pt x="488067" y="129766"/>
                      <a:pt x="479685" y="129766"/>
                    </a:cubicBezTo>
                    <a:cubicBezTo>
                      <a:pt x="469970" y="129766"/>
                      <a:pt x="461016" y="128336"/>
                      <a:pt x="453015" y="125289"/>
                    </a:cubicBezTo>
                    <a:cubicBezTo>
                      <a:pt x="444919" y="122336"/>
                      <a:pt x="438060" y="117955"/>
                      <a:pt x="432346" y="112144"/>
                    </a:cubicBezTo>
                    <a:cubicBezTo>
                      <a:pt x="426726" y="106430"/>
                      <a:pt x="422345" y="99477"/>
                      <a:pt x="419296" y="91380"/>
                    </a:cubicBezTo>
                    <a:cubicBezTo>
                      <a:pt x="416249" y="83187"/>
                      <a:pt x="414725" y="74044"/>
                      <a:pt x="414725" y="64042"/>
                    </a:cubicBezTo>
                    <a:cubicBezTo>
                      <a:pt x="414725" y="54138"/>
                      <a:pt x="416249" y="45087"/>
                      <a:pt x="419201" y="36802"/>
                    </a:cubicBezTo>
                    <a:cubicBezTo>
                      <a:pt x="422154" y="28609"/>
                      <a:pt x="426536" y="21656"/>
                      <a:pt x="432250" y="15943"/>
                    </a:cubicBezTo>
                    <a:cubicBezTo>
                      <a:pt x="437965" y="10227"/>
                      <a:pt x="444919" y="5845"/>
                      <a:pt x="453111" y="2797"/>
                    </a:cubicBezTo>
                    <a:cubicBezTo>
                      <a:pt x="461397" y="-252"/>
                      <a:pt x="470636" y="-1775"/>
                      <a:pt x="481114" y="-1775"/>
                    </a:cubicBezTo>
                    <a:cubicBezTo>
                      <a:pt x="489686" y="-1775"/>
                      <a:pt x="497212" y="-631"/>
                      <a:pt x="503879" y="1655"/>
                    </a:cubicBezTo>
                    <a:cubicBezTo>
                      <a:pt x="510451" y="3941"/>
                      <a:pt x="515785" y="6797"/>
                      <a:pt x="519881" y="10227"/>
                    </a:cubicBezTo>
                    <a:cubicBezTo>
                      <a:pt x="523976" y="13752"/>
                      <a:pt x="527120" y="17370"/>
                      <a:pt x="529215" y="21275"/>
                    </a:cubicBezTo>
                    <a:cubicBezTo>
                      <a:pt x="531311" y="25182"/>
                      <a:pt x="532358" y="28609"/>
                      <a:pt x="532358" y="31658"/>
                    </a:cubicBezTo>
                    <a:cubicBezTo>
                      <a:pt x="532358" y="34897"/>
                      <a:pt x="531120" y="37660"/>
                      <a:pt x="528643" y="39946"/>
                    </a:cubicBezTo>
                    <a:cubicBezTo>
                      <a:pt x="526262" y="42232"/>
                      <a:pt x="523405" y="43373"/>
                      <a:pt x="520071" y="43373"/>
                    </a:cubicBezTo>
                    <a:cubicBezTo>
                      <a:pt x="518261" y="43373"/>
                      <a:pt x="516451" y="42897"/>
                      <a:pt x="514737" y="42041"/>
                    </a:cubicBezTo>
                    <a:cubicBezTo>
                      <a:pt x="513022" y="41183"/>
                      <a:pt x="511594" y="39946"/>
                      <a:pt x="510451" y="38420"/>
                    </a:cubicBezTo>
                    <a:cubicBezTo>
                      <a:pt x="507212" y="33372"/>
                      <a:pt x="504545" y="29658"/>
                      <a:pt x="502354" y="27086"/>
                    </a:cubicBezTo>
                    <a:cubicBezTo>
                      <a:pt x="500164" y="24609"/>
                      <a:pt x="497212" y="22419"/>
                      <a:pt x="493401" y="20705"/>
                    </a:cubicBezTo>
                    <a:cubicBezTo>
                      <a:pt x="489686" y="18989"/>
                      <a:pt x="485019" y="18038"/>
                      <a:pt x="479209" y="18038"/>
                    </a:cubicBezTo>
                    <a:cubicBezTo>
                      <a:pt x="473208" y="18038"/>
                      <a:pt x="467874" y="19084"/>
                      <a:pt x="463207" y="21179"/>
                    </a:cubicBezTo>
                    <a:cubicBezTo>
                      <a:pt x="458539" y="23277"/>
                      <a:pt x="454539" y="26228"/>
                      <a:pt x="451110" y="30135"/>
                    </a:cubicBezTo>
                    <a:cubicBezTo>
                      <a:pt x="447871" y="34039"/>
                      <a:pt x="445300" y="38802"/>
                      <a:pt x="443490" y="44518"/>
                    </a:cubicBezTo>
                    <a:cubicBezTo>
                      <a:pt x="441775" y="50136"/>
                      <a:pt x="440918" y="56424"/>
                      <a:pt x="440918" y="63282"/>
                    </a:cubicBezTo>
                    <a:cubicBezTo>
                      <a:pt x="440918" y="78234"/>
                      <a:pt x="444347" y="89761"/>
                      <a:pt x="451110" y="97761"/>
                    </a:cubicBezTo>
                    <a:cubicBezTo>
                      <a:pt x="458064" y="105858"/>
                      <a:pt x="467589" y="109858"/>
                      <a:pt x="479875" y="109858"/>
                    </a:cubicBezTo>
                    <a:cubicBezTo>
                      <a:pt x="485876" y="109858"/>
                      <a:pt x="491401" y="109097"/>
                      <a:pt x="496639" y="107477"/>
                    </a:cubicBezTo>
                    <a:cubicBezTo>
                      <a:pt x="501879" y="105953"/>
                      <a:pt x="507212" y="103667"/>
                      <a:pt x="512642" y="100809"/>
                    </a:cubicBezTo>
                    <a:lnTo>
                      <a:pt x="512642" y="80141"/>
                    </a:lnTo>
                    <a:lnTo>
                      <a:pt x="492639" y="80141"/>
                    </a:lnTo>
                    <a:cubicBezTo>
                      <a:pt x="487876" y="80141"/>
                      <a:pt x="484162" y="79474"/>
                      <a:pt x="481686" y="77950"/>
                    </a:cubicBezTo>
                    <a:cubicBezTo>
                      <a:pt x="479304" y="76520"/>
                      <a:pt x="478066" y="74044"/>
                      <a:pt x="478066" y="70616"/>
                    </a:cubicBezTo>
                    <a:cubicBezTo>
                      <a:pt x="478066" y="67758"/>
                      <a:pt x="479114" y="65377"/>
                      <a:pt x="481114" y="63568"/>
                    </a:cubicBezTo>
                    <a:cubicBezTo>
                      <a:pt x="483209" y="61756"/>
                      <a:pt x="485971" y="60805"/>
                      <a:pt x="489496" y="60805"/>
                    </a:cubicBezTo>
                    <a:lnTo>
                      <a:pt x="518738" y="60805"/>
                    </a:lnTo>
                    <a:cubicBezTo>
                      <a:pt x="522358" y="60805"/>
                      <a:pt x="525405" y="61091"/>
                      <a:pt x="527882" y="61756"/>
                    </a:cubicBezTo>
                    <a:cubicBezTo>
                      <a:pt x="530358" y="62423"/>
                      <a:pt x="532358" y="63758"/>
                      <a:pt x="533883" y="66044"/>
                    </a:cubicBezTo>
                    <a:cubicBezTo>
                      <a:pt x="535407" y="68235"/>
                      <a:pt x="536264" y="71472"/>
                      <a:pt x="536264" y="75853"/>
                    </a:cubicBezTo>
                    <a:close/>
                    <a:moveTo>
                      <a:pt x="586746" y="13847"/>
                    </a:moveTo>
                    <a:lnTo>
                      <a:pt x="586746" y="50327"/>
                    </a:lnTo>
                    <a:lnTo>
                      <a:pt x="642372" y="50327"/>
                    </a:lnTo>
                    <a:lnTo>
                      <a:pt x="642372" y="13847"/>
                    </a:lnTo>
                    <a:cubicBezTo>
                      <a:pt x="642372" y="8608"/>
                      <a:pt x="643515" y="4701"/>
                      <a:pt x="645897" y="2129"/>
                    </a:cubicBezTo>
                    <a:cubicBezTo>
                      <a:pt x="648278" y="-536"/>
                      <a:pt x="651325" y="-1775"/>
                      <a:pt x="655136" y="-1775"/>
                    </a:cubicBezTo>
                    <a:cubicBezTo>
                      <a:pt x="659041" y="-1775"/>
                      <a:pt x="662184" y="-536"/>
                      <a:pt x="664565" y="2129"/>
                    </a:cubicBezTo>
                    <a:cubicBezTo>
                      <a:pt x="666947" y="4606"/>
                      <a:pt x="668185" y="8513"/>
                      <a:pt x="668185" y="13847"/>
                    </a:cubicBezTo>
                    <a:lnTo>
                      <a:pt x="668185" y="114144"/>
                    </a:lnTo>
                    <a:cubicBezTo>
                      <a:pt x="668185" y="119383"/>
                      <a:pt x="666947" y="123289"/>
                      <a:pt x="664565" y="125859"/>
                    </a:cubicBezTo>
                    <a:cubicBezTo>
                      <a:pt x="662089" y="128526"/>
                      <a:pt x="658946" y="129766"/>
                      <a:pt x="655136" y="129766"/>
                    </a:cubicBezTo>
                    <a:cubicBezTo>
                      <a:pt x="651325" y="129766"/>
                      <a:pt x="648183" y="128526"/>
                      <a:pt x="645897" y="125859"/>
                    </a:cubicBezTo>
                    <a:cubicBezTo>
                      <a:pt x="643515" y="123289"/>
                      <a:pt x="642372" y="119287"/>
                      <a:pt x="642372" y="114144"/>
                    </a:cubicBezTo>
                    <a:lnTo>
                      <a:pt x="642372" y="71281"/>
                    </a:lnTo>
                    <a:lnTo>
                      <a:pt x="586746" y="71281"/>
                    </a:lnTo>
                    <a:lnTo>
                      <a:pt x="586746" y="114144"/>
                    </a:lnTo>
                    <a:cubicBezTo>
                      <a:pt x="586746" y="119383"/>
                      <a:pt x="585507" y="123289"/>
                      <a:pt x="583126" y="125859"/>
                    </a:cubicBezTo>
                    <a:cubicBezTo>
                      <a:pt x="580651" y="128526"/>
                      <a:pt x="577507" y="129766"/>
                      <a:pt x="573696" y="129766"/>
                    </a:cubicBezTo>
                    <a:cubicBezTo>
                      <a:pt x="569887" y="129766"/>
                      <a:pt x="566743" y="128526"/>
                      <a:pt x="564457" y="125859"/>
                    </a:cubicBezTo>
                    <a:cubicBezTo>
                      <a:pt x="562172" y="123289"/>
                      <a:pt x="560933" y="119287"/>
                      <a:pt x="560933" y="114144"/>
                    </a:cubicBezTo>
                    <a:lnTo>
                      <a:pt x="560933" y="13847"/>
                    </a:lnTo>
                    <a:cubicBezTo>
                      <a:pt x="560933" y="8608"/>
                      <a:pt x="562076" y="4701"/>
                      <a:pt x="564362" y="2129"/>
                    </a:cubicBezTo>
                    <a:cubicBezTo>
                      <a:pt x="566648" y="-536"/>
                      <a:pt x="569792" y="-1775"/>
                      <a:pt x="573696" y="-1775"/>
                    </a:cubicBezTo>
                    <a:cubicBezTo>
                      <a:pt x="577602" y="-1775"/>
                      <a:pt x="580745" y="-536"/>
                      <a:pt x="583126" y="2129"/>
                    </a:cubicBezTo>
                    <a:cubicBezTo>
                      <a:pt x="585507" y="4606"/>
                      <a:pt x="586746" y="8513"/>
                      <a:pt x="586746" y="13847"/>
                    </a:cubicBezTo>
                    <a:close/>
                    <a:moveTo>
                      <a:pt x="758672" y="60614"/>
                    </a:moveTo>
                    <a:lnTo>
                      <a:pt x="715239" y="109190"/>
                    </a:lnTo>
                    <a:lnTo>
                      <a:pt x="761720" y="109190"/>
                    </a:lnTo>
                    <a:cubicBezTo>
                      <a:pt x="765435" y="109190"/>
                      <a:pt x="768293" y="110048"/>
                      <a:pt x="770197" y="111858"/>
                    </a:cubicBezTo>
                    <a:cubicBezTo>
                      <a:pt x="772103" y="113574"/>
                      <a:pt x="773055" y="115860"/>
                      <a:pt x="773055" y="118622"/>
                    </a:cubicBezTo>
                    <a:cubicBezTo>
                      <a:pt x="773055" y="121287"/>
                      <a:pt x="772103" y="123478"/>
                      <a:pt x="770197" y="125099"/>
                    </a:cubicBezTo>
                    <a:cubicBezTo>
                      <a:pt x="768388" y="126813"/>
                      <a:pt x="765530" y="127671"/>
                      <a:pt x="761720" y="127671"/>
                    </a:cubicBezTo>
                    <a:lnTo>
                      <a:pt x="697426" y="127671"/>
                    </a:lnTo>
                    <a:cubicBezTo>
                      <a:pt x="692950" y="127671"/>
                      <a:pt x="689521" y="126622"/>
                      <a:pt x="687330" y="124717"/>
                    </a:cubicBezTo>
                    <a:cubicBezTo>
                      <a:pt x="685044" y="122717"/>
                      <a:pt x="683997" y="120050"/>
                      <a:pt x="683997" y="116620"/>
                    </a:cubicBezTo>
                    <a:cubicBezTo>
                      <a:pt x="683997" y="114620"/>
                      <a:pt x="684758" y="112525"/>
                      <a:pt x="686378" y="110525"/>
                    </a:cubicBezTo>
                    <a:cubicBezTo>
                      <a:pt x="687901" y="108430"/>
                      <a:pt x="691140" y="104619"/>
                      <a:pt x="696094" y="99191"/>
                    </a:cubicBezTo>
                    <a:cubicBezTo>
                      <a:pt x="701236" y="93380"/>
                      <a:pt x="705999" y="88140"/>
                      <a:pt x="710190" y="83473"/>
                    </a:cubicBezTo>
                    <a:cubicBezTo>
                      <a:pt x="714476" y="78806"/>
                      <a:pt x="718477" y="74425"/>
                      <a:pt x="722097" y="70330"/>
                    </a:cubicBezTo>
                    <a:cubicBezTo>
                      <a:pt x="725716" y="66235"/>
                      <a:pt x="728764" y="62805"/>
                      <a:pt x="731145" y="59947"/>
                    </a:cubicBezTo>
                    <a:cubicBezTo>
                      <a:pt x="733526" y="57089"/>
                      <a:pt x="735526" y="54612"/>
                      <a:pt x="736955" y="52612"/>
                    </a:cubicBezTo>
                    <a:lnTo>
                      <a:pt x="701713" y="52612"/>
                    </a:lnTo>
                    <a:cubicBezTo>
                      <a:pt x="696855" y="52612"/>
                      <a:pt x="693140" y="52231"/>
                      <a:pt x="690664" y="51375"/>
                    </a:cubicBezTo>
                    <a:cubicBezTo>
                      <a:pt x="688187" y="50422"/>
                      <a:pt x="686949" y="48136"/>
                      <a:pt x="686949" y="44518"/>
                    </a:cubicBezTo>
                    <a:cubicBezTo>
                      <a:pt x="686949" y="41755"/>
                      <a:pt x="687901" y="39564"/>
                      <a:pt x="689711" y="37944"/>
                    </a:cubicBezTo>
                    <a:cubicBezTo>
                      <a:pt x="691616" y="36325"/>
                      <a:pt x="694283" y="35562"/>
                      <a:pt x="697807" y="35562"/>
                    </a:cubicBezTo>
                    <a:lnTo>
                      <a:pt x="752195" y="35562"/>
                    </a:lnTo>
                    <a:cubicBezTo>
                      <a:pt x="757243" y="35562"/>
                      <a:pt x="761149" y="36325"/>
                      <a:pt x="763816" y="37753"/>
                    </a:cubicBezTo>
                    <a:cubicBezTo>
                      <a:pt x="766482" y="39278"/>
                      <a:pt x="767816" y="41850"/>
                      <a:pt x="767816" y="45659"/>
                    </a:cubicBezTo>
                    <a:cubicBezTo>
                      <a:pt x="767816" y="46994"/>
                      <a:pt x="767626" y="48327"/>
                      <a:pt x="767054" y="49659"/>
                    </a:cubicBezTo>
                    <a:cubicBezTo>
                      <a:pt x="766578" y="50994"/>
                      <a:pt x="766007" y="52136"/>
                      <a:pt x="765339" y="52994"/>
                    </a:cubicBezTo>
                    <a:cubicBezTo>
                      <a:pt x="764673" y="53852"/>
                      <a:pt x="763816" y="54898"/>
                      <a:pt x="762769" y="56233"/>
                    </a:cubicBezTo>
                    <a:cubicBezTo>
                      <a:pt x="761626" y="57375"/>
                      <a:pt x="760292" y="58900"/>
                      <a:pt x="758672" y="60614"/>
                    </a:cubicBezTo>
                    <a:close/>
                  </a:path>
                </a:pathLst>
              </a:custGeom>
              <a:solidFill>
                <a:srgbClr val="2F4FB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30" name="Graphic 78">
                <a:extLst>
                  <a:ext uri="{FF2B5EF4-FFF2-40B4-BE49-F238E27FC236}">
                    <a16:creationId xmlns:a16="http://schemas.microsoft.com/office/drawing/2014/main" id="{C9D15E07-6BA1-833C-32AA-F2F72283B939}"/>
                  </a:ext>
                </a:extLst>
              </p:cNvPr>
              <p:cNvGrpSpPr/>
              <p:nvPr/>
            </p:nvGrpSpPr>
            <p:grpSpPr>
              <a:xfrm>
                <a:off x="9721154" y="5850796"/>
                <a:ext cx="916870" cy="431545"/>
                <a:chOff x="9263982" y="6126703"/>
                <a:chExt cx="654463" cy="308037"/>
              </a:xfrm>
              <a:solidFill>
                <a:srgbClr val="000000"/>
              </a:solidFill>
            </p:grpSpPr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4F0B1F17-9FBF-37B0-F02D-B72F31CEF438}"/>
                    </a:ext>
                  </a:extLst>
                </p:cNvPr>
                <p:cNvSpPr/>
                <p:nvPr/>
              </p:nvSpPr>
              <p:spPr>
                <a:xfrm>
                  <a:off x="9263982" y="6126703"/>
                  <a:ext cx="556164" cy="308037"/>
                </a:xfrm>
                <a:custGeom>
                  <a:avLst/>
                  <a:gdLst>
                    <a:gd name="csX0" fmla="*/ 76587 w 556164"/>
                    <a:gd name="csY0" fmla="*/ 34418 h 308037"/>
                    <a:gd name="csX1" fmla="*/ 192602 w 556164"/>
                    <a:gd name="csY1" fmla="*/ 209966 h 308037"/>
                    <a:gd name="csX2" fmla="*/ 192602 w 556164"/>
                    <a:gd name="csY2" fmla="*/ 32800 h 308037"/>
                    <a:gd name="csX3" fmla="*/ 199935 w 556164"/>
                    <a:gd name="csY3" fmla="*/ 6987 h 308037"/>
                    <a:gd name="csX4" fmla="*/ 220034 w 556164"/>
                    <a:gd name="csY4" fmla="*/ -1775 h 308037"/>
                    <a:gd name="csX5" fmla="*/ 240607 w 556164"/>
                    <a:gd name="csY5" fmla="*/ 6987 h 308037"/>
                    <a:gd name="csX6" fmla="*/ 248133 w 556164"/>
                    <a:gd name="csY6" fmla="*/ 32800 h 308037"/>
                    <a:gd name="csX7" fmla="*/ 248133 w 556164"/>
                    <a:gd name="csY7" fmla="*/ 267020 h 308037"/>
                    <a:gd name="csX8" fmla="*/ 215557 w 556164"/>
                    <a:gd name="csY8" fmla="*/ 306262 h 308037"/>
                    <a:gd name="csX9" fmla="*/ 200984 w 556164"/>
                    <a:gd name="csY9" fmla="*/ 303785 h 308037"/>
                    <a:gd name="csX10" fmla="*/ 188792 w 556164"/>
                    <a:gd name="csY10" fmla="*/ 296451 h 308037"/>
                    <a:gd name="csX11" fmla="*/ 178219 w 556164"/>
                    <a:gd name="csY11" fmla="*/ 284735 h 308037"/>
                    <a:gd name="csX12" fmla="*/ 168408 w 556164"/>
                    <a:gd name="csY12" fmla="*/ 270734 h 308037"/>
                    <a:gd name="csX13" fmla="*/ 55251 w 556164"/>
                    <a:gd name="csY13" fmla="*/ 97189 h 308037"/>
                    <a:gd name="csX14" fmla="*/ 55251 w 556164"/>
                    <a:gd name="csY14" fmla="*/ 271687 h 308037"/>
                    <a:gd name="csX15" fmla="*/ 47346 w 556164"/>
                    <a:gd name="csY15" fmla="*/ 297500 h 308037"/>
                    <a:gd name="csX16" fmla="*/ 27058 w 556164"/>
                    <a:gd name="csY16" fmla="*/ 306262 h 308037"/>
                    <a:gd name="csX17" fmla="*/ 6579 w 556164"/>
                    <a:gd name="csY17" fmla="*/ 297500 h 308037"/>
                    <a:gd name="csX18" fmla="*/ -1137 w 556164"/>
                    <a:gd name="csY18" fmla="*/ 271687 h 308037"/>
                    <a:gd name="csX19" fmla="*/ -1137 w 556164"/>
                    <a:gd name="csY19" fmla="*/ 41943 h 308037"/>
                    <a:gd name="csX20" fmla="*/ 2102 w 556164"/>
                    <a:gd name="csY20" fmla="*/ 18989 h 308037"/>
                    <a:gd name="csX21" fmla="*/ 14865 w 556164"/>
                    <a:gd name="csY21" fmla="*/ 4129 h 308037"/>
                    <a:gd name="csX22" fmla="*/ 34201 w 556164"/>
                    <a:gd name="csY22" fmla="*/ -1775 h 308037"/>
                    <a:gd name="csX23" fmla="*/ 48012 w 556164"/>
                    <a:gd name="csY23" fmla="*/ 890 h 308037"/>
                    <a:gd name="csX24" fmla="*/ 58109 w 556164"/>
                    <a:gd name="csY24" fmla="*/ 8034 h 308037"/>
                    <a:gd name="csX25" fmla="*/ 67062 w 556164"/>
                    <a:gd name="csY25" fmla="*/ 19561 h 308037"/>
                    <a:gd name="csX26" fmla="*/ 76587 w 556164"/>
                    <a:gd name="csY26" fmla="*/ 34418 h 308037"/>
                    <a:gd name="csX27" fmla="*/ 358241 w 556164"/>
                    <a:gd name="csY27" fmla="*/ 37848 h 308037"/>
                    <a:gd name="csX28" fmla="*/ 425679 w 556164"/>
                    <a:gd name="csY28" fmla="*/ 237587 h 308037"/>
                    <a:gd name="csX29" fmla="*/ 493306 w 556164"/>
                    <a:gd name="csY29" fmla="*/ 36420 h 308037"/>
                    <a:gd name="csX30" fmla="*/ 501211 w 556164"/>
                    <a:gd name="csY30" fmla="*/ 14512 h 308037"/>
                    <a:gd name="csX31" fmla="*/ 509975 w 556164"/>
                    <a:gd name="csY31" fmla="*/ 3367 h 308037"/>
                    <a:gd name="csX32" fmla="*/ 526643 w 556164"/>
                    <a:gd name="csY32" fmla="*/ -1775 h 308037"/>
                    <a:gd name="csX33" fmla="*/ 540836 w 556164"/>
                    <a:gd name="csY33" fmla="*/ 2129 h 308037"/>
                    <a:gd name="csX34" fmla="*/ 551218 w 556164"/>
                    <a:gd name="csY34" fmla="*/ 12513 h 308037"/>
                    <a:gd name="csX35" fmla="*/ 555028 w 556164"/>
                    <a:gd name="csY35" fmla="*/ 25275 h 308037"/>
                    <a:gd name="csX36" fmla="*/ 553789 w 556164"/>
                    <a:gd name="csY36" fmla="*/ 34990 h 308037"/>
                    <a:gd name="csX37" fmla="*/ 550742 w 556164"/>
                    <a:gd name="csY37" fmla="*/ 45183 h 308037"/>
                    <a:gd name="csX38" fmla="*/ 547122 w 556164"/>
                    <a:gd name="csY38" fmla="*/ 55375 h 308037"/>
                    <a:gd name="csX39" fmla="*/ 475018 w 556164"/>
                    <a:gd name="csY39" fmla="*/ 249970 h 308037"/>
                    <a:gd name="csX40" fmla="*/ 467303 w 556164"/>
                    <a:gd name="csY40" fmla="*/ 271306 h 308037"/>
                    <a:gd name="csX41" fmla="*/ 458349 w 556164"/>
                    <a:gd name="csY41" fmla="*/ 289021 h 308037"/>
                    <a:gd name="csX42" fmla="*/ 444729 w 556164"/>
                    <a:gd name="csY42" fmla="*/ 301404 h 308037"/>
                    <a:gd name="csX43" fmla="*/ 424250 w 556164"/>
                    <a:gd name="csY43" fmla="*/ 306262 h 308037"/>
                    <a:gd name="csX44" fmla="*/ 403485 w 556164"/>
                    <a:gd name="csY44" fmla="*/ 301404 h 308037"/>
                    <a:gd name="csX45" fmla="*/ 389865 w 556164"/>
                    <a:gd name="csY45" fmla="*/ 289021 h 308037"/>
                    <a:gd name="csX46" fmla="*/ 380910 w 556164"/>
                    <a:gd name="csY46" fmla="*/ 271115 h 308037"/>
                    <a:gd name="csX47" fmla="*/ 373196 w 556164"/>
                    <a:gd name="csY47" fmla="*/ 249970 h 308037"/>
                    <a:gd name="csX48" fmla="*/ 302329 w 556164"/>
                    <a:gd name="csY48" fmla="*/ 56994 h 308037"/>
                    <a:gd name="csX49" fmla="*/ 298425 w 556164"/>
                    <a:gd name="csY49" fmla="*/ 46610 h 308037"/>
                    <a:gd name="csX50" fmla="*/ 295185 w 556164"/>
                    <a:gd name="csY50" fmla="*/ 35658 h 308037"/>
                    <a:gd name="csX51" fmla="*/ 294043 w 556164"/>
                    <a:gd name="csY51" fmla="*/ 25656 h 308037"/>
                    <a:gd name="csX52" fmla="*/ 302329 w 556164"/>
                    <a:gd name="csY52" fmla="*/ 6797 h 308037"/>
                    <a:gd name="csX53" fmla="*/ 323285 w 556164"/>
                    <a:gd name="csY53" fmla="*/ -1775 h 308037"/>
                    <a:gd name="csX54" fmla="*/ 345002 w 556164"/>
                    <a:gd name="csY54" fmla="*/ 7845 h 308037"/>
                    <a:gd name="csX55" fmla="*/ 358241 w 556164"/>
                    <a:gd name="csY55" fmla="*/ 37848 h 3080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</a:cxnLst>
                  <a:rect l="l" t="t" r="r" b="b"/>
                  <a:pathLst>
                    <a:path w="556164" h="308037">
                      <a:moveTo>
                        <a:pt x="76587" y="34418"/>
                      </a:moveTo>
                      <a:lnTo>
                        <a:pt x="192602" y="209966"/>
                      </a:lnTo>
                      <a:lnTo>
                        <a:pt x="192602" y="32800"/>
                      </a:lnTo>
                      <a:cubicBezTo>
                        <a:pt x="192602" y="21275"/>
                        <a:pt x="195078" y="12701"/>
                        <a:pt x="199935" y="6987"/>
                      </a:cubicBezTo>
                      <a:cubicBezTo>
                        <a:pt x="204984" y="1176"/>
                        <a:pt x="211652" y="-1775"/>
                        <a:pt x="220034" y="-1775"/>
                      </a:cubicBezTo>
                      <a:cubicBezTo>
                        <a:pt x="228701" y="-1775"/>
                        <a:pt x="235559" y="1176"/>
                        <a:pt x="240607" y="6987"/>
                      </a:cubicBezTo>
                      <a:cubicBezTo>
                        <a:pt x="245561" y="12701"/>
                        <a:pt x="248133" y="21275"/>
                        <a:pt x="248133" y="32800"/>
                      </a:cubicBezTo>
                      <a:lnTo>
                        <a:pt x="248133" y="267020"/>
                      </a:lnTo>
                      <a:cubicBezTo>
                        <a:pt x="248133" y="293214"/>
                        <a:pt x="237274" y="306262"/>
                        <a:pt x="215557" y="306262"/>
                      </a:cubicBezTo>
                      <a:cubicBezTo>
                        <a:pt x="210128" y="306262"/>
                        <a:pt x="205270" y="305406"/>
                        <a:pt x="200984" y="303785"/>
                      </a:cubicBezTo>
                      <a:cubicBezTo>
                        <a:pt x="196602" y="302358"/>
                        <a:pt x="192602" y="299881"/>
                        <a:pt x="188792" y="296451"/>
                      </a:cubicBezTo>
                      <a:cubicBezTo>
                        <a:pt x="184982" y="293119"/>
                        <a:pt x="181458" y="289212"/>
                        <a:pt x="178219" y="284735"/>
                      </a:cubicBezTo>
                      <a:cubicBezTo>
                        <a:pt x="174980" y="280068"/>
                        <a:pt x="171742" y="275401"/>
                        <a:pt x="168408" y="270734"/>
                      </a:cubicBezTo>
                      <a:lnTo>
                        <a:pt x="55251" y="97189"/>
                      </a:lnTo>
                      <a:lnTo>
                        <a:pt x="55251" y="271687"/>
                      </a:lnTo>
                      <a:cubicBezTo>
                        <a:pt x="55251" y="283117"/>
                        <a:pt x="52679" y="291689"/>
                        <a:pt x="47346" y="297500"/>
                      </a:cubicBezTo>
                      <a:cubicBezTo>
                        <a:pt x="42107" y="303309"/>
                        <a:pt x="35344" y="306262"/>
                        <a:pt x="27058" y="306262"/>
                      </a:cubicBezTo>
                      <a:cubicBezTo>
                        <a:pt x="18485" y="306262"/>
                        <a:pt x="11721" y="303309"/>
                        <a:pt x="6579" y="297500"/>
                      </a:cubicBezTo>
                      <a:cubicBezTo>
                        <a:pt x="1435" y="291593"/>
                        <a:pt x="-1137" y="282926"/>
                        <a:pt x="-1137" y="271687"/>
                      </a:cubicBezTo>
                      <a:lnTo>
                        <a:pt x="-1137" y="41943"/>
                      </a:lnTo>
                      <a:cubicBezTo>
                        <a:pt x="-1137" y="32228"/>
                        <a:pt x="-90" y="24514"/>
                        <a:pt x="2102" y="18989"/>
                      </a:cubicBezTo>
                      <a:cubicBezTo>
                        <a:pt x="4673" y="12892"/>
                        <a:pt x="8865" y="7938"/>
                        <a:pt x="14865" y="4129"/>
                      </a:cubicBezTo>
                      <a:cubicBezTo>
                        <a:pt x="20866" y="225"/>
                        <a:pt x="27247" y="-1775"/>
                        <a:pt x="34201" y="-1775"/>
                      </a:cubicBezTo>
                      <a:cubicBezTo>
                        <a:pt x="39630" y="-1775"/>
                        <a:pt x="44202" y="-824"/>
                        <a:pt x="48012" y="890"/>
                      </a:cubicBezTo>
                      <a:cubicBezTo>
                        <a:pt x="51918" y="2702"/>
                        <a:pt x="55251" y="5083"/>
                        <a:pt x="58109" y="8034"/>
                      </a:cubicBezTo>
                      <a:cubicBezTo>
                        <a:pt x="61157" y="10987"/>
                        <a:pt x="64109" y="14894"/>
                        <a:pt x="67062" y="19561"/>
                      </a:cubicBezTo>
                      <a:cubicBezTo>
                        <a:pt x="70205" y="24323"/>
                        <a:pt x="73349" y="29277"/>
                        <a:pt x="76587" y="34418"/>
                      </a:cubicBezTo>
                      <a:close/>
                      <a:moveTo>
                        <a:pt x="358241" y="37848"/>
                      </a:moveTo>
                      <a:lnTo>
                        <a:pt x="425679" y="237587"/>
                      </a:lnTo>
                      <a:lnTo>
                        <a:pt x="493306" y="36420"/>
                      </a:lnTo>
                      <a:cubicBezTo>
                        <a:pt x="496830" y="25847"/>
                        <a:pt x="499497" y="18608"/>
                        <a:pt x="501211" y="14512"/>
                      </a:cubicBezTo>
                      <a:cubicBezTo>
                        <a:pt x="503022" y="10320"/>
                        <a:pt x="505878" y="6606"/>
                        <a:pt x="509975" y="3367"/>
                      </a:cubicBezTo>
                      <a:cubicBezTo>
                        <a:pt x="513976" y="-61"/>
                        <a:pt x="519595" y="-1775"/>
                        <a:pt x="526643" y="-1775"/>
                      </a:cubicBezTo>
                      <a:cubicBezTo>
                        <a:pt x="531787" y="-1775"/>
                        <a:pt x="536454" y="-442"/>
                        <a:pt x="540836" y="2129"/>
                      </a:cubicBezTo>
                      <a:cubicBezTo>
                        <a:pt x="545312" y="4701"/>
                        <a:pt x="548741" y="8129"/>
                        <a:pt x="551218" y="12513"/>
                      </a:cubicBezTo>
                      <a:cubicBezTo>
                        <a:pt x="553789" y="16703"/>
                        <a:pt x="555028" y="20989"/>
                        <a:pt x="555028" y="25275"/>
                      </a:cubicBezTo>
                      <a:cubicBezTo>
                        <a:pt x="555028" y="28228"/>
                        <a:pt x="554646" y="31467"/>
                        <a:pt x="553789" y="34990"/>
                      </a:cubicBezTo>
                      <a:cubicBezTo>
                        <a:pt x="553028" y="38420"/>
                        <a:pt x="551980" y="41848"/>
                        <a:pt x="550742" y="45183"/>
                      </a:cubicBezTo>
                      <a:cubicBezTo>
                        <a:pt x="549599" y="48420"/>
                        <a:pt x="548361" y="51850"/>
                        <a:pt x="547122" y="55375"/>
                      </a:cubicBezTo>
                      <a:lnTo>
                        <a:pt x="475018" y="249970"/>
                      </a:lnTo>
                      <a:cubicBezTo>
                        <a:pt x="472447" y="257400"/>
                        <a:pt x="469875" y="264544"/>
                        <a:pt x="467303" y="271306"/>
                      </a:cubicBezTo>
                      <a:cubicBezTo>
                        <a:pt x="464731" y="277973"/>
                        <a:pt x="461778" y="283784"/>
                        <a:pt x="458349" y="289021"/>
                      </a:cubicBezTo>
                      <a:cubicBezTo>
                        <a:pt x="454920" y="293974"/>
                        <a:pt x="450443" y="298167"/>
                        <a:pt x="444729" y="301404"/>
                      </a:cubicBezTo>
                      <a:cubicBezTo>
                        <a:pt x="439203" y="304644"/>
                        <a:pt x="432346" y="306262"/>
                        <a:pt x="424250" y="306262"/>
                      </a:cubicBezTo>
                      <a:cubicBezTo>
                        <a:pt x="416058" y="306262"/>
                        <a:pt x="409201" y="304644"/>
                        <a:pt x="403485" y="301404"/>
                      </a:cubicBezTo>
                      <a:cubicBezTo>
                        <a:pt x="397961" y="298263"/>
                        <a:pt x="393389" y="294165"/>
                        <a:pt x="389865" y="289021"/>
                      </a:cubicBezTo>
                      <a:cubicBezTo>
                        <a:pt x="386531" y="283689"/>
                        <a:pt x="383482" y="277782"/>
                        <a:pt x="380910" y="271115"/>
                      </a:cubicBezTo>
                      <a:cubicBezTo>
                        <a:pt x="378340" y="264448"/>
                        <a:pt x="375768" y="257400"/>
                        <a:pt x="373196" y="249970"/>
                      </a:cubicBezTo>
                      <a:lnTo>
                        <a:pt x="302329" y="56994"/>
                      </a:lnTo>
                      <a:cubicBezTo>
                        <a:pt x="301091" y="53468"/>
                        <a:pt x="299853" y="50040"/>
                        <a:pt x="298425" y="46610"/>
                      </a:cubicBezTo>
                      <a:cubicBezTo>
                        <a:pt x="297282" y="43183"/>
                        <a:pt x="296139" y="39562"/>
                        <a:pt x="295185" y="35658"/>
                      </a:cubicBezTo>
                      <a:cubicBezTo>
                        <a:pt x="294424" y="31751"/>
                        <a:pt x="294043" y="28419"/>
                        <a:pt x="294043" y="25656"/>
                      </a:cubicBezTo>
                      <a:cubicBezTo>
                        <a:pt x="294043" y="18798"/>
                        <a:pt x="296805" y="12513"/>
                        <a:pt x="302329" y="6797"/>
                      </a:cubicBezTo>
                      <a:cubicBezTo>
                        <a:pt x="307854" y="1081"/>
                        <a:pt x="314903" y="-1775"/>
                        <a:pt x="323285" y="-1775"/>
                      </a:cubicBezTo>
                      <a:cubicBezTo>
                        <a:pt x="333571" y="-1775"/>
                        <a:pt x="340811" y="1462"/>
                        <a:pt x="345002" y="7845"/>
                      </a:cubicBezTo>
                      <a:cubicBezTo>
                        <a:pt x="349288" y="14036"/>
                        <a:pt x="353764" y="24037"/>
                        <a:pt x="358241" y="3784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8A33392F-6506-A333-12D2-9B8E5862D0D7}"/>
                    </a:ext>
                  </a:extLst>
                </p:cNvPr>
                <p:cNvSpPr/>
                <p:nvPr/>
              </p:nvSpPr>
              <p:spPr>
                <a:xfrm>
                  <a:off x="9837863" y="6176993"/>
                  <a:ext cx="80582" cy="31814"/>
                </a:xfrm>
                <a:custGeom>
                  <a:avLst/>
                  <a:gdLst>
                    <a:gd name="csX0" fmla="*/ 60014 w 80582"/>
                    <a:gd name="csY0" fmla="*/ 30039 h 31814"/>
                    <a:gd name="csX1" fmla="*/ 18294 w 80582"/>
                    <a:gd name="csY1" fmla="*/ 30039 h 31814"/>
                    <a:gd name="csX2" fmla="*/ 3721 w 80582"/>
                    <a:gd name="csY2" fmla="*/ 25658 h 31814"/>
                    <a:gd name="csX3" fmla="*/ -1137 w 80582"/>
                    <a:gd name="csY3" fmla="*/ 14229 h 31814"/>
                    <a:gd name="csX4" fmla="*/ 3625 w 80582"/>
                    <a:gd name="csY4" fmla="*/ 2704 h 31814"/>
                    <a:gd name="csX5" fmla="*/ 18294 w 80582"/>
                    <a:gd name="csY5" fmla="*/ -1775 h 31814"/>
                    <a:gd name="csX6" fmla="*/ 60014 w 80582"/>
                    <a:gd name="csY6" fmla="*/ -1775 h 31814"/>
                    <a:gd name="csX7" fmla="*/ 74492 w 80582"/>
                    <a:gd name="csY7" fmla="*/ 2704 h 31814"/>
                    <a:gd name="csX8" fmla="*/ 79445 w 80582"/>
                    <a:gd name="csY8" fmla="*/ 14229 h 31814"/>
                    <a:gd name="csX9" fmla="*/ 74683 w 80582"/>
                    <a:gd name="csY9" fmla="*/ 25658 h 31814"/>
                    <a:gd name="csX10" fmla="*/ 60014 w 80582"/>
                    <a:gd name="csY10" fmla="*/ 30039 h 3181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80582" h="31814">
                      <a:moveTo>
                        <a:pt x="60014" y="30039"/>
                      </a:moveTo>
                      <a:lnTo>
                        <a:pt x="18294" y="30039"/>
                      </a:lnTo>
                      <a:cubicBezTo>
                        <a:pt x="11912" y="30039"/>
                        <a:pt x="7054" y="28612"/>
                        <a:pt x="3721" y="25658"/>
                      </a:cubicBezTo>
                      <a:cubicBezTo>
                        <a:pt x="483" y="22705"/>
                        <a:pt x="-1137" y="18896"/>
                        <a:pt x="-1137" y="14229"/>
                      </a:cubicBezTo>
                      <a:cubicBezTo>
                        <a:pt x="-1137" y="9466"/>
                        <a:pt x="483" y="5655"/>
                        <a:pt x="3625" y="2704"/>
                      </a:cubicBezTo>
                      <a:cubicBezTo>
                        <a:pt x="6865" y="-249"/>
                        <a:pt x="11721" y="-1775"/>
                        <a:pt x="18294" y="-1775"/>
                      </a:cubicBezTo>
                      <a:lnTo>
                        <a:pt x="60014" y="-1775"/>
                      </a:lnTo>
                      <a:cubicBezTo>
                        <a:pt x="66490" y="-1775"/>
                        <a:pt x="71348" y="-249"/>
                        <a:pt x="74492" y="2704"/>
                      </a:cubicBezTo>
                      <a:cubicBezTo>
                        <a:pt x="77825" y="5655"/>
                        <a:pt x="79445" y="9466"/>
                        <a:pt x="79445" y="14229"/>
                      </a:cubicBezTo>
                      <a:cubicBezTo>
                        <a:pt x="79445" y="18896"/>
                        <a:pt x="77825" y="22705"/>
                        <a:pt x="74683" y="25658"/>
                      </a:cubicBezTo>
                      <a:cubicBezTo>
                        <a:pt x="71443" y="28612"/>
                        <a:pt x="66585" y="30039"/>
                        <a:pt x="60014" y="300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3682995A-1D07-DE47-F93C-A5BB2FFC107B}"/>
                  </a:ext>
                </a:extLst>
              </p:cNvPr>
              <p:cNvSpPr/>
              <p:nvPr/>
            </p:nvSpPr>
            <p:spPr>
              <a:xfrm>
                <a:off x="6606253" y="1115923"/>
                <a:ext cx="4364038" cy="4364039"/>
              </a:xfrm>
              <a:custGeom>
                <a:avLst/>
                <a:gdLst>
                  <a:gd name="csX0" fmla="*/ 1556391 w 3115055"/>
                  <a:gd name="csY0" fmla="*/ -1775 h 3115056"/>
                  <a:gd name="csX1" fmla="*/ -1137 w 3115055"/>
                  <a:gd name="csY1" fmla="*/ 1555753 h 3115056"/>
                  <a:gd name="csX2" fmla="*/ 1556391 w 3115055"/>
                  <a:gd name="csY2" fmla="*/ 3113282 h 3115056"/>
                  <a:gd name="csX3" fmla="*/ 3113918 w 3115055"/>
                  <a:gd name="csY3" fmla="*/ 1555753 h 3115056"/>
                  <a:gd name="csX4" fmla="*/ 1556391 w 3115055"/>
                  <a:gd name="csY4" fmla="*/ -1775 h 3115056"/>
                  <a:gd name="csX5" fmla="*/ 1556391 w 3115055"/>
                  <a:gd name="csY5" fmla="*/ 26800 h 3115056"/>
                  <a:gd name="csX6" fmla="*/ 3085343 w 3115055"/>
                  <a:gd name="csY6" fmla="*/ 1555753 h 3115056"/>
                  <a:gd name="csX7" fmla="*/ 1556391 w 3115055"/>
                  <a:gd name="csY7" fmla="*/ 3084707 h 3115056"/>
                  <a:gd name="csX8" fmla="*/ 27438 w 3115055"/>
                  <a:gd name="csY8" fmla="*/ 1555753 h 3115056"/>
                  <a:gd name="csX9" fmla="*/ 1556391 w 3115055"/>
                  <a:gd name="csY9" fmla="*/ 26800 h 3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3115055" h="3115056">
                    <a:moveTo>
                      <a:pt x="1556391" y="-1775"/>
                    </a:moveTo>
                    <a:cubicBezTo>
                      <a:pt x="696378" y="-1775"/>
                      <a:pt x="-1137" y="695741"/>
                      <a:pt x="-1137" y="1555753"/>
                    </a:cubicBezTo>
                    <a:cubicBezTo>
                      <a:pt x="-1137" y="2415766"/>
                      <a:pt x="696378" y="3113282"/>
                      <a:pt x="1556391" y="3113282"/>
                    </a:cubicBezTo>
                    <a:cubicBezTo>
                      <a:pt x="2416403" y="3113282"/>
                      <a:pt x="3113918" y="2415766"/>
                      <a:pt x="3113918" y="1555753"/>
                    </a:cubicBezTo>
                    <a:cubicBezTo>
                      <a:pt x="3113918" y="695741"/>
                      <a:pt x="2416403" y="-1775"/>
                      <a:pt x="1556391" y="-1775"/>
                    </a:cubicBezTo>
                    <a:close/>
                    <a:moveTo>
                      <a:pt x="1556391" y="26800"/>
                    </a:moveTo>
                    <a:cubicBezTo>
                      <a:pt x="2400972" y="26800"/>
                      <a:pt x="3085343" y="711170"/>
                      <a:pt x="3085343" y="1555753"/>
                    </a:cubicBezTo>
                    <a:cubicBezTo>
                      <a:pt x="3085343" y="2400334"/>
                      <a:pt x="2400972" y="3084707"/>
                      <a:pt x="1556391" y="3084707"/>
                    </a:cubicBezTo>
                    <a:cubicBezTo>
                      <a:pt x="711809" y="3084707"/>
                      <a:pt x="27438" y="2400334"/>
                      <a:pt x="27438" y="1555753"/>
                    </a:cubicBezTo>
                    <a:cubicBezTo>
                      <a:pt x="27438" y="711170"/>
                      <a:pt x="711809" y="26800"/>
                      <a:pt x="1556391" y="26800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 cap="sq">
                <a:noFill/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A3B2555-99FF-470D-030A-44E7162E123B}"/>
                  </a:ext>
                </a:extLst>
              </p:cNvPr>
              <p:cNvSpPr/>
              <p:nvPr/>
            </p:nvSpPr>
            <p:spPr>
              <a:xfrm>
                <a:off x="8947150" y="3397250"/>
                <a:ext cx="876300" cy="761372"/>
              </a:xfrm>
              <a:custGeom>
                <a:avLst/>
                <a:gdLst>
                  <a:gd name="csX0" fmla="*/ 0 w 876300"/>
                  <a:gd name="csY0" fmla="*/ 596900 h 761372"/>
                  <a:gd name="csX1" fmla="*/ 6350 w 876300"/>
                  <a:gd name="csY1" fmla="*/ 628650 h 761372"/>
                  <a:gd name="csX2" fmla="*/ 82550 w 876300"/>
                  <a:gd name="csY2" fmla="*/ 711200 h 761372"/>
                  <a:gd name="csX3" fmla="*/ 101600 w 876300"/>
                  <a:gd name="csY3" fmla="*/ 723900 h 761372"/>
                  <a:gd name="csX4" fmla="*/ 120650 w 876300"/>
                  <a:gd name="csY4" fmla="*/ 730250 h 761372"/>
                  <a:gd name="csX5" fmla="*/ 152400 w 876300"/>
                  <a:gd name="csY5" fmla="*/ 755650 h 761372"/>
                  <a:gd name="csX6" fmla="*/ 590550 w 876300"/>
                  <a:gd name="csY6" fmla="*/ 730250 h 761372"/>
                  <a:gd name="csX7" fmla="*/ 615950 w 876300"/>
                  <a:gd name="csY7" fmla="*/ 717550 h 761372"/>
                  <a:gd name="csX8" fmla="*/ 698500 w 876300"/>
                  <a:gd name="csY8" fmla="*/ 622300 h 761372"/>
                  <a:gd name="csX9" fmla="*/ 806450 w 876300"/>
                  <a:gd name="csY9" fmla="*/ 469900 h 761372"/>
                  <a:gd name="csX10" fmla="*/ 863600 w 876300"/>
                  <a:gd name="csY10" fmla="*/ 330200 h 761372"/>
                  <a:gd name="csX11" fmla="*/ 876300 w 876300"/>
                  <a:gd name="csY11" fmla="*/ 209550 h 761372"/>
                  <a:gd name="csX12" fmla="*/ 869950 w 876300"/>
                  <a:gd name="csY12" fmla="*/ 76200 h 761372"/>
                  <a:gd name="csX13" fmla="*/ 869950 w 876300"/>
                  <a:gd name="csY13" fmla="*/ 0 h 7613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876300" h="761372" fill="none" extrusionOk="0">
                    <a:moveTo>
                      <a:pt x="0" y="596900"/>
                    </a:moveTo>
                    <a:cubicBezTo>
                      <a:pt x="1703" y="608210"/>
                      <a:pt x="116" y="618918"/>
                      <a:pt x="6350" y="628650"/>
                    </a:cubicBezTo>
                    <a:cubicBezTo>
                      <a:pt x="25760" y="669036"/>
                      <a:pt x="50935" y="691426"/>
                      <a:pt x="82550" y="711200"/>
                    </a:cubicBezTo>
                    <a:cubicBezTo>
                      <a:pt x="89167" y="715619"/>
                      <a:pt x="95351" y="721092"/>
                      <a:pt x="101600" y="723900"/>
                    </a:cubicBezTo>
                    <a:cubicBezTo>
                      <a:pt x="106893" y="725599"/>
                      <a:pt x="115656" y="728715"/>
                      <a:pt x="120650" y="730250"/>
                    </a:cubicBezTo>
                    <a:cubicBezTo>
                      <a:pt x="129554" y="737869"/>
                      <a:pt x="138037" y="756391"/>
                      <a:pt x="152400" y="755650"/>
                    </a:cubicBezTo>
                    <a:cubicBezTo>
                      <a:pt x="448377" y="758547"/>
                      <a:pt x="428033" y="768160"/>
                      <a:pt x="590550" y="730250"/>
                    </a:cubicBezTo>
                    <a:cubicBezTo>
                      <a:pt x="600397" y="726203"/>
                      <a:pt x="608083" y="722567"/>
                      <a:pt x="615950" y="717550"/>
                    </a:cubicBezTo>
                    <a:cubicBezTo>
                      <a:pt x="659112" y="687149"/>
                      <a:pt x="658857" y="674482"/>
                      <a:pt x="698500" y="622300"/>
                    </a:cubicBezTo>
                    <a:cubicBezTo>
                      <a:pt x="739178" y="564735"/>
                      <a:pt x="761145" y="557792"/>
                      <a:pt x="806450" y="469900"/>
                    </a:cubicBezTo>
                    <a:cubicBezTo>
                      <a:pt x="835716" y="388637"/>
                      <a:pt x="818337" y="444698"/>
                      <a:pt x="863600" y="330200"/>
                    </a:cubicBezTo>
                    <a:cubicBezTo>
                      <a:pt x="866374" y="296771"/>
                      <a:pt x="869588" y="249288"/>
                      <a:pt x="876300" y="209550"/>
                    </a:cubicBezTo>
                    <a:cubicBezTo>
                      <a:pt x="878362" y="170947"/>
                      <a:pt x="876569" y="113349"/>
                      <a:pt x="869950" y="76200"/>
                    </a:cubicBezTo>
                    <a:cubicBezTo>
                      <a:pt x="868412" y="52911"/>
                      <a:pt x="874238" y="19387"/>
                      <a:pt x="869950" y="0"/>
                    </a:cubicBezTo>
                  </a:path>
                  <a:path w="876300" h="761372" stroke="0" extrusionOk="0">
                    <a:moveTo>
                      <a:pt x="0" y="596900"/>
                    </a:moveTo>
                    <a:cubicBezTo>
                      <a:pt x="-389" y="606016"/>
                      <a:pt x="-275" y="619032"/>
                      <a:pt x="6350" y="628650"/>
                    </a:cubicBezTo>
                    <a:cubicBezTo>
                      <a:pt x="29783" y="671799"/>
                      <a:pt x="41914" y="686215"/>
                      <a:pt x="82550" y="711200"/>
                    </a:cubicBezTo>
                    <a:cubicBezTo>
                      <a:pt x="88444" y="715925"/>
                      <a:pt x="94359" y="720690"/>
                      <a:pt x="101600" y="723900"/>
                    </a:cubicBezTo>
                    <a:cubicBezTo>
                      <a:pt x="106409" y="728148"/>
                      <a:pt x="114460" y="728074"/>
                      <a:pt x="120650" y="730250"/>
                    </a:cubicBezTo>
                    <a:cubicBezTo>
                      <a:pt x="130998" y="735303"/>
                      <a:pt x="141842" y="755802"/>
                      <a:pt x="152400" y="755650"/>
                    </a:cubicBezTo>
                    <a:cubicBezTo>
                      <a:pt x="457501" y="761752"/>
                      <a:pt x="424120" y="768947"/>
                      <a:pt x="590550" y="730250"/>
                    </a:cubicBezTo>
                    <a:cubicBezTo>
                      <a:pt x="598252" y="726968"/>
                      <a:pt x="607395" y="722273"/>
                      <a:pt x="615950" y="717550"/>
                    </a:cubicBezTo>
                    <a:cubicBezTo>
                      <a:pt x="663409" y="687442"/>
                      <a:pt x="659013" y="675125"/>
                      <a:pt x="698500" y="622300"/>
                    </a:cubicBezTo>
                    <a:cubicBezTo>
                      <a:pt x="744982" y="569820"/>
                      <a:pt x="765437" y="554174"/>
                      <a:pt x="806450" y="469900"/>
                    </a:cubicBezTo>
                    <a:cubicBezTo>
                      <a:pt x="843616" y="387042"/>
                      <a:pt x="824669" y="450887"/>
                      <a:pt x="863600" y="330200"/>
                    </a:cubicBezTo>
                    <a:cubicBezTo>
                      <a:pt x="867632" y="289929"/>
                      <a:pt x="866974" y="244626"/>
                      <a:pt x="876300" y="209550"/>
                    </a:cubicBezTo>
                    <a:cubicBezTo>
                      <a:pt x="876327" y="152669"/>
                      <a:pt x="870651" y="132826"/>
                      <a:pt x="869950" y="76200"/>
                    </a:cubicBezTo>
                    <a:cubicBezTo>
                      <a:pt x="866077" y="46141"/>
                      <a:pt x="872368" y="20031"/>
                      <a:pt x="869950" y="0"/>
                    </a:cubicBezTo>
                  </a:path>
                </a:pathLst>
              </a:custGeom>
              <a:ln w="571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  <a:extLst>
                  <a:ext uri="{C807C97D-BFC1-408E-A445-0C87EB9F89A2}">
                    <ask:lineSketchStyleProps xmlns:ask="http://schemas.microsoft.com/office/drawing/2018/sketchyshapes" sd="1188139836">
                      <a:custGeom>
                        <a:avLst/>
                        <a:gdLst>
                          <a:gd name="csX0" fmla="*/ 0 w 876300"/>
                          <a:gd name="csY0" fmla="*/ 596900 h 761372"/>
                          <a:gd name="csX1" fmla="*/ 6350 w 876300"/>
                          <a:gd name="csY1" fmla="*/ 628650 h 761372"/>
                          <a:gd name="csX2" fmla="*/ 82550 w 876300"/>
                          <a:gd name="csY2" fmla="*/ 711200 h 761372"/>
                          <a:gd name="csX3" fmla="*/ 101600 w 876300"/>
                          <a:gd name="csY3" fmla="*/ 723900 h 761372"/>
                          <a:gd name="csX4" fmla="*/ 120650 w 876300"/>
                          <a:gd name="csY4" fmla="*/ 730250 h 761372"/>
                          <a:gd name="csX5" fmla="*/ 152400 w 876300"/>
                          <a:gd name="csY5" fmla="*/ 755650 h 761372"/>
                          <a:gd name="csX6" fmla="*/ 590550 w 876300"/>
                          <a:gd name="csY6" fmla="*/ 730250 h 761372"/>
                          <a:gd name="csX7" fmla="*/ 615950 w 876300"/>
                          <a:gd name="csY7" fmla="*/ 717550 h 761372"/>
                          <a:gd name="csX8" fmla="*/ 698500 w 876300"/>
                          <a:gd name="csY8" fmla="*/ 622300 h 761372"/>
                          <a:gd name="csX9" fmla="*/ 806450 w 876300"/>
                          <a:gd name="csY9" fmla="*/ 469900 h 761372"/>
                          <a:gd name="csX10" fmla="*/ 863600 w 876300"/>
                          <a:gd name="csY10" fmla="*/ 330200 h 761372"/>
                          <a:gd name="csX11" fmla="*/ 876300 w 876300"/>
                          <a:gd name="csY11" fmla="*/ 209550 h 761372"/>
                          <a:gd name="csX12" fmla="*/ 869950 w 876300"/>
                          <a:gd name="csY12" fmla="*/ 76200 h 761372"/>
                          <a:gd name="csX13" fmla="*/ 869950 w 876300"/>
                          <a:gd name="csY13" fmla="*/ 0 h 761372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</a:cxnLst>
                        <a:rect l="l" t="t" r="r" b="b"/>
                        <a:pathLst>
                          <a:path w="876300" h="761372">
                            <a:moveTo>
                              <a:pt x="0" y="596900"/>
                            </a:moveTo>
                            <a:cubicBezTo>
                              <a:pt x="2117" y="607483"/>
                              <a:pt x="995" y="619279"/>
                              <a:pt x="6350" y="628650"/>
                            </a:cubicBezTo>
                            <a:cubicBezTo>
                              <a:pt x="30115" y="670240"/>
                              <a:pt x="48244" y="685470"/>
                              <a:pt x="82550" y="711200"/>
                            </a:cubicBezTo>
                            <a:cubicBezTo>
                              <a:pt x="88655" y="715779"/>
                              <a:pt x="94774" y="720487"/>
                              <a:pt x="101600" y="723900"/>
                            </a:cubicBezTo>
                            <a:cubicBezTo>
                              <a:pt x="107587" y="726893"/>
                              <a:pt x="114300" y="728133"/>
                              <a:pt x="120650" y="730250"/>
                            </a:cubicBezTo>
                            <a:cubicBezTo>
                              <a:pt x="131233" y="738717"/>
                              <a:pt x="138853" y="755233"/>
                              <a:pt x="152400" y="755650"/>
                            </a:cubicBezTo>
                            <a:cubicBezTo>
                              <a:pt x="451425" y="764851"/>
                              <a:pt x="424940" y="767052"/>
                              <a:pt x="590550" y="730250"/>
                            </a:cubicBezTo>
                            <a:cubicBezTo>
                              <a:pt x="599017" y="726017"/>
                              <a:pt x="608074" y="722801"/>
                              <a:pt x="615950" y="717550"/>
                            </a:cubicBezTo>
                            <a:cubicBezTo>
                              <a:pt x="661064" y="687474"/>
                              <a:pt x="659095" y="674841"/>
                              <a:pt x="698500" y="622300"/>
                            </a:cubicBezTo>
                            <a:cubicBezTo>
                              <a:pt x="741057" y="565557"/>
                              <a:pt x="764007" y="554786"/>
                              <a:pt x="806450" y="469900"/>
                            </a:cubicBezTo>
                            <a:cubicBezTo>
                              <a:pt x="845922" y="390955"/>
                              <a:pt x="825482" y="436929"/>
                              <a:pt x="863600" y="330200"/>
                            </a:cubicBezTo>
                            <a:cubicBezTo>
                              <a:pt x="869096" y="291729"/>
                              <a:pt x="876300" y="247515"/>
                              <a:pt x="876300" y="209550"/>
                            </a:cubicBezTo>
                            <a:cubicBezTo>
                              <a:pt x="876300" y="165050"/>
                              <a:pt x="871298" y="120680"/>
                              <a:pt x="869950" y="76200"/>
                            </a:cubicBezTo>
                            <a:cubicBezTo>
                              <a:pt x="869181" y="50812"/>
                              <a:pt x="869950" y="25400"/>
                              <a:pt x="869950" y="0"/>
                            </a:cubicBezTo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D47A912-3B49-D0D1-C8ED-3F6841684731}"/>
                  </a:ext>
                </a:extLst>
              </p:cNvPr>
              <p:cNvSpPr txBox="1"/>
              <p:nvPr/>
            </p:nvSpPr>
            <p:spPr>
              <a:xfrm>
                <a:off x="9675470" y="3895404"/>
                <a:ext cx="3642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?</a:t>
                </a:r>
              </a:p>
            </p:txBody>
          </p:sp>
        </p:grp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46E98372-649C-8206-DB06-A6340E463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2343627"/>
              <a:ext cx="5685163" cy="3237493"/>
            </a:xfrm>
            <a:prstGeom prst="rect">
              <a:avLst/>
            </a:prstGeom>
          </p:spPr>
        </p:pic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B1BD8B24-D5C7-DAD8-A851-6A051835B2EE}"/>
                </a:ext>
              </a:extLst>
            </p:cNvPr>
            <p:cNvSpPr/>
            <p:nvPr/>
          </p:nvSpPr>
          <p:spPr>
            <a:xfrm>
              <a:off x="6073920" y="1857829"/>
              <a:ext cx="5767577" cy="4193078"/>
            </a:xfrm>
            <a:custGeom>
              <a:avLst/>
              <a:gdLst>
                <a:gd name="csX0" fmla="*/ 0 w 5767577"/>
                <a:gd name="csY0" fmla="*/ 698860 h 4193078"/>
                <a:gd name="csX1" fmla="*/ 698860 w 5767577"/>
                <a:gd name="csY1" fmla="*/ 0 h 4193078"/>
                <a:gd name="csX2" fmla="*/ 1332489 w 5767577"/>
                <a:gd name="csY2" fmla="*/ 0 h 4193078"/>
                <a:gd name="csX3" fmla="*/ 1966119 w 5767577"/>
                <a:gd name="csY3" fmla="*/ 0 h 4193078"/>
                <a:gd name="csX4" fmla="*/ 2599748 w 5767577"/>
                <a:gd name="csY4" fmla="*/ 0 h 4193078"/>
                <a:gd name="csX5" fmla="*/ 3102281 w 5767577"/>
                <a:gd name="csY5" fmla="*/ 0 h 4193078"/>
                <a:gd name="csX6" fmla="*/ 3692212 w 5767577"/>
                <a:gd name="csY6" fmla="*/ 0 h 4193078"/>
                <a:gd name="csX7" fmla="*/ 4151047 w 5767577"/>
                <a:gd name="csY7" fmla="*/ 0 h 4193078"/>
                <a:gd name="csX8" fmla="*/ 4566183 w 5767577"/>
                <a:gd name="csY8" fmla="*/ 0 h 4193078"/>
                <a:gd name="csX9" fmla="*/ 5068717 w 5767577"/>
                <a:gd name="csY9" fmla="*/ 0 h 4193078"/>
                <a:gd name="csX10" fmla="*/ 5767577 w 5767577"/>
                <a:gd name="csY10" fmla="*/ 698860 h 4193078"/>
                <a:gd name="csX11" fmla="*/ 5767577 w 5767577"/>
                <a:gd name="csY11" fmla="*/ 1257932 h 4193078"/>
                <a:gd name="csX12" fmla="*/ 5767577 w 5767577"/>
                <a:gd name="csY12" fmla="*/ 1844957 h 4193078"/>
                <a:gd name="csX13" fmla="*/ 5767577 w 5767577"/>
                <a:gd name="csY13" fmla="*/ 2404028 h 4193078"/>
                <a:gd name="csX14" fmla="*/ 5767577 w 5767577"/>
                <a:gd name="csY14" fmla="*/ 3494218 h 4193078"/>
                <a:gd name="csX15" fmla="*/ 5068717 w 5767577"/>
                <a:gd name="csY15" fmla="*/ 4193078 h 4193078"/>
                <a:gd name="csX16" fmla="*/ 4566183 w 5767577"/>
                <a:gd name="csY16" fmla="*/ 4193078 h 4193078"/>
                <a:gd name="csX17" fmla="*/ 4151047 w 5767577"/>
                <a:gd name="csY17" fmla="*/ 4193078 h 4193078"/>
                <a:gd name="csX18" fmla="*/ 3692212 w 5767577"/>
                <a:gd name="csY18" fmla="*/ 4193078 h 4193078"/>
                <a:gd name="csX19" fmla="*/ 3058583 w 5767577"/>
                <a:gd name="csY19" fmla="*/ 4193078 h 4193078"/>
                <a:gd name="csX20" fmla="*/ 2643446 w 5767577"/>
                <a:gd name="csY20" fmla="*/ 4193078 h 4193078"/>
                <a:gd name="csX21" fmla="*/ 2228310 w 5767577"/>
                <a:gd name="csY21" fmla="*/ 4193078 h 4193078"/>
                <a:gd name="csX22" fmla="*/ 1594681 w 5767577"/>
                <a:gd name="csY22" fmla="*/ 4193078 h 4193078"/>
                <a:gd name="csX23" fmla="*/ 1179544 w 5767577"/>
                <a:gd name="csY23" fmla="*/ 4193078 h 4193078"/>
                <a:gd name="csX24" fmla="*/ 698860 w 5767577"/>
                <a:gd name="csY24" fmla="*/ 4193078 h 4193078"/>
                <a:gd name="csX25" fmla="*/ 0 w 5767577"/>
                <a:gd name="csY25" fmla="*/ 3494218 h 4193078"/>
                <a:gd name="csX26" fmla="*/ 0 w 5767577"/>
                <a:gd name="csY26" fmla="*/ 3019007 h 4193078"/>
                <a:gd name="csX27" fmla="*/ 0 w 5767577"/>
                <a:gd name="csY27" fmla="*/ 2515843 h 4193078"/>
                <a:gd name="csX28" fmla="*/ 0 w 5767577"/>
                <a:gd name="csY28" fmla="*/ 1900864 h 4193078"/>
                <a:gd name="csX29" fmla="*/ 0 w 5767577"/>
                <a:gd name="csY29" fmla="*/ 1285885 h 4193078"/>
                <a:gd name="csX30" fmla="*/ 0 w 5767577"/>
                <a:gd name="csY30" fmla="*/ 698860 h 4193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5767577" h="4193078" extrusionOk="0">
                  <a:moveTo>
                    <a:pt x="0" y="698860"/>
                  </a:moveTo>
                  <a:cubicBezTo>
                    <a:pt x="10278" y="223057"/>
                    <a:pt x="226133" y="-35074"/>
                    <a:pt x="698860" y="0"/>
                  </a:cubicBezTo>
                  <a:cubicBezTo>
                    <a:pt x="1012890" y="-3578"/>
                    <a:pt x="1174407" y="70313"/>
                    <a:pt x="1332489" y="0"/>
                  </a:cubicBezTo>
                  <a:cubicBezTo>
                    <a:pt x="1490571" y="-70313"/>
                    <a:pt x="1676505" y="30996"/>
                    <a:pt x="1966119" y="0"/>
                  </a:cubicBezTo>
                  <a:cubicBezTo>
                    <a:pt x="2255733" y="-30996"/>
                    <a:pt x="2393771" y="14534"/>
                    <a:pt x="2599748" y="0"/>
                  </a:cubicBezTo>
                  <a:cubicBezTo>
                    <a:pt x="2805725" y="-14534"/>
                    <a:pt x="2943207" y="60093"/>
                    <a:pt x="3102281" y="0"/>
                  </a:cubicBezTo>
                  <a:cubicBezTo>
                    <a:pt x="3261355" y="-60093"/>
                    <a:pt x="3475589" y="63673"/>
                    <a:pt x="3692212" y="0"/>
                  </a:cubicBezTo>
                  <a:cubicBezTo>
                    <a:pt x="3908835" y="-63673"/>
                    <a:pt x="3970119" y="16587"/>
                    <a:pt x="4151047" y="0"/>
                  </a:cubicBezTo>
                  <a:cubicBezTo>
                    <a:pt x="4331975" y="-16587"/>
                    <a:pt x="4392452" y="11544"/>
                    <a:pt x="4566183" y="0"/>
                  </a:cubicBezTo>
                  <a:cubicBezTo>
                    <a:pt x="4739914" y="-11544"/>
                    <a:pt x="4954296" y="3613"/>
                    <a:pt x="5068717" y="0"/>
                  </a:cubicBezTo>
                  <a:cubicBezTo>
                    <a:pt x="5402054" y="32930"/>
                    <a:pt x="5861695" y="262051"/>
                    <a:pt x="5767577" y="698860"/>
                  </a:cubicBezTo>
                  <a:cubicBezTo>
                    <a:pt x="5793856" y="966551"/>
                    <a:pt x="5734903" y="1039078"/>
                    <a:pt x="5767577" y="1257932"/>
                  </a:cubicBezTo>
                  <a:cubicBezTo>
                    <a:pt x="5800251" y="1476786"/>
                    <a:pt x="5733350" y="1687034"/>
                    <a:pt x="5767577" y="1844957"/>
                  </a:cubicBezTo>
                  <a:cubicBezTo>
                    <a:pt x="5801804" y="2002880"/>
                    <a:pt x="5749294" y="2277484"/>
                    <a:pt x="5767577" y="2404028"/>
                  </a:cubicBezTo>
                  <a:cubicBezTo>
                    <a:pt x="5785860" y="2530572"/>
                    <a:pt x="5740570" y="3177055"/>
                    <a:pt x="5767577" y="3494218"/>
                  </a:cubicBezTo>
                  <a:cubicBezTo>
                    <a:pt x="5733627" y="3895048"/>
                    <a:pt x="5425429" y="4152667"/>
                    <a:pt x="5068717" y="4193078"/>
                  </a:cubicBezTo>
                  <a:cubicBezTo>
                    <a:pt x="4919160" y="4227381"/>
                    <a:pt x="4770313" y="4180290"/>
                    <a:pt x="4566183" y="4193078"/>
                  </a:cubicBezTo>
                  <a:cubicBezTo>
                    <a:pt x="4362053" y="4205866"/>
                    <a:pt x="4265693" y="4175646"/>
                    <a:pt x="4151047" y="4193078"/>
                  </a:cubicBezTo>
                  <a:cubicBezTo>
                    <a:pt x="4036401" y="4210510"/>
                    <a:pt x="3863599" y="4147499"/>
                    <a:pt x="3692212" y="4193078"/>
                  </a:cubicBezTo>
                  <a:cubicBezTo>
                    <a:pt x="3520825" y="4238657"/>
                    <a:pt x="3364484" y="4128150"/>
                    <a:pt x="3058583" y="4193078"/>
                  </a:cubicBezTo>
                  <a:cubicBezTo>
                    <a:pt x="2752682" y="4258006"/>
                    <a:pt x="2787838" y="4157075"/>
                    <a:pt x="2643446" y="4193078"/>
                  </a:cubicBezTo>
                  <a:cubicBezTo>
                    <a:pt x="2499054" y="4229081"/>
                    <a:pt x="2312776" y="4188874"/>
                    <a:pt x="2228310" y="4193078"/>
                  </a:cubicBezTo>
                  <a:cubicBezTo>
                    <a:pt x="2143844" y="4197282"/>
                    <a:pt x="1770662" y="4120772"/>
                    <a:pt x="1594681" y="4193078"/>
                  </a:cubicBezTo>
                  <a:cubicBezTo>
                    <a:pt x="1418700" y="4265384"/>
                    <a:pt x="1310756" y="4160978"/>
                    <a:pt x="1179544" y="4193078"/>
                  </a:cubicBezTo>
                  <a:cubicBezTo>
                    <a:pt x="1048332" y="4225178"/>
                    <a:pt x="905179" y="4179430"/>
                    <a:pt x="698860" y="4193078"/>
                  </a:cubicBezTo>
                  <a:cubicBezTo>
                    <a:pt x="382522" y="4177741"/>
                    <a:pt x="71056" y="3839431"/>
                    <a:pt x="0" y="3494218"/>
                  </a:cubicBezTo>
                  <a:cubicBezTo>
                    <a:pt x="-45290" y="3345447"/>
                    <a:pt x="31973" y="3154657"/>
                    <a:pt x="0" y="3019007"/>
                  </a:cubicBezTo>
                  <a:cubicBezTo>
                    <a:pt x="-31973" y="2883357"/>
                    <a:pt x="10070" y="2740841"/>
                    <a:pt x="0" y="2515843"/>
                  </a:cubicBezTo>
                  <a:cubicBezTo>
                    <a:pt x="-10070" y="2290845"/>
                    <a:pt x="60986" y="2040681"/>
                    <a:pt x="0" y="1900864"/>
                  </a:cubicBezTo>
                  <a:cubicBezTo>
                    <a:pt x="-60986" y="1761047"/>
                    <a:pt x="7528" y="1435365"/>
                    <a:pt x="0" y="1285885"/>
                  </a:cubicBezTo>
                  <a:cubicBezTo>
                    <a:pt x="-7528" y="1136405"/>
                    <a:pt x="41239" y="934002"/>
                    <a:pt x="0" y="698860"/>
                  </a:cubicBezTo>
                  <a:close/>
                </a:path>
              </a:pathLst>
            </a:custGeom>
            <a:noFill/>
            <a:ln w="38100">
              <a:extLst>
                <a:ext uri="{C807C97D-BFC1-408E-A445-0C87EB9F89A2}">
                  <ask:lineSketchStyleProps xmlns:ask="http://schemas.microsoft.com/office/drawing/2018/sketchyshapes" sd="1343369783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3" name="Arrow: Down 62">
              <a:extLst>
                <a:ext uri="{FF2B5EF4-FFF2-40B4-BE49-F238E27FC236}">
                  <a16:creationId xmlns:a16="http://schemas.microsoft.com/office/drawing/2014/main" id="{907C544C-B2EC-34F5-7AF2-7C0AB8D9A002}"/>
                </a:ext>
              </a:extLst>
            </p:cNvPr>
            <p:cNvSpPr/>
            <p:nvPr/>
          </p:nvSpPr>
          <p:spPr>
            <a:xfrm rot="16200000">
              <a:off x="5012116" y="4057064"/>
              <a:ext cx="228600" cy="533400"/>
            </a:xfrm>
            <a:custGeom>
              <a:avLst/>
              <a:gdLst>
                <a:gd name="csX0" fmla="*/ 0 w 228600"/>
                <a:gd name="csY0" fmla="*/ 285751 h 533400"/>
                <a:gd name="csX1" fmla="*/ 85725 w 228600"/>
                <a:gd name="csY1" fmla="*/ 285751 h 533400"/>
                <a:gd name="csX2" fmla="*/ 85725 w 228600"/>
                <a:gd name="csY2" fmla="*/ 0 h 533400"/>
                <a:gd name="csX3" fmla="*/ 142875 w 228600"/>
                <a:gd name="csY3" fmla="*/ 0 h 533400"/>
                <a:gd name="csX4" fmla="*/ 142875 w 228600"/>
                <a:gd name="csY4" fmla="*/ 285751 h 533400"/>
                <a:gd name="csX5" fmla="*/ 228600 w 228600"/>
                <a:gd name="csY5" fmla="*/ 285751 h 533400"/>
                <a:gd name="csX6" fmla="*/ 114300 w 228600"/>
                <a:gd name="csY6" fmla="*/ 533400 h 533400"/>
                <a:gd name="csX7" fmla="*/ 0 w 228600"/>
                <a:gd name="csY7" fmla="*/ 285751 h 53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28600" h="533400" fill="none" extrusionOk="0">
                  <a:moveTo>
                    <a:pt x="0" y="285751"/>
                  </a:moveTo>
                  <a:cubicBezTo>
                    <a:pt x="25030" y="284218"/>
                    <a:pt x="44381" y="293875"/>
                    <a:pt x="85725" y="285751"/>
                  </a:cubicBezTo>
                  <a:cubicBezTo>
                    <a:pt x="69090" y="169937"/>
                    <a:pt x="93836" y="57932"/>
                    <a:pt x="85725" y="0"/>
                  </a:cubicBezTo>
                  <a:cubicBezTo>
                    <a:pt x="111447" y="-1996"/>
                    <a:pt x="125647" y="597"/>
                    <a:pt x="142875" y="0"/>
                  </a:cubicBezTo>
                  <a:cubicBezTo>
                    <a:pt x="158684" y="74097"/>
                    <a:pt x="127024" y="208531"/>
                    <a:pt x="142875" y="285751"/>
                  </a:cubicBezTo>
                  <a:cubicBezTo>
                    <a:pt x="162721" y="277838"/>
                    <a:pt x="199816" y="285988"/>
                    <a:pt x="228600" y="285751"/>
                  </a:cubicBezTo>
                  <a:cubicBezTo>
                    <a:pt x="211039" y="338683"/>
                    <a:pt x="122678" y="464906"/>
                    <a:pt x="114300" y="533400"/>
                  </a:cubicBezTo>
                  <a:cubicBezTo>
                    <a:pt x="61059" y="424534"/>
                    <a:pt x="69270" y="387164"/>
                    <a:pt x="0" y="285751"/>
                  </a:cubicBezTo>
                  <a:close/>
                </a:path>
                <a:path w="228600" h="533400" stroke="0" extrusionOk="0">
                  <a:moveTo>
                    <a:pt x="0" y="285751"/>
                  </a:moveTo>
                  <a:cubicBezTo>
                    <a:pt x="38845" y="282479"/>
                    <a:pt x="47694" y="287217"/>
                    <a:pt x="85725" y="285751"/>
                  </a:cubicBezTo>
                  <a:cubicBezTo>
                    <a:pt x="55649" y="150972"/>
                    <a:pt x="104182" y="62763"/>
                    <a:pt x="85725" y="0"/>
                  </a:cubicBezTo>
                  <a:cubicBezTo>
                    <a:pt x="99189" y="-6639"/>
                    <a:pt x="130060" y="5888"/>
                    <a:pt x="142875" y="0"/>
                  </a:cubicBezTo>
                  <a:cubicBezTo>
                    <a:pt x="171501" y="119489"/>
                    <a:pt x="141247" y="204790"/>
                    <a:pt x="142875" y="285751"/>
                  </a:cubicBezTo>
                  <a:cubicBezTo>
                    <a:pt x="167424" y="283218"/>
                    <a:pt x="206060" y="294130"/>
                    <a:pt x="228600" y="285751"/>
                  </a:cubicBezTo>
                  <a:cubicBezTo>
                    <a:pt x="212001" y="349417"/>
                    <a:pt x="136779" y="415989"/>
                    <a:pt x="114300" y="533400"/>
                  </a:cubicBezTo>
                  <a:cubicBezTo>
                    <a:pt x="72732" y="474000"/>
                    <a:pt x="57870" y="355725"/>
                    <a:pt x="0" y="285751"/>
                  </a:cubicBezTo>
                  <a:close/>
                </a:path>
              </a:pathLst>
            </a:custGeom>
            <a:solidFill>
              <a:schemeClr val="tx1"/>
            </a:solidFill>
            <a:ln>
              <a:extLst>
                <a:ext uri="{C807C97D-BFC1-408E-A445-0C87EB9F89A2}">
                  <ask:lineSketchStyleProps xmlns:ask="http://schemas.microsoft.com/office/drawing/2018/sketchyshapes" sd="2302904691">
                    <a:prstGeom prst="downArrow">
                      <a:avLst>
                        <a:gd name="adj1" fmla="val 25000"/>
                        <a:gd name="adj2" fmla="val 108333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F87546F5-4F0D-1F4D-5489-A163EE1A8E7A}"/>
                </a:ext>
              </a:extLst>
            </p:cNvPr>
            <p:cNvSpPr/>
            <p:nvPr/>
          </p:nvSpPr>
          <p:spPr>
            <a:xfrm>
              <a:off x="410837" y="1882720"/>
              <a:ext cx="3846701" cy="4193078"/>
            </a:xfrm>
            <a:custGeom>
              <a:avLst/>
              <a:gdLst>
                <a:gd name="csX0" fmla="*/ 0 w 3846701"/>
                <a:gd name="csY0" fmla="*/ 641130 h 4193078"/>
                <a:gd name="csX1" fmla="*/ 641130 w 3846701"/>
                <a:gd name="csY1" fmla="*/ 0 h 4193078"/>
                <a:gd name="csX2" fmla="*/ 1205307 w 3846701"/>
                <a:gd name="csY2" fmla="*/ 0 h 4193078"/>
                <a:gd name="csX3" fmla="*/ 1769484 w 3846701"/>
                <a:gd name="csY3" fmla="*/ 0 h 4193078"/>
                <a:gd name="csX4" fmla="*/ 2333661 w 3846701"/>
                <a:gd name="csY4" fmla="*/ 0 h 4193078"/>
                <a:gd name="csX5" fmla="*/ 3205571 w 3846701"/>
                <a:gd name="csY5" fmla="*/ 0 h 4193078"/>
                <a:gd name="csX6" fmla="*/ 3846701 w 3846701"/>
                <a:gd name="csY6" fmla="*/ 641130 h 4193078"/>
                <a:gd name="csX7" fmla="*/ 3846701 w 3846701"/>
                <a:gd name="csY7" fmla="*/ 1135969 h 4193078"/>
                <a:gd name="csX8" fmla="*/ 3846701 w 3846701"/>
                <a:gd name="csY8" fmla="*/ 1689024 h 4193078"/>
                <a:gd name="csX9" fmla="*/ 3846701 w 3846701"/>
                <a:gd name="csY9" fmla="*/ 2271188 h 4193078"/>
                <a:gd name="csX10" fmla="*/ 3846701 w 3846701"/>
                <a:gd name="csY10" fmla="*/ 2882460 h 4193078"/>
                <a:gd name="csX11" fmla="*/ 3846701 w 3846701"/>
                <a:gd name="csY11" fmla="*/ 3551948 h 4193078"/>
                <a:gd name="csX12" fmla="*/ 3205571 w 3846701"/>
                <a:gd name="csY12" fmla="*/ 4193078 h 4193078"/>
                <a:gd name="csX13" fmla="*/ 2769616 w 3846701"/>
                <a:gd name="csY13" fmla="*/ 4193078 h 4193078"/>
                <a:gd name="csX14" fmla="*/ 2308017 w 3846701"/>
                <a:gd name="csY14" fmla="*/ 4193078 h 4193078"/>
                <a:gd name="csX15" fmla="*/ 1769484 w 3846701"/>
                <a:gd name="csY15" fmla="*/ 4193078 h 4193078"/>
                <a:gd name="csX16" fmla="*/ 1230951 w 3846701"/>
                <a:gd name="csY16" fmla="*/ 4193078 h 4193078"/>
                <a:gd name="csX17" fmla="*/ 641130 w 3846701"/>
                <a:gd name="csY17" fmla="*/ 4193078 h 4193078"/>
                <a:gd name="csX18" fmla="*/ 0 w 3846701"/>
                <a:gd name="csY18" fmla="*/ 3551948 h 4193078"/>
                <a:gd name="csX19" fmla="*/ 0 w 3846701"/>
                <a:gd name="csY19" fmla="*/ 3057109 h 4193078"/>
                <a:gd name="csX20" fmla="*/ 0 w 3846701"/>
                <a:gd name="csY20" fmla="*/ 2562270 h 4193078"/>
                <a:gd name="csX21" fmla="*/ 0 w 3846701"/>
                <a:gd name="csY21" fmla="*/ 1921890 h 4193078"/>
                <a:gd name="csX22" fmla="*/ 0 w 3846701"/>
                <a:gd name="csY22" fmla="*/ 1427051 h 4193078"/>
                <a:gd name="csX23" fmla="*/ 0 w 3846701"/>
                <a:gd name="csY23" fmla="*/ 641130 h 4193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3846701" h="4193078" extrusionOk="0">
                  <a:moveTo>
                    <a:pt x="0" y="641130"/>
                  </a:moveTo>
                  <a:cubicBezTo>
                    <a:pt x="4368" y="248869"/>
                    <a:pt x="215281" y="-29013"/>
                    <a:pt x="641130" y="0"/>
                  </a:cubicBezTo>
                  <a:cubicBezTo>
                    <a:pt x="845435" y="-58202"/>
                    <a:pt x="1003975" y="44142"/>
                    <a:pt x="1205307" y="0"/>
                  </a:cubicBezTo>
                  <a:cubicBezTo>
                    <a:pt x="1406639" y="-44142"/>
                    <a:pt x="1532360" y="20634"/>
                    <a:pt x="1769484" y="0"/>
                  </a:cubicBezTo>
                  <a:cubicBezTo>
                    <a:pt x="2006608" y="-20634"/>
                    <a:pt x="2055825" y="12873"/>
                    <a:pt x="2333661" y="0"/>
                  </a:cubicBezTo>
                  <a:cubicBezTo>
                    <a:pt x="2611497" y="-12873"/>
                    <a:pt x="2960512" y="10754"/>
                    <a:pt x="3205571" y="0"/>
                  </a:cubicBezTo>
                  <a:cubicBezTo>
                    <a:pt x="3597111" y="-96462"/>
                    <a:pt x="3755048" y="315288"/>
                    <a:pt x="3846701" y="641130"/>
                  </a:cubicBezTo>
                  <a:cubicBezTo>
                    <a:pt x="3891920" y="874952"/>
                    <a:pt x="3798401" y="997852"/>
                    <a:pt x="3846701" y="1135969"/>
                  </a:cubicBezTo>
                  <a:cubicBezTo>
                    <a:pt x="3895001" y="1274086"/>
                    <a:pt x="3785912" y="1533577"/>
                    <a:pt x="3846701" y="1689024"/>
                  </a:cubicBezTo>
                  <a:cubicBezTo>
                    <a:pt x="3907490" y="1844472"/>
                    <a:pt x="3823173" y="2010635"/>
                    <a:pt x="3846701" y="2271188"/>
                  </a:cubicBezTo>
                  <a:cubicBezTo>
                    <a:pt x="3870229" y="2531741"/>
                    <a:pt x="3832727" y="2639546"/>
                    <a:pt x="3846701" y="2882460"/>
                  </a:cubicBezTo>
                  <a:cubicBezTo>
                    <a:pt x="3860675" y="3125374"/>
                    <a:pt x="3831244" y="3327434"/>
                    <a:pt x="3846701" y="3551948"/>
                  </a:cubicBezTo>
                  <a:cubicBezTo>
                    <a:pt x="3797614" y="3962498"/>
                    <a:pt x="3544275" y="4213826"/>
                    <a:pt x="3205571" y="4193078"/>
                  </a:cubicBezTo>
                  <a:cubicBezTo>
                    <a:pt x="3098368" y="4239019"/>
                    <a:pt x="2961941" y="4184955"/>
                    <a:pt x="2769616" y="4193078"/>
                  </a:cubicBezTo>
                  <a:cubicBezTo>
                    <a:pt x="2577291" y="4201201"/>
                    <a:pt x="2426940" y="4162473"/>
                    <a:pt x="2308017" y="4193078"/>
                  </a:cubicBezTo>
                  <a:cubicBezTo>
                    <a:pt x="2189094" y="4223683"/>
                    <a:pt x="1932827" y="4145377"/>
                    <a:pt x="1769484" y="4193078"/>
                  </a:cubicBezTo>
                  <a:cubicBezTo>
                    <a:pt x="1606141" y="4240779"/>
                    <a:pt x="1433809" y="4167143"/>
                    <a:pt x="1230951" y="4193078"/>
                  </a:cubicBezTo>
                  <a:cubicBezTo>
                    <a:pt x="1028093" y="4219013"/>
                    <a:pt x="802040" y="4159047"/>
                    <a:pt x="641130" y="4193078"/>
                  </a:cubicBezTo>
                  <a:cubicBezTo>
                    <a:pt x="371786" y="4207586"/>
                    <a:pt x="-47469" y="3904884"/>
                    <a:pt x="0" y="3551948"/>
                  </a:cubicBezTo>
                  <a:cubicBezTo>
                    <a:pt x="-14957" y="3418039"/>
                    <a:pt x="50022" y="3277476"/>
                    <a:pt x="0" y="3057109"/>
                  </a:cubicBezTo>
                  <a:cubicBezTo>
                    <a:pt x="-50022" y="2836742"/>
                    <a:pt x="2992" y="2684487"/>
                    <a:pt x="0" y="2562270"/>
                  </a:cubicBezTo>
                  <a:cubicBezTo>
                    <a:pt x="-2992" y="2440053"/>
                    <a:pt x="38279" y="2200341"/>
                    <a:pt x="0" y="1921890"/>
                  </a:cubicBezTo>
                  <a:cubicBezTo>
                    <a:pt x="-38279" y="1643439"/>
                    <a:pt x="50979" y="1561596"/>
                    <a:pt x="0" y="1427051"/>
                  </a:cubicBezTo>
                  <a:cubicBezTo>
                    <a:pt x="-50979" y="1292506"/>
                    <a:pt x="16817" y="805168"/>
                    <a:pt x="0" y="641130"/>
                  </a:cubicBezTo>
                  <a:close/>
                </a:path>
              </a:pathLst>
            </a:custGeom>
            <a:noFill/>
            <a:ln w="38100">
              <a:extLst>
                <a:ext uri="{C807C97D-BFC1-408E-A445-0C87EB9F89A2}">
                  <ask:lineSketchStyleProps xmlns:ask="http://schemas.microsoft.com/office/drawing/2018/sketchyshapes" sd="1343369783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5949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6574A-2234-E1ED-13FC-DCE4BB1F4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94CE26-ACC2-2D3C-3315-F3FEC615E4B5}"/>
              </a:ext>
            </a:extLst>
          </p:cNvPr>
          <p:cNvSpPr txBox="1"/>
          <p:nvPr/>
        </p:nvSpPr>
        <p:spPr>
          <a:xfrm>
            <a:off x="279400" y="20320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Loophole-Free Bell Test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(Using NV Center in Diamond)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4549EF-8EDB-C379-D351-69E35B69D7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37398" y="2583666"/>
            <a:ext cx="5685162" cy="323749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F5F889-64C3-AC96-3756-F2194860B1A6}"/>
              </a:ext>
            </a:extLst>
          </p:cNvPr>
          <p:cNvSpPr/>
          <p:nvPr/>
        </p:nvSpPr>
        <p:spPr>
          <a:xfrm>
            <a:off x="5915318" y="2097868"/>
            <a:ext cx="5767577" cy="4193078"/>
          </a:xfrm>
          <a:custGeom>
            <a:avLst/>
            <a:gdLst>
              <a:gd name="csX0" fmla="*/ 0 w 5767577"/>
              <a:gd name="csY0" fmla="*/ 698860 h 4193078"/>
              <a:gd name="csX1" fmla="*/ 698860 w 5767577"/>
              <a:gd name="csY1" fmla="*/ 0 h 4193078"/>
              <a:gd name="csX2" fmla="*/ 1332489 w 5767577"/>
              <a:gd name="csY2" fmla="*/ 0 h 4193078"/>
              <a:gd name="csX3" fmla="*/ 1966119 w 5767577"/>
              <a:gd name="csY3" fmla="*/ 0 h 4193078"/>
              <a:gd name="csX4" fmla="*/ 2599748 w 5767577"/>
              <a:gd name="csY4" fmla="*/ 0 h 4193078"/>
              <a:gd name="csX5" fmla="*/ 3102281 w 5767577"/>
              <a:gd name="csY5" fmla="*/ 0 h 4193078"/>
              <a:gd name="csX6" fmla="*/ 3692212 w 5767577"/>
              <a:gd name="csY6" fmla="*/ 0 h 4193078"/>
              <a:gd name="csX7" fmla="*/ 4151047 w 5767577"/>
              <a:gd name="csY7" fmla="*/ 0 h 4193078"/>
              <a:gd name="csX8" fmla="*/ 4566183 w 5767577"/>
              <a:gd name="csY8" fmla="*/ 0 h 4193078"/>
              <a:gd name="csX9" fmla="*/ 5068717 w 5767577"/>
              <a:gd name="csY9" fmla="*/ 0 h 4193078"/>
              <a:gd name="csX10" fmla="*/ 5767577 w 5767577"/>
              <a:gd name="csY10" fmla="*/ 698860 h 4193078"/>
              <a:gd name="csX11" fmla="*/ 5767577 w 5767577"/>
              <a:gd name="csY11" fmla="*/ 1257932 h 4193078"/>
              <a:gd name="csX12" fmla="*/ 5767577 w 5767577"/>
              <a:gd name="csY12" fmla="*/ 1844957 h 4193078"/>
              <a:gd name="csX13" fmla="*/ 5767577 w 5767577"/>
              <a:gd name="csY13" fmla="*/ 2404028 h 4193078"/>
              <a:gd name="csX14" fmla="*/ 5767577 w 5767577"/>
              <a:gd name="csY14" fmla="*/ 3494218 h 4193078"/>
              <a:gd name="csX15" fmla="*/ 5068717 w 5767577"/>
              <a:gd name="csY15" fmla="*/ 4193078 h 4193078"/>
              <a:gd name="csX16" fmla="*/ 4566183 w 5767577"/>
              <a:gd name="csY16" fmla="*/ 4193078 h 4193078"/>
              <a:gd name="csX17" fmla="*/ 4151047 w 5767577"/>
              <a:gd name="csY17" fmla="*/ 4193078 h 4193078"/>
              <a:gd name="csX18" fmla="*/ 3692212 w 5767577"/>
              <a:gd name="csY18" fmla="*/ 4193078 h 4193078"/>
              <a:gd name="csX19" fmla="*/ 3058583 w 5767577"/>
              <a:gd name="csY19" fmla="*/ 4193078 h 4193078"/>
              <a:gd name="csX20" fmla="*/ 2643446 w 5767577"/>
              <a:gd name="csY20" fmla="*/ 4193078 h 4193078"/>
              <a:gd name="csX21" fmla="*/ 2228310 w 5767577"/>
              <a:gd name="csY21" fmla="*/ 4193078 h 4193078"/>
              <a:gd name="csX22" fmla="*/ 1594681 w 5767577"/>
              <a:gd name="csY22" fmla="*/ 4193078 h 4193078"/>
              <a:gd name="csX23" fmla="*/ 1179544 w 5767577"/>
              <a:gd name="csY23" fmla="*/ 4193078 h 4193078"/>
              <a:gd name="csX24" fmla="*/ 698860 w 5767577"/>
              <a:gd name="csY24" fmla="*/ 4193078 h 4193078"/>
              <a:gd name="csX25" fmla="*/ 0 w 5767577"/>
              <a:gd name="csY25" fmla="*/ 3494218 h 4193078"/>
              <a:gd name="csX26" fmla="*/ 0 w 5767577"/>
              <a:gd name="csY26" fmla="*/ 3019007 h 4193078"/>
              <a:gd name="csX27" fmla="*/ 0 w 5767577"/>
              <a:gd name="csY27" fmla="*/ 2515843 h 4193078"/>
              <a:gd name="csX28" fmla="*/ 0 w 5767577"/>
              <a:gd name="csY28" fmla="*/ 1900864 h 4193078"/>
              <a:gd name="csX29" fmla="*/ 0 w 5767577"/>
              <a:gd name="csY29" fmla="*/ 1285885 h 4193078"/>
              <a:gd name="csX30" fmla="*/ 0 w 5767577"/>
              <a:gd name="csY30" fmla="*/ 698860 h 41930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5767577" h="4193078" extrusionOk="0">
                <a:moveTo>
                  <a:pt x="0" y="698860"/>
                </a:moveTo>
                <a:cubicBezTo>
                  <a:pt x="10278" y="223057"/>
                  <a:pt x="226133" y="-35074"/>
                  <a:pt x="698860" y="0"/>
                </a:cubicBezTo>
                <a:cubicBezTo>
                  <a:pt x="1012890" y="-3578"/>
                  <a:pt x="1174407" y="70313"/>
                  <a:pt x="1332489" y="0"/>
                </a:cubicBezTo>
                <a:cubicBezTo>
                  <a:pt x="1490571" y="-70313"/>
                  <a:pt x="1676505" y="30996"/>
                  <a:pt x="1966119" y="0"/>
                </a:cubicBezTo>
                <a:cubicBezTo>
                  <a:pt x="2255733" y="-30996"/>
                  <a:pt x="2393771" y="14534"/>
                  <a:pt x="2599748" y="0"/>
                </a:cubicBezTo>
                <a:cubicBezTo>
                  <a:pt x="2805725" y="-14534"/>
                  <a:pt x="2943207" y="60093"/>
                  <a:pt x="3102281" y="0"/>
                </a:cubicBezTo>
                <a:cubicBezTo>
                  <a:pt x="3261355" y="-60093"/>
                  <a:pt x="3475589" y="63673"/>
                  <a:pt x="3692212" y="0"/>
                </a:cubicBezTo>
                <a:cubicBezTo>
                  <a:pt x="3908835" y="-63673"/>
                  <a:pt x="3970119" y="16587"/>
                  <a:pt x="4151047" y="0"/>
                </a:cubicBezTo>
                <a:cubicBezTo>
                  <a:pt x="4331975" y="-16587"/>
                  <a:pt x="4392452" y="11544"/>
                  <a:pt x="4566183" y="0"/>
                </a:cubicBezTo>
                <a:cubicBezTo>
                  <a:pt x="4739914" y="-11544"/>
                  <a:pt x="4954296" y="3613"/>
                  <a:pt x="5068717" y="0"/>
                </a:cubicBezTo>
                <a:cubicBezTo>
                  <a:pt x="5402054" y="32930"/>
                  <a:pt x="5861695" y="262051"/>
                  <a:pt x="5767577" y="698860"/>
                </a:cubicBezTo>
                <a:cubicBezTo>
                  <a:pt x="5793856" y="966551"/>
                  <a:pt x="5734903" y="1039078"/>
                  <a:pt x="5767577" y="1257932"/>
                </a:cubicBezTo>
                <a:cubicBezTo>
                  <a:pt x="5800251" y="1476786"/>
                  <a:pt x="5733350" y="1687034"/>
                  <a:pt x="5767577" y="1844957"/>
                </a:cubicBezTo>
                <a:cubicBezTo>
                  <a:pt x="5801804" y="2002880"/>
                  <a:pt x="5749294" y="2277484"/>
                  <a:pt x="5767577" y="2404028"/>
                </a:cubicBezTo>
                <a:cubicBezTo>
                  <a:pt x="5785860" y="2530572"/>
                  <a:pt x="5740570" y="3177055"/>
                  <a:pt x="5767577" y="3494218"/>
                </a:cubicBezTo>
                <a:cubicBezTo>
                  <a:pt x="5733627" y="3895048"/>
                  <a:pt x="5425429" y="4152667"/>
                  <a:pt x="5068717" y="4193078"/>
                </a:cubicBezTo>
                <a:cubicBezTo>
                  <a:pt x="4919160" y="4227381"/>
                  <a:pt x="4770313" y="4180290"/>
                  <a:pt x="4566183" y="4193078"/>
                </a:cubicBezTo>
                <a:cubicBezTo>
                  <a:pt x="4362053" y="4205866"/>
                  <a:pt x="4265693" y="4175646"/>
                  <a:pt x="4151047" y="4193078"/>
                </a:cubicBezTo>
                <a:cubicBezTo>
                  <a:pt x="4036401" y="4210510"/>
                  <a:pt x="3863599" y="4147499"/>
                  <a:pt x="3692212" y="4193078"/>
                </a:cubicBezTo>
                <a:cubicBezTo>
                  <a:pt x="3520825" y="4238657"/>
                  <a:pt x="3364484" y="4128150"/>
                  <a:pt x="3058583" y="4193078"/>
                </a:cubicBezTo>
                <a:cubicBezTo>
                  <a:pt x="2752682" y="4258006"/>
                  <a:pt x="2787838" y="4157075"/>
                  <a:pt x="2643446" y="4193078"/>
                </a:cubicBezTo>
                <a:cubicBezTo>
                  <a:pt x="2499054" y="4229081"/>
                  <a:pt x="2312776" y="4188874"/>
                  <a:pt x="2228310" y="4193078"/>
                </a:cubicBezTo>
                <a:cubicBezTo>
                  <a:pt x="2143844" y="4197282"/>
                  <a:pt x="1770662" y="4120772"/>
                  <a:pt x="1594681" y="4193078"/>
                </a:cubicBezTo>
                <a:cubicBezTo>
                  <a:pt x="1418700" y="4265384"/>
                  <a:pt x="1310756" y="4160978"/>
                  <a:pt x="1179544" y="4193078"/>
                </a:cubicBezTo>
                <a:cubicBezTo>
                  <a:pt x="1048332" y="4225178"/>
                  <a:pt x="905179" y="4179430"/>
                  <a:pt x="698860" y="4193078"/>
                </a:cubicBezTo>
                <a:cubicBezTo>
                  <a:pt x="382522" y="4177741"/>
                  <a:pt x="71056" y="3839431"/>
                  <a:pt x="0" y="3494218"/>
                </a:cubicBezTo>
                <a:cubicBezTo>
                  <a:pt x="-45290" y="3345447"/>
                  <a:pt x="31973" y="3154657"/>
                  <a:pt x="0" y="3019007"/>
                </a:cubicBezTo>
                <a:cubicBezTo>
                  <a:pt x="-31973" y="2883357"/>
                  <a:pt x="10070" y="2740841"/>
                  <a:pt x="0" y="2515843"/>
                </a:cubicBezTo>
                <a:cubicBezTo>
                  <a:pt x="-10070" y="2290845"/>
                  <a:pt x="60986" y="2040681"/>
                  <a:pt x="0" y="1900864"/>
                </a:cubicBezTo>
                <a:cubicBezTo>
                  <a:pt x="-60986" y="1761047"/>
                  <a:pt x="7528" y="1435365"/>
                  <a:pt x="0" y="1285885"/>
                </a:cubicBezTo>
                <a:cubicBezTo>
                  <a:pt x="-7528" y="1136405"/>
                  <a:pt x="41239" y="934002"/>
                  <a:pt x="0" y="698860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134336978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6F83E1-000B-81C7-DFD3-8458C37D8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90" y="2437594"/>
            <a:ext cx="3883307" cy="9184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94B2CAF-4B04-E6DD-28C6-5FFE62747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105" y="4421965"/>
            <a:ext cx="5050921" cy="95250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72B0291-FB8D-3EA1-27D7-AB7C7A763F60}"/>
              </a:ext>
            </a:extLst>
          </p:cNvPr>
          <p:cNvSpPr txBox="1"/>
          <p:nvPr/>
        </p:nvSpPr>
        <p:spPr>
          <a:xfrm>
            <a:off x="509105" y="3704550"/>
            <a:ext cx="3195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Starting from state |0&gt;:</a:t>
            </a:r>
          </a:p>
        </p:txBody>
      </p:sp>
    </p:spTree>
    <p:extLst>
      <p:ext uri="{BB962C8B-B14F-4D97-AF65-F5344CB8AC3E}">
        <p14:creationId xmlns:p14="http://schemas.microsoft.com/office/powerpoint/2010/main" val="883917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18E687-9D37-A215-2FF8-926873F0E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A9B464-004C-9E02-6B73-80EF2444D31B}"/>
              </a:ext>
            </a:extLst>
          </p:cNvPr>
          <p:cNvSpPr txBox="1">
            <a:spLocks/>
          </p:cNvSpPr>
          <p:nvPr/>
        </p:nvSpPr>
        <p:spPr>
          <a:xfrm>
            <a:off x="1195175" y="187228"/>
            <a:ext cx="9686398" cy="9973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Selection Engineering: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What wavelength to choose?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E7A609-1421-1BB4-EED6-308D404AE2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70961" y="2584348"/>
            <a:ext cx="4451062" cy="2534718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6C004E-E0CA-B87C-0C56-0B4541C1EB8A}"/>
              </a:ext>
            </a:extLst>
          </p:cNvPr>
          <p:cNvSpPr/>
          <p:nvPr/>
        </p:nvSpPr>
        <p:spPr>
          <a:xfrm>
            <a:off x="6762013" y="2481021"/>
            <a:ext cx="4515587" cy="3282871"/>
          </a:xfrm>
          <a:custGeom>
            <a:avLst/>
            <a:gdLst>
              <a:gd name="csX0" fmla="*/ 0 w 4515587"/>
              <a:gd name="csY0" fmla="*/ 547156 h 3282871"/>
              <a:gd name="csX1" fmla="*/ 547156 w 4515587"/>
              <a:gd name="csY1" fmla="*/ 0 h 3282871"/>
              <a:gd name="csX2" fmla="*/ 1185794 w 4515587"/>
              <a:gd name="csY2" fmla="*/ 0 h 3282871"/>
              <a:gd name="csX3" fmla="*/ 1824432 w 4515587"/>
              <a:gd name="csY3" fmla="*/ 0 h 3282871"/>
              <a:gd name="csX4" fmla="*/ 2463070 w 4515587"/>
              <a:gd name="csY4" fmla="*/ 0 h 3282871"/>
              <a:gd name="csX5" fmla="*/ 2999070 w 4515587"/>
              <a:gd name="csY5" fmla="*/ 0 h 3282871"/>
              <a:gd name="csX6" fmla="*/ 3968431 w 4515587"/>
              <a:gd name="csY6" fmla="*/ 0 h 3282871"/>
              <a:gd name="csX7" fmla="*/ 4515587 w 4515587"/>
              <a:gd name="csY7" fmla="*/ 547156 h 3282871"/>
              <a:gd name="csX8" fmla="*/ 4515587 w 4515587"/>
              <a:gd name="csY8" fmla="*/ 1138067 h 3282871"/>
              <a:gd name="csX9" fmla="*/ 4515587 w 4515587"/>
              <a:gd name="csY9" fmla="*/ 1685207 h 3282871"/>
              <a:gd name="csX10" fmla="*/ 4515587 w 4515587"/>
              <a:gd name="csY10" fmla="*/ 2254232 h 3282871"/>
              <a:gd name="csX11" fmla="*/ 4515587 w 4515587"/>
              <a:gd name="csY11" fmla="*/ 2735715 h 3282871"/>
              <a:gd name="csX12" fmla="*/ 3968431 w 4515587"/>
              <a:gd name="csY12" fmla="*/ 3282871 h 3282871"/>
              <a:gd name="csX13" fmla="*/ 3500857 w 4515587"/>
              <a:gd name="csY13" fmla="*/ 3282871 h 3282871"/>
              <a:gd name="csX14" fmla="*/ 2999070 w 4515587"/>
              <a:gd name="csY14" fmla="*/ 3282871 h 3282871"/>
              <a:gd name="csX15" fmla="*/ 2394645 w 4515587"/>
              <a:gd name="csY15" fmla="*/ 3282871 h 3282871"/>
              <a:gd name="csX16" fmla="*/ 1790219 w 4515587"/>
              <a:gd name="csY16" fmla="*/ 3282871 h 3282871"/>
              <a:gd name="csX17" fmla="*/ 1322645 w 4515587"/>
              <a:gd name="csY17" fmla="*/ 3282871 h 3282871"/>
              <a:gd name="csX18" fmla="*/ 547156 w 4515587"/>
              <a:gd name="csY18" fmla="*/ 3282871 h 3282871"/>
              <a:gd name="csX19" fmla="*/ 0 w 4515587"/>
              <a:gd name="csY19" fmla="*/ 2735715 h 3282871"/>
              <a:gd name="csX20" fmla="*/ 0 w 4515587"/>
              <a:gd name="csY20" fmla="*/ 2144804 h 3282871"/>
              <a:gd name="csX21" fmla="*/ 0 w 4515587"/>
              <a:gd name="csY21" fmla="*/ 1553893 h 3282871"/>
              <a:gd name="csX22" fmla="*/ 0 w 4515587"/>
              <a:gd name="csY22" fmla="*/ 1072410 h 3282871"/>
              <a:gd name="csX23" fmla="*/ 0 w 4515587"/>
              <a:gd name="csY23" fmla="*/ 547156 h 328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515587" h="3282871" extrusionOk="0">
                <a:moveTo>
                  <a:pt x="0" y="547156"/>
                </a:moveTo>
                <a:cubicBezTo>
                  <a:pt x="2884" y="219767"/>
                  <a:pt x="224621" y="-8227"/>
                  <a:pt x="547156" y="0"/>
                </a:cubicBezTo>
                <a:cubicBezTo>
                  <a:pt x="796644" y="-73326"/>
                  <a:pt x="874048" y="7674"/>
                  <a:pt x="1185794" y="0"/>
                </a:cubicBezTo>
                <a:cubicBezTo>
                  <a:pt x="1497540" y="-7674"/>
                  <a:pt x="1669833" y="53559"/>
                  <a:pt x="1824432" y="0"/>
                </a:cubicBezTo>
                <a:cubicBezTo>
                  <a:pt x="1979031" y="-53559"/>
                  <a:pt x="2189754" y="56583"/>
                  <a:pt x="2463070" y="0"/>
                </a:cubicBezTo>
                <a:cubicBezTo>
                  <a:pt x="2736386" y="-56583"/>
                  <a:pt x="2816620" y="38502"/>
                  <a:pt x="2999070" y="0"/>
                </a:cubicBezTo>
                <a:cubicBezTo>
                  <a:pt x="3181520" y="-38502"/>
                  <a:pt x="3533876" y="30020"/>
                  <a:pt x="3968431" y="0"/>
                </a:cubicBezTo>
                <a:cubicBezTo>
                  <a:pt x="4225119" y="-73368"/>
                  <a:pt x="4534791" y="239933"/>
                  <a:pt x="4515587" y="547156"/>
                </a:cubicBezTo>
                <a:cubicBezTo>
                  <a:pt x="4534232" y="687160"/>
                  <a:pt x="4468526" y="1000393"/>
                  <a:pt x="4515587" y="1138067"/>
                </a:cubicBezTo>
                <a:cubicBezTo>
                  <a:pt x="4562648" y="1275741"/>
                  <a:pt x="4469286" y="1449587"/>
                  <a:pt x="4515587" y="1685207"/>
                </a:cubicBezTo>
                <a:cubicBezTo>
                  <a:pt x="4561888" y="1920827"/>
                  <a:pt x="4507437" y="2071094"/>
                  <a:pt x="4515587" y="2254232"/>
                </a:cubicBezTo>
                <a:cubicBezTo>
                  <a:pt x="4523737" y="2437371"/>
                  <a:pt x="4492073" y="2528315"/>
                  <a:pt x="4515587" y="2735715"/>
                </a:cubicBezTo>
                <a:cubicBezTo>
                  <a:pt x="4458697" y="3103341"/>
                  <a:pt x="4223822" y="3345988"/>
                  <a:pt x="3968431" y="3282871"/>
                </a:cubicBezTo>
                <a:cubicBezTo>
                  <a:pt x="3833942" y="3330753"/>
                  <a:pt x="3663488" y="3276318"/>
                  <a:pt x="3500857" y="3282871"/>
                </a:cubicBezTo>
                <a:cubicBezTo>
                  <a:pt x="3338226" y="3289424"/>
                  <a:pt x="3214951" y="3279053"/>
                  <a:pt x="2999070" y="3282871"/>
                </a:cubicBezTo>
                <a:cubicBezTo>
                  <a:pt x="2783189" y="3286689"/>
                  <a:pt x="2665050" y="3255573"/>
                  <a:pt x="2394645" y="3282871"/>
                </a:cubicBezTo>
                <a:cubicBezTo>
                  <a:pt x="2124241" y="3310169"/>
                  <a:pt x="1965830" y="3231136"/>
                  <a:pt x="1790219" y="3282871"/>
                </a:cubicBezTo>
                <a:cubicBezTo>
                  <a:pt x="1614608" y="3334606"/>
                  <a:pt x="1546854" y="3240581"/>
                  <a:pt x="1322645" y="3282871"/>
                </a:cubicBezTo>
                <a:cubicBezTo>
                  <a:pt x="1098436" y="3325161"/>
                  <a:pt x="733988" y="3227472"/>
                  <a:pt x="547156" y="3282871"/>
                </a:cubicBezTo>
                <a:cubicBezTo>
                  <a:pt x="218760" y="3302243"/>
                  <a:pt x="38332" y="3114614"/>
                  <a:pt x="0" y="2735715"/>
                </a:cubicBezTo>
                <a:cubicBezTo>
                  <a:pt x="-6927" y="2557790"/>
                  <a:pt x="60469" y="2395016"/>
                  <a:pt x="0" y="2144804"/>
                </a:cubicBezTo>
                <a:cubicBezTo>
                  <a:pt x="-60469" y="1894592"/>
                  <a:pt x="4582" y="1783177"/>
                  <a:pt x="0" y="1553893"/>
                </a:cubicBezTo>
                <a:cubicBezTo>
                  <a:pt x="-4582" y="1324609"/>
                  <a:pt x="12432" y="1235716"/>
                  <a:pt x="0" y="1072410"/>
                </a:cubicBezTo>
                <a:cubicBezTo>
                  <a:pt x="-12432" y="909104"/>
                  <a:pt x="26945" y="741141"/>
                  <a:pt x="0" y="547156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134336978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08BB9B-988B-4993-0E84-FD4F41095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967" y="1324721"/>
            <a:ext cx="2824429" cy="10161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F894DD-9CC6-741B-FE80-E4232E0E36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6400" y="93930"/>
            <a:ext cx="2234354" cy="214095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507504F-262C-7F0E-315E-CEFF7F19C3CB}"/>
              </a:ext>
            </a:extLst>
          </p:cNvPr>
          <p:cNvSpPr txBox="1"/>
          <p:nvPr/>
        </p:nvSpPr>
        <p:spPr>
          <a:xfrm>
            <a:off x="962025" y="2834024"/>
            <a:ext cx="5329459" cy="28634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# The rotation would be about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axis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# </a:t>
            </a:r>
            <a:r>
              <a:rPr kumimoji="0" lang="el-G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π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/2 rotation -&gt;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# The cycling of population between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two states is denoted as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“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Rabi oscillation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45127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63CBC-F4F2-1F69-AB10-2524276D0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9F116F8-465C-E97C-B87E-27EC83CD50CD}"/>
              </a:ext>
            </a:extLst>
          </p:cNvPr>
          <p:cNvSpPr txBox="1">
            <a:spLocks/>
          </p:cNvSpPr>
          <p:nvPr/>
        </p:nvSpPr>
        <p:spPr>
          <a:xfrm>
            <a:off x="562140" y="555626"/>
            <a:ext cx="10515600" cy="10826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Selection Engineering: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What wavelength to choose?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044786-F26D-1528-1482-B211D5BB3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854" y="3609461"/>
            <a:ext cx="3462309" cy="197165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B58E19-4C64-8375-834F-399B0C6CEE79}"/>
              </a:ext>
            </a:extLst>
          </p:cNvPr>
          <p:cNvSpPr/>
          <p:nvPr/>
        </p:nvSpPr>
        <p:spPr>
          <a:xfrm>
            <a:off x="8328997" y="3497289"/>
            <a:ext cx="3512500" cy="2553618"/>
          </a:xfrm>
          <a:custGeom>
            <a:avLst/>
            <a:gdLst>
              <a:gd name="csX0" fmla="*/ 0 w 3512500"/>
              <a:gd name="csY0" fmla="*/ 425612 h 2553618"/>
              <a:gd name="csX1" fmla="*/ 425612 w 3512500"/>
              <a:gd name="csY1" fmla="*/ 0 h 2553618"/>
              <a:gd name="csX2" fmla="*/ 1011093 w 3512500"/>
              <a:gd name="csY2" fmla="*/ 0 h 2553618"/>
              <a:gd name="csX3" fmla="*/ 1596573 w 3512500"/>
              <a:gd name="csY3" fmla="*/ 0 h 2553618"/>
              <a:gd name="csX4" fmla="*/ 2182054 w 3512500"/>
              <a:gd name="csY4" fmla="*/ 0 h 2553618"/>
              <a:gd name="csX5" fmla="*/ 3086888 w 3512500"/>
              <a:gd name="csY5" fmla="*/ 0 h 2553618"/>
              <a:gd name="csX6" fmla="*/ 3512500 w 3512500"/>
              <a:gd name="csY6" fmla="*/ 425612 h 2553618"/>
              <a:gd name="csX7" fmla="*/ 3512500 w 3512500"/>
              <a:gd name="csY7" fmla="*/ 942005 h 2553618"/>
              <a:gd name="csX8" fmla="*/ 3512500 w 3512500"/>
              <a:gd name="csY8" fmla="*/ 1492446 h 2553618"/>
              <a:gd name="csX9" fmla="*/ 3512500 w 3512500"/>
              <a:gd name="csY9" fmla="*/ 2128006 h 2553618"/>
              <a:gd name="csX10" fmla="*/ 3086888 w 3512500"/>
              <a:gd name="csY10" fmla="*/ 2553618 h 2553618"/>
              <a:gd name="csX11" fmla="*/ 2634471 w 3512500"/>
              <a:gd name="csY11" fmla="*/ 2553618 h 2553618"/>
              <a:gd name="csX12" fmla="*/ 2102216 w 3512500"/>
              <a:gd name="csY12" fmla="*/ 2553618 h 2553618"/>
              <a:gd name="csX13" fmla="*/ 1516735 w 3512500"/>
              <a:gd name="csY13" fmla="*/ 2553618 h 2553618"/>
              <a:gd name="csX14" fmla="*/ 1037705 w 3512500"/>
              <a:gd name="csY14" fmla="*/ 2553618 h 2553618"/>
              <a:gd name="csX15" fmla="*/ 425612 w 3512500"/>
              <a:gd name="csY15" fmla="*/ 2553618 h 2553618"/>
              <a:gd name="csX16" fmla="*/ 0 w 3512500"/>
              <a:gd name="csY16" fmla="*/ 2128006 h 2553618"/>
              <a:gd name="csX17" fmla="*/ 0 w 3512500"/>
              <a:gd name="csY17" fmla="*/ 1543517 h 2553618"/>
              <a:gd name="csX18" fmla="*/ 0 w 3512500"/>
              <a:gd name="csY18" fmla="*/ 942005 h 2553618"/>
              <a:gd name="csX19" fmla="*/ 0 w 3512500"/>
              <a:gd name="csY19" fmla="*/ 425612 h 2553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512500" h="2553618" extrusionOk="0">
                <a:moveTo>
                  <a:pt x="0" y="425612"/>
                </a:moveTo>
                <a:cubicBezTo>
                  <a:pt x="4341" y="152616"/>
                  <a:pt x="154717" y="-14488"/>
                  <a:pt x="425612" y="0"/>
                </a:cubicBezTo>
                <a:cubicBezTo>
                  <a:pt x="670838" y="-56768"/>
                  <a:pt x="815309" y="31787"/>
                  <a:pt x="1011093" y="0"/>
                </a:cubicBezTo>
                <a:cubicBezTo>
                  <a:pt x="1206877" y="-31787"/>
                  <a:pt x="1365929" y="738"/>
                  <a:pt x="1596573" y="0"/>
                </a:cubicBezTo>
                <a:cubicBezTo>
                  <a:pt x="1827217" y="-738"/>
                  <a:pt x="1961441" y="45952"/>
                  <a:pt x="2182054" y="0"/>
                </a:cubicBezTo>
                <a:cubicBezTo>
                  <a:pt x="2402667" y="-45952"/>
                  <a:pt x="2850478" y="85329"/>
                  <a:pt x="3086888" y="0"/>
                </a:cubicBezTo>
                <a:cubicBezTo>
                  <a:pt x="3330581" y="-22236"/>
                  <a:pt x="3481753" y="200028"/>
                  <a:pt x="3512500" y="425612"/>
                </a:cubicBezTo>
                <a:cubicBezTo>
                  <a:pt x="3526556" y="579285"/>
                  <a:pt x="3485939" y="694495"/>
                  <a:pt x="3512500" y="942005"/>
                </a:cubicBezTo>
                <a:cubicBezTo>
                  <a:pt x="3539061" y="1189515"/>
                  <a:pt x="3510574" y="1304333"/>
                  <a:pt x="3512500" y="1492446"/>
                </a:cubicBezTo>
                <a:cubicBezTo>
                  <a:pt x="3514426" y="1680559"/>
                  <a:pt x="3462743" y="1998819"/>
                  <a:pt x="3512500" y="2128006"/>
                </a:cubicBezTo>
                <a:cubicBezTo>
                  <a:pt x="3480538" y="2333465"/>
                  <a:pt x="3293430" y="2613812"/>
                  <a:pt x="3086888" y="2553618"/>
                </a:cubicBezTo>
                <a:cubicBezTo>
                  <a:pt x="2929432" y="2606077"/>
                  <a:pt x="2851221" y="2522149"/>
                  <a:pt x="2634471" y="2553618"/>
                </a:cubicBezTo>
                <a:cubicBezTo>
                  <a:pt x="2417721" y="2585087"/>
                  <a:pt x="2336005" y="2527732"/>
                  <a:pt x="2102216" y="2553618"/>
                </a:cubicBezTo>
                <a:cubicBezTo>
                  <a:pt x="1868428" y="2579504"/>
                  <a:pt x="1642721" y="2525601"/>
                  <a:pt x="1516735" y="2553618"/>
                </a:cubicBezTo>
                <a:cubicBezTo>
                  <a:pt x="1390749" y="2581635"/>
                  <a:pt x="1207017" y="2548179"/>
                  <a:pt x="1037705" y="2553618"/>
                </a:cubicBezTo>
                <a:cubicBezTo>
                  <a:pt x="868393" y="2559057"/>
                  <a:pt x="693943" y="2547743"/>
                  <a:pt x="425612" y="2553618"/>
                </a:cubicBezTo>
                <a:cubicBezTo>
                  <a:pt x="152884" y="2593532"/>
                  <a:pt x="-33056" y="2346506"/>
                  <a:pt x="0" y="2128006"/>
                </a:cubicBezTo>
                <a:cubicBezTo>
                  <a:pt x="-68964" y="1883513"/>
                  <a:pt x="39293" y="1798539"/>
                  <a:pt x="0" y="1543517"/>
                </a:cubicBezTo>
                <a:cubicBezTo>
                  <a:pt x="-39293" y="1288495"/>
                  <a:pt x="40411" y="1112201"/>
                  <a:pt x="0" y="942005"/>
                </a:cubicBezTo>
                <a:cubicBezTo>
                  <a:pt x="-40411" y="771809"/>
                  <a:pt x="49797" y="570225"/>
                  <a:pt x="0" y="425612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134336978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745B0C-1D8D-E44E-FB2C-85C5D2B07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576245" y="4492269"/>
            <a:ext cx="2197013" cy="7903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D3A631-F810-9B12-FBEA-DBBE8B778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708" y="454341"/>
            <a:ext cx="2962688" cy="28388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C3BC7C-0924-64E8-E02E-F522178ECE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451" y="1873764"/>
            <a:ext cx="4730489" cy="334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787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DC076DD472444B946971EBC3F1195F" ma:contentTypeVersion="12" ma:contentTypeDescription="Create a new document." ma:contentTypeScope="" ma:versionID="2d719409c5163af59d72dcacbb6eb421">
  <xsd:schema xmlns:xsd="http://www.w3.org/2001/XMLSchema" xmlns:xs="http://www.w3.org/2001/XMLSchema" xmlns:p="http://schemas.microsoft.com/office/2006/metadata/properties" xmlns:ns3="1eaf74a3-0be8-447b-bc32-e623839fbc65" targetNamespace="http://schemas.microsoft.com/office/2006/metadata/properties" ma:root="true" ma:fieldsID="ba34a11ed2a8ae7dc8267ceb90e85366" ns3:_="">
    <xsd:import namespace="1eaf74a3-0be8-447b-bc32-e623839fbc6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f74a3-0be8-447b-bc32-e623839fbc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eaf74a3-0be8-447b-bc32-e623839fbc65" xsi:nil="true"/>
  </documentManagement>
</p:properties>
</file>

<file path=customXml/itemProps1.xml><?xml version="1.0" encoding="utf-8"?>
<ds:datastoreItem xmlns:ds="http://schemas.openxmlformats.org/officeDocument/2006/customXml" ds:itemID="{42527967-E589-458F-B99B-E04358CF9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f74a3-0be8-447b-bc32-e623839fbc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6627A09-6672-4787-B50D-C535A333D6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854E10-5622-4F0E-8A74-C3CDEDE6B4BE}">
  <ds:schemaRefs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1eaf74a3-0be8-447b-bc32-e623839fbc65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9777</TotalTime>
  <Words>1418</Words>
  <Application>Microsoft Office PowerPoint</Application>
  <PresentationFormat>Widescreen</PresentationFormat>
  <Paragraphs>237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Aptos</vt:lpstr>
      <vt:lpstr>Aptos Display</vt:lpstr>
      <vt:lpstr>Arial</vt:lpstr>
      <vt:lpstr>Arial Rounded MT</vt:lpstr>
      <vt:lpstr>Arial Rounded MT Bold</vt:lpstr>
      <vt:lpstr>Calibri</vt:lpstr>
      <vt:lpstr>Minion</vt:lpstr>
      <vt:lpstr>Minion Pro</vt:lpstr>
      <vt:lpstr>Proxima Soft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Mehdi Hassan</dc:creator>
  <cp:lastModifiedBy>Hassan, Md Mehdi</cp:lastModifiedBy>
  <cp:revision>9</cp:revision>
  <dcterms:created xsi:type="dcterms:W3CDTF">2026-10-05T10:59:02Z</dcterms:created>
  <dcterms:modified xsi:type="dcterms:W3CDTF">2026-10-14T13:38:10Z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0x0101008DDC076DD472444B946971EBC3F1195F</vt:lpwstr>
  </property>
</Properties>
</file>